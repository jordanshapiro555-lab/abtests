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2.xml" ContentType="application/vnd.openxmlformats-officedocument.presentationml.notesSlide+xml"/>
  <Override PartName="/ppt/comments/modernComment_7FFFE21A_DFCA2890.xml" ContentType="application/vnd.ms-powerpoint.comments+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omments/modernComment_7FFFE220_904AB267.xml" ContentType="application/vnd.ms-powerpoint.comments+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drawings/drawing1.xml" ContentType="application/vnd.openxmlformats-officedocument.drawingml.chartshapes+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5.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omments/modernComment_7FFFE21F_3E970444.xml" ContentType="application/vnd.ms-powerpoint.comments+xml"/>
  <Override PartName="/ppt/comments/modernComment_7FFFE21E_7E4A543D.xml" ContentType="application/vnd.ms-powerpoint.comment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omments/modernComment_112_C5839777.xml" ContentType="application/vnd.ms-powerpoint.comment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7" Type="http://schemas.microsoft.com/office/2020/02/relationships/classificationlabels" Target="docMetadata/LabelInfo.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34"/>
  </p:notesMasterIdLst>
  <p:sldIdLst>
    <p:sldId id="2147475380" r:id="rId5"/>
    <p:sldId id="2147475319" r:id="rId6"/>
    <p:sldId id="2147475375" r:id="rId7"/>
    <p:sldId id="2147475994" r:id="rId8"/>
    <p:sldId id="2147475995" r:id="rId9"/>
    <p:sldId id="2147476000" r:id="rId10"/>
    <p:sldId id="2147476003" r:id="rId11"/>
    <p:sldId id="2147476004" r:id="rId12"/>
    <p:sldId id="2147475368" r:id="rId13"/>
    <p:sldId id="2147475997" r:id="rId14"/>
    <p:sldId id="2147476001" r:id="rId15"/>
    <p:sldId id="2147475999" r:id="rId16"/>
    <p:sldId id="2147475998" r:id="rId17"/>
    <p:sldId id="2147476006" r:id="rId18"/>
    <p:sldId id="304" r:id="rId19"/>
    <p:sldId id="322" r:id="rId20"/>
    <p:sldId id="2147483640" r:id="rId21"/>
    <p:sldId id="274" r:id="rId22"/>
    <p:sldId id="301" r:id="rId23"/>
    <p:sldId id="2147476002" r:id="rId24"/>
    <p:sldId id="2147475996" r:id="rId25"/>
    <p:sldId id="2147475369" r:id="rId26"/>
    <p:sldId id="2147475367" r:id="rId27"/>
    <p:sldId id="2147475378" r:id="rId28"/>
    <p:sldId id="256" r:id="rId29"/>
    <p:sldId id="2147475382" r:id="rId30"/>
    <p:sldId id="2147475374" r:id="rId31"/>
    <p:sldId id="2147475363" r:id="rId32"/>
    <p:sldId id="2147474773"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87BBBC6-41F3-4EB1-A696-E795380F61DC}">
          <p14:sldIdLst>
            <p14:sldId id="2147475380"/>
            <p14:sldId id="2147475319"/>
            <p14:sldId id="2147475375"/>
            <p14:sldId id="2147475994"/>
            <p14:sldId id="2147475995"/>
            <p14:sldId id="2147476000"/>
            <p14:sldId id="2147476003"/>
            <p14:sldId id="2147476004"/>
            <p14:sldId id="2147475368"/>
            <p14:sldId id="2147475997"/>
            <p14:sldId id="2147476001"/>
            <p14:sldId id="2147475999"/>
            <p14:sldId id="2147475998"/>
            <p14:sldId id="2147476006"/>
            <p14:sldId id="304"/>
            <p14:sldId id="322"/>
            <p14:sldId id="2147483640"/>
            <p14:sldId id="274"/>
            <p14:sldId id="301"/>
            <p14:sldId id="2147476002"/>
          </p14:sldIdLst>
        </p14:section>
        <p14:section name="Template Slides" id="{61A2CF97-42CB-48FF-A210-25C02EC49B68}">
          <p14:sldIdLst>
            <p14:sldId id="2147475996"/>
            <p14:sldId id="2147475369"/>
            <p14:sldId id="2147475367"/>
            <p14:sldId id="2147475378"/>
            <p14:sldId id="256"/>
            <p14:sldId id="2147475382"/>
            <p14:sldId id="2147475374"/>
            <p14:sldId id="2147475363"/>
            <p14:sldId id="2147474773"/>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537A111-2555-AD09-BF10-CF1DF5F1D80E}" name="Amanda Hamilton" initials="AH" userId="S::ahamilton@horizonmedia.com::aafefb2e-3332-4882-9d3f-219c1b814c9f" providerId="AD"/>
  <p188:author id="{6D9A9747-D274-8A81-B369-9B256C2FB221}" name="Jordan Shapiro" initials="JS" userId="S::JoShapiro@horizoncommerce.com::92b2466c-6413-4671-86a6-7745ec6dd2d5" providerId="AD"/>
  <p188:author id="{82559266-4604-AC62-CE62-B7E3EACBB5B7}" name="Joey Squires" initials="JS" userId="S::jsquires@horizonmedia.com::7079d4ba-d458-495e-8b52-38592e567ce5" providerId="AD"/>
  <p188:author id="{5637B7E8-B415-49F5-AA28-0570E820F3ED}" name="Emmeline van der Post" initials="Ev" userId="S::evanderpost@horizoncommerce.com::752d3862-efcb-4c5a-8aff-afe147443aaf"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E5FFF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08"/>
    <p:restoredTop sz="94692"/>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8/10/relationships/authors" Target="authors.xml"/><Relationship Id="rId21" Type="http://schemas.openxmlformats.org/officeDocument/2006/relationships/slide" Target="slides/slide17.xml"/><Relationship Id="rId34"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charts/_rels/chart1.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chartUserShapes" Target="../drawings/drawing1.xml"/></Relationships>
</file>

<file path=ppt/charts/_rels/chart4.xml.rels><?xml version="1.0" encoding="UTF-8" standalone="yes"?>
<Relationships xmlns="http://schemas.openxmlformats.org/package/2006/relationships"><Relationship Id="rId3" Type="http://schemas.openxmlformats.org/officeDocument/2006/relationships/oleObject" Target="Chart%20in%20Microsoft%20PowerPoint"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Chart%20in%20Microsoft%20PowerPoint"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Chart%20in%20Microsoft%20PowerPoint"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Chart%20in%20Microsoft%20PowerPoint"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9.xml"/><Relationship Id="rId1" Type="http://schemas.microsoft.com/office/2011/relationships/chartStyle" Target="style9.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t>Test ROI: A Function Of Impact &amp; Ease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Sheet1!$I$10</c:f>
              <c:strCache>
                <c:ptCount val="1"/>
                <c:pt idx="0">
                  <c:v>Ease of Execution</c:v>
                </c:pt>
              </c:strCache>
            </c:strRef>
          </c:tx>
          <c:spPr>
            <a:ln w="28575" cap="rnd">
              <a:solidFill>
                <a:schemeClr val="accent1"/>
              </a:solidFill>
              <a:round/>
            </a:ln>
            <a:effectLst/>
          </c:spPr>
          <c:marker>
            <c:symbol val="none"/>
          </c:marker>
          <c:trendline>
            <c:spPr>
              <a:ln w="19050" cap="rnd">
                <a:solidFill>
                  <a:schemeClr val="accent1"/>
                </a:solidFill>
                <a:prstDash val="sysDot"/>
              </a:ln>
              <a:effectLst/>
            </c:spPr>
            <c:trendlineType val="linear"/>
            <c:dispRSqr val="0"/>
            <c:dispEq val="0"/>
          </c:trendline>
          <c:cat>
            <c:numRef>
              <c:f>Sheet1!$H$11:$H$15</c:f>
              <c:numCache>
                <c:formatCode>General</c:formatCode>
                <c:ptCount val="5"/>
                <c:pt idx="0">
                  <c:v>1</c:v>
                </c:pt>
                <c:pt idx="1">
                  <c:v>2</c:v>
                </c:pt>
                <c:pt idx="2">
                  <c:v>3</c:v>
                </c:pt>
                <c:pt idx="3">
                  <c:v>4</c:v>
                </c:pt>
                <c:pt idx="4">
                  <c:v>5</c:v>
                </c:pt>
              </c:numCache>
            </c:numRef>
          </c:cat>
          <c:val>
            <c:numRef>
              <c:f>Sheet1!$I$11:$I$15</c:f>
              <c:numCache>
                <c:formatCode>General</c:formatCode>
                <c:ptCount val="5"/>
                <c:pt idx="0">
                  <c:v>1</c:v>
                </c:pt>
                <c:pt idx="1">
                  <c:v>2</c:v>
                </c:pt>
                <c:pt idx="2">
                  <c:v>3</c:v>
                </c:pt>
                <c:pt idx="3">
                  <c:v>4</c:v>
                </c:pt>
                <c:pt idx="4">
                  <c:v>5</c:v>
                </c:pt>
              </c:numCache>
            </c:numRef>
          </c:val>
          <c:smooth val="0"/>
          <c:extLst>
            <c:ext xmlns:c16="http://schemas.microsoft.com/office/drawing/2014/chart" uri="{C3380CC4-5D6E-409C-BE32-E72D297353CC}">
              <c16:uniqueId val="{00000001-BEA6-4BD7-8571-5CCF6E1B7BB6}"/>
            </c:ext>
          </c:extLst>
        </c:ser>
        <c:dLbls>
          <c:showLegendKey val="0"/>
          <c:showVal val="0"/>
          <c:showCatName val="0"/>
          <c:showSerName val="0"/>
          <c:showPercent val="0"/>
          <c:showBubbleSize val="0"/>
        </c:dLbls>
        <c:smooth val="0"/>
        <c:axId val="2013004415"/>
        <c:axId val="2013001055"/>
      </c:lineChart>
      <c:catAx>
        <c:axId val="2013004415"/>
        <c:scaling>
          <c:orientation val="minMax"/>
        </c:scaling>
        <c:delete val="1"/>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Ease of Execution</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crossAx val="2013001055"/>
        <c:crosses val="autoZero"/>
        <c:auto val="1"/>
        <c:lblAlgn val="ctr"/>
        <c:lblOffset val="100"/>
        <c:noMultiLvlLbl val="0"/>
      </c:catAx>
      <c:valAx>
        <c:axId val="2013001055"/>
        <c:scaling>
          <c:orientation val="minMax"/>
        </c:scaling>
        <c:delete val="1"/>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Revenue Impact</a:t>
                </a:r>
              </a:p>
            </c:rich>
          </c:tx>
          <c:layout>
            <c:manualLayout>
              <c:xMode val="edge"/>
              <c:yMode val="edge"/>
              <c:x val="1.3871794905403096E-2"/>
              <c:y val="0.32013588125287074"/>
            </c:manualLayout>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crossAx val="2013004415"/>
        <c:crosses val="autoZero"/>
        <c:crossBetween val="between"/>
      </c:valAx>
      <c:spPr>
        <a:noFill/>
        <a:ln>
          <a:noFill/>
        </a:ln>
        <a:effectLst/>
      </c:spPr>
    </c:plotArea>
    <c:plotVisOnly val="1"/>
    <c:dispBlanksAs val="gap"/>
    <c:showDLblsOverMax val="0"/>
  </c:chart>
  <c:spPr>
    <a:noFill/>
    <a:ln>
      <a:solidFill>
        <a:schemeClr val="tx1">
          <a:lumMod val="50000"/>
          <a:lumOff val="50000"/>
        </a:schemeClr>
      </a:solid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t>Test ROI: A Function Of Impact &amp; Ease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Sheet1!$I$10</c:f>
              <c:strCache>
                <c:ptCount val="1"/>
                <c:pt idx="0">
                  <c:v>Ease of Execution</c:v>
                </c:pt>
              </c:strCache>
            </c:strRef>
          </c:tx>
          <c:spPr>
            <a:ln w="28575" cap="rnd">
              <a:solidFill>
                <a:schemeClr val="accent1"/>
              </a:solidFill>
              <a:round/>
            </a:ln>
            <a:effectLst/>
          </c:spPr>
          <c:marker>
            <c:symbol val="none"/>
          </c:marker>
          <c:trendline>
            <c:spPr>
              <a:ln w="19050" cap="rnd">
                <a:solidFill>
                  <a:schemeClr val="accent1"/>
                </a:solidFill>
                <a:prstDash val="sysDot"/>
              </a:ln>
              <a:effectLst/>
            </c:spPr>
            <c:trendlineType val="linear"/>
            <c:dispRSqr val="0"/>
            <c:dispEq val="0"/>
          </c:trendline>
          <c:cat>
            <c:numRef>
              <c:f>Sheet1!$H$11:$H$15</c:f>
              <c:numCache>
                <c:formatCode>General</c:formatCode>
                <c:ptCount val="5"/>
                <c:pt idx="0">
                  <c:v>1</c:v>
                </c:pt>
                <c:pt idx="1">
                  <c:v>2</c:v>
                </c:pt>
                <c:pt idx="2">
                  <c:v>3</c:v>
                </c:pt>
                <c:pt idx="3">
                  <c:v>4</c:v>
                </c:pt>
                <c:pt idx="4">
                  <c:v>5</c:v>
                </c:pt>
              </c:numCache>
            </c:numRef>
          </c:cat>
          <c:val>
            <c:numRef>
              <c:f>Sheet1!$I$11:$I$15</c:f>
              <c:numCache>
                <c:formatCode>General</c:formatCode>
                <c:ptCount val="5"/>
                <c:pt idx="0">
                  <c:v>1</c:v>
                </c:pt>
                <c:pt idx="1">
                  <c:v>2</c:v>
                </c:pt>
                <c:pt idx="2">
                  <c:v>3</c:v>
                </c:pt>
                <c:pt idx="3">
                  <c:v>4</c:v>
                </c:pt>
                <c:pt idx="4">
                  <c:v>5</c:v>
                </c:pt>
              </c:numCache>
            </c:numRef>
          </c:val>
          <c:smooth val="0"/>
          <c:extLst>
            <c:ext xmlns:c16="http://schemas.microsoft.com/office/drawing/2014/chart" uri="{C3380CC4-5D6E-409C-BE32-E72D297353CC}">
              <c16:uniqueId val="{00000001-41AC-4535-BF36-7717FA10D8FF}"/>
            </c:ext>
          </c:extLst>
        </c:ser>
        <c:dLbls>
          <c:showLegendKey val="0"/>
          <c:showVal val="0"/>
          <c:showCatName val="0"/>
          <c:showSerName val="0"/>
          <c:showPercent val="0"/>
          <c:showBubbleSize val="0"/>
        </c:dLbls>
        <c:smooth val="0"/>
        <c:axId val="2013004415"/>
        <c:axId val="2013001055"/>
      </c:lineChart>
      <c:catAx>
        <c:axId val="2013004415"/>
        <c:scaling>
          <c:orientation val="minMax"/>
        </c:scaling>
        <c:delete val="1"/>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Ease of Execution</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crossAx val="2013001055"/>
        <c:crosses val="autoZero"/>
        <c:auto val="1"/>
        <c:lblAlgn val="ctr"/>
        <c:lblOffset val="100"/>
        <c:noMultiLvlLbl val="0"/>
      </c:catAx>
      <c:valAx>
        <c:axId val="2013001055"/>
        <c:scaling>
          <c:orientation val="minMax"/>
        </c:scaling>
        <c:delete val="1"/>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Revenue Impact</a:t>
                </a:r>
              </a:p>
            </c:rich>
          </c:tx>
          <c:layout>
            <c:manualLayout>
              <c:xMode val="edge"/>
              <c:yMode val="edge"/>
              <c:x val="1.3871794905403096E-2"/>
              <c:y val="0.32013588125287074"/>
            </c:manualLayout>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crossAx val="2013004415"/>
        <c:crosses val="autoZero"/>
        <c:crossBetween val="between"/>
      </c:valAx>
      <c:spPr>
        <a:noFill/>
        <a:ln>
          <a:noFill/>
        </a:ln>
        <a:effectLst/>
      </c:spPr>
    </c:plotArea>
    <c:plotVisOnly val="1"/>
    <c:dispBlanksAs val="gap"/>
    <c:showDLblsOverMax val="0"/>
  </c:chart>
  <c:spPr>
    <a:noFill/>
    <a:ln>
      <a:solidFill>
        <a:schemeClr val="tx1">
          <a:lumMod val="50000"/>
          <a:lumOff val="50000"/>
        </a:schemeClr>
      </a:solid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0323068754547713"/>
          <c:y val="1.6222532800801524E-3"/>
          <c:w val="0.79676924846545572"/>
          <c:h val="0.96105372266175149"/>
        </c:manualLayout>
      </c:layout>
      <c:doughnutChart>
        <c:varyColors val="1"/>
        <c:ser>
          <c:idx val="0"/>
          <c:order val="0"/>
          <c:dPt>
            <c:idx val="0"/>
            <c:bubble3D val="0"/>
            <c:spPr>
              <a:solidFill>
                <a:schemeClr val="accent1"/>
              </a:solidFill>
              <a:ln w="19050">
                <a:solidFill>
                  <a:schemeClr val="lt1"/>
                </a:solidFill>
              </a:ln>
              <a:effectLst/>
            </c:spPr>
            <c:extLst>
              <c:ext xmlns:c16="http://schemas.microsoft.com/office/drawing/2014/chart" uri="{C3380CC4-5D6E-409C-BE32-E72D297353CC}">
                <c16:uniqueId val="{00000001-A913-473B-991E-DC8A24BBFAB1}"/>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A913-473B-991E-DC8A24BBFAB1}"/>
              </c:ext>
            </c:extLst>
          </c:dPt>
          <c:dPt>
            <c:idx val="2"/>
            <c:bubble3D val="0"/>
            <c:spPr>
              <a:solidFill>
                <a:schemeClr val="bg2">
                  <a:lumMod val="75000"/>
                </a:schemeClr>
              </a:solidFill>
              <a:ln w="19050">
                <a:solidFill>
                  <a:schemeClr val="lt1"/>
                </a:solidFill>
              </a:ln>
              <a:effectLst/>
            </c:spPr>
            <c:extLst>
              <c:ext xmlns:c16="http://schemas.microsoft.com/office/drawing/2014/chart" uri="{C3380CC4-5D6E-409C-BE32-E72D297353CC}">
                <c16:uniqueId val="{00000005-A913-473B-991E-DC8A24BBFAB1}"/>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A913-473B-991E-DC8A24BBFAB1}"/>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A913-473B-991E-DC8A24BBFAB1}"/>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0B-A913-473B-991E-DC8A24BBFAB1}"/>
              </c:ext>
            </c:extLst>
          </c:dPt>
          <c:dPt>
            <c:idx val="6"/>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00D-A913-473B-991E-DC8A24BBFAB1}"/>
              </c:ext>
            </c:extLst>
          </c:dPt>
          <c:dPt>
            <c:idx val="7"/>
            <c:bubble3D val="0"/>
            <c:spPr>
              <a:solidFill>
                <a:schemeClr val="accent2">
                  <a:lumMod val="60000"/>
                </a:schemeClr>
              </a:solidFill>
              <a:ln w="19050">
                <a:solidFill>
                  <a:schemeClr val="lt1"/>
                </a:solidFill>
              </a:ln>
              <a:effectLst/>
            </c:spPr>
            <c:extLst>
              <c:ext xmlns:c16="http://schemas.microsoft.com/office/drawing/2014/chart" uri="{C3380CC4-5D6E-409C-BE32-E72D297353CC}">
                <c16:uniqueId val="{0000000F-A913-473B-991E-DC8A24BBFAB1}"/>
              </c:ext>
            </c:extLst>
          </c:dPt>
          <c:dPt>
            <c:idx val="8"/>
            <c:bubble3D val="0"/>
            <c:spPr>
              <a:solidFill>
                <a:schemeClr val="accent3">
                  <a:lumMod val="60000"/>
                </a:schemeClr>
              </a:solidFill>
              <a:ln w="19050">
                <a:solidFill>
                  <a:schemeClr val="lt1"/>
                </a:solidFill>
              </a:ln>
              <a:effectLst/>
            </c:spPr>
            <c:extLst>
              <c:ext xmlns:c16="http://schemas.microsoft.com/office/drawing/2014/chart" uri="{C3380CC4-5D6E-409C-BE32-E72D297353CC}">
                <c16:uniqueId val="{00000011-A913-473B-991E-DC8A24BBFAB1}"/>
              </c:ext>
            </c:extLst>
          </c:dPt>
          <c:dPt>
            <c:idx val="9"/>
            <c:bubble3D val="0"/>
            <c:spPr>
              <a:solidFill>
                <a:schemeClr val="accent4">
                  <a:lumMod val="60000"/>
                </a:schemeClr>
              </a:solidFill>
              <a:ln w="19050">
                <a:solidFill>
                  <a:schemeClr val="lt1"/>
                </a:solidFill>
              </a:ln>
              <a:effectLst/>
            </c:spPr>
            <c:extLst>
              <c:ext xmlns:c16="http://schemas.microsoft.com/office/drawing/2014/chart" uri="{C3380CC4-5D6E-409C-BE32-E72D297353CC}">
                <c16:uniqueId val="{00000013-A913-473B-991E-DC8A24BBFAB1}"/>
              </c:ext>
            </c:extLst>
          </c:dPt>
          <c:dLbls>
            <c:dLbl>
              <c:idx val="0"/>
              <c:layout>
                <c:manualLayout>
                  <c:x val="0.12707297283124985"/>
                  <c:y val="-0.10352200258545986"/>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1-A913-473B-991E-DC8A24BBFAB1}"/>
                </c:ext>
              </c:extLst>
            </c:dLbl>
            <c:dLbl>
              <c:idx val="1"/>
              <c:layout>
                <c:manualLayout>
                  <c:x val="0.13177937923240735"/>
                  <c:y val="-9.2991617208428259E-2"/>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3-A913-473B-991E-DC8A24BBFAB1}"/>
                </c:ext>
              </c:extLst>
            </c:dLbl>
            <c:dLbl>
              <c:idx val="2"/>
              <c:layout>
                <c:manualLayout>
                  <c:x val="-2.269136405924958E-2"/>
                  <c:y val="9.4085183982450124E-2"/>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Poppins SemiBold" pitchFamily="2" charset="77"/>
                      <a:ea typeface="+mn-ea"/>
                      <a:cs typeface="Poppins SemiBold" pitchFamily="2" charset="77"/>
                    </a:defRPr>
                  </a:pPr>
                  <a:endParaRPr lang="en-US"/>
                </a:p>
              </c:txPr>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5-A913-473B-991E-DC8A24BBFAB1}"/>
                </c:ext>
              </c:extLst>
            </c:dLbl>
            <c:dLbl>
              <c:idx val="3"/>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Poppins SemiBold" pitchFamily="2" charset="77"/>
                      <a:ea typeface="+mn-ea"/>
                      <a:cs typeface="Poppins SemiBold" pitchFamily="2" charset="77"/>
                    </a:defRPr>
                  </a:pPr>
                  <a:endParaRPr lang="en-US"/>
                </a:p>
              </c:txPr>
              <c:showLegendKey val="0"/>
              <c:showVal val="1"/>
              <c:showCatName val="1"/>
              <c:showSerName val="0"/>
              <c:showPercent val="0"/>
              <c:showBubbleSize val="0"/>
              <c:extLst>
                <c:ext xmlns:c16="http://schemas.microsoft.com/office/drawing/2014/chart" uri="{C3380CC4-5D6E-409C-BE32-E72D297353CC}">
                  <c16:uniqueId val="{00000007-A913-473B-991E-DC8A24BBFAB1}"/>
                </c:ext>
              </c:extLst>
            </c:dLbl>
            <c:dLbl>
              <c:idx val="4"/>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Poppins SemiBold" pitchFamily="2" charset="77"/>
                      <a:ea typeface="+mn-ea"/>
                      <a:cs typeface="Poppins SemiBold" pitchFamily="2" charset="77"/>
                    </a:defRPr>
                  </a:pPr>
                  <a:endParaRPr lang="en-US"/>
                </a:p>
              </c:txPr>
              <c:showLegendKey val="0"/>
              <c:showVal val="1"/>
              <c:showCatName val="1"/>
              <c:showSerName val="0"/>
              <c:showPercent val="0"/>
              <c:showBubbleSize val="0"/>
              <c:extLst>
                <c:ext xmlns:c16="http://schemas.microsoft.com/office/drawing/2014/chart" uri="{C3380CC4-5D6E-409C-BE32-E72D297353CC}">
                  <c16:uniqueId val="{00000009-A913-473B-991E-DC8A24BBFAB1}"/>
                </c:ext>
              </c:extLst>
            </c:dLbl>
            <c:dLbl>
              <c:idx val="5"/>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Poppins SemiBold" pitchFamily="2" charset="77"/>
                      <a:ea typeface="+mn-ea"/>
                      <a:cs typeface="Poppins SemiBold" pitchFamily="2" charset="77"/>
                    </a:defRPr>
                  </a:pPr>
                  <a:endParaRPr lang="en-US"/>
                </a:p>
              </c:txPr>
              <c:showLegendKey val="0"/>
              <c:showVal val="1"/>
              <c:showCatName val="1"/>
              <c:showSerName val="0"/>
              <c:showPercent val="0"/>
              <c:showBubbleSize val="0"/>
              <c:extLst>
                <c:ext xmlns:c16="http://schemas.microsoft.com/office/drawing/2014/chart" uri="{C3380CC4-5D6E-409C-BE32-E72D297353CC}">
                  <c16:uniqueId val="{0000000B-A913-473B-991E-DC8A24BBFAB1}"/>
                </c:ext>
              </c:extLst>
            </c:dLbl>
            <c:dLbl>
              <c:idx val="6"/>
              <c:layout>
                <c:manualLayout>
                  <c:x val="-3.6083869644401349E-2"/>
                  <c:y val="-1.360661397385764E-2"/>
                </c:manualLayout>
              </c:layout>
              <c:spPr>
                <a:noFill/>
                <a:ln>
                  <a:noFill/>
                </a:ln>
                <a:effectLst/>
              </c:spPr>
              <c:txPr>
                <a:bodyPr rot="1620000" spcFirstLastPara="1" vertOverflow="ellipsis" wrap="square" lIns="38100" tIns="19050" rIns="38100" bIns="19050" anchor="ctr" anchorCtr="1">
                  <a:spAutoFit/>
                </a:bodyPr>
                <a:lstStyle/>
                <a:p>
                  <a:pPr>
                    <a:defRPr sz="1000" b="1" i="0" u="none" strike="noStrike" kern="1200" baseline="0">
                      <a:solidFill>
                        <a:schemeClr val="bg1"/>
                      </a:solidFill>
                      <a:latin typeface="Poppins SemiBold" pitchFamily="2" charset="77"/>
                      <a:ea typeface="+mn-ea"/>
                      <a:cs typeface="Poppins SemiBold" pitchFamily="2" charset="77"/>
                    </a:defRPr>
                  </a:pPr>
                  <a:endParaRPr lang="en-US"/>
                </a:p>
              </c:txPr>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D-A913-473B-991E-DC8A24BBFAB1}"/>
                </c:ext>
              </c:extLst>
            </c:dLbl>
            <c:dLbl>
              <c:idx val="7"/>
              <c:layout>
                <c:manualLayout>
                  <c:x val="-1.8099004632104475E-2"/>
                  <c:y val="-4.3828889566596828E-2"/>
                </c:manualLayout>
              </c:layout>
              <c:tx>
                <c:rich>
                  <a:bodyPr rot="0" spcFirstLastPara="1" vertOverflow="ellipsis" vert="horz" wrap="square" lIns="38100" tIns="19050" rIns="38100" bIns="19050" anchor="ctr" anchorCtr="1">
                    <a:noAutofit/>
                  </a:bodyPr>
                  <a:lstStyle/>
                  <a:p>
                    <a:pPr>
                      <a:defRPr sz="1000" b="1" i="0" u="none" strike="noStrike" kern="1200" baseline="0">
                        <a:solidFill>
                          <a:schemeClr val="bg1"/>
                        </a:solidFill>
                        <a:latin typeface="Poppins SemiBold" pitchFamily="2" charset="77"/>
                        <a:ea typeface="+mn-ea"/>
                        <a:cs typeface="Poppins SemiBold" pitchFamily="2" charset="77"/>
                      </a:defRPr>
                    </a:pPr>
                    <a:fld id="{FD44BA94-EA80-48CC-8BF7-B97A12B7E9EC}" type="CATEGORYNAME">
                      <a:rPr lang="en-US" smtClean="0">
                        <a:solidFill>
                          <a:schemeClr val="bg1"/>
                        </a:solidFill>
                      </a:rPr>
                      <a:pPr>
                        <a:defRPr sz="1000" b="1">
                          <a:solidFill>
                            <a:schemeClr val="bg1"/>
                          </a:solidFill>
                          <a:latin typeface="Poppins SemiBold" pitchFamily="2" charset="77"/>
                          <a:cs typeface="Poppins SemiBold" pitchFamily="2" charset="77"/>
                        </a:defRPr>
                      </a:pPr>
                      <a:t>[CATEGORY NAME]</a:t>
                    </a:fld>
                    <a:endParaRPr lang="en-US" baseline="0">
                      <a:solidFill>
                        <a:schemeClr val="bg1"/>
                      </a:solidFill>
                    </a:endParaRPr>
                  </a:p>
                  <a:p>
                    <a:pPr>
                      <a:defRPr sz="1000" b="1">
                        <a:solidFill>
                          <a:schemeClr val="bg1"/>
                        </a:solidFill>
                        <a:latin typeface="Poppins SemiBold" pitchFamily="2" charset="77"/>
                        <a:cs typeface="Poppins SemiBold" pitchFamily="2" charset="77"/>
                      </a:defRPr>
                    </a:pPr>
                    <a:fld id="{02DDC5ED-2583-47DF-AF7F-E24C79880F4B}" type="VALUE">
                      <a:rPr lang="en-US" baseline="0" smtClean="0">
                        <a:solidFill>
                          <a:schemeClr val="bg1"/>
                        </a:solidFill>
                      </a:rPr>
                      <a:pPr>
                        <a:defRPr sz="1000" b="1">
                          <a:solidFill>
                            <a:schemeClr val="bg1"/>
                          </a:solidFill>
                          <a:latin typeface="Poppins SemiBold" pitchFamily="2" charset="77"/>
                          <a:cs typeface="Poppins SemiBold" pitchFamily="2" charset="77"/>
                        </a:defRPr>
                      </a:pPr>
                      <a:t>[VALUE]</a:t>
                    </a:fld>
                    <a:endParaRPr lang="en-US"/>
                  </a:p>
                </c:rich>
              </c:tx>
              <c:spPr>
                <a:noFill/>
                <a:ln>
                  <a:noFill/>
                </a:ln>
                <a:effectLst/>
              </c:spPr>
              <c:txPr>
                <a:bodyPr rot="0" spcFirstLastPara="1" vertOverflow="ellipsis" vert="horz" wrap="square" lIns="38100" tIns="19050" rIns="38100" bIns="19050" anchor="ctr" anchorCtr="1">
                  <a:noAutofit/>
                </a:bodyPr>
                <a:lstStyle/>
                <a:p>
                  <a:pPr>
                    <a:defRPr sz="1000" b="1" i="0" u="none" strike="noStrike" kern="1200" baseline="0">
                      <a:solidFill>
                        <a:schemeClr val="bg1"/>
                      </a:solidFill>
                      <a:latin typeface="Poppins SemiBold" pitchFamily="2" charset="77"/>
                      <a:ea typeface="+mn-ea"/>
                      <a:cs typeface="Poppins SemiBold" pitchFamily="2" charset="77"/>
                    </a:defRPr>
                  </a:pPr>
                  <a:endParaRPr lang="en-US"/>
                </a:p>
              </c:txPr>
              <c:showLegendKey val="0"/>
              <c:showVal val="1"/>
              <c:showCatName val="1"/>
              <c:showSerName val="0"/>
              <c:showPercent val="0"/>
              <c:showBubbleSize val="0"/>
              <c:extLst>
                <c:ext xmlns:c15="http://schemas.microsoft.com/office/drawing/2012/chart" uri="{CE6537A1-D6FC-4f65-9D91-7224C49458BB}">
                  <c15:layout>
                    <c:manualLayout>
                      <c:w val="6.793697640070713E-2"/>
                      <c:h val="0.1046155693594818"/>
                    </c:manualLayout>
                  </c15:layout>
                  <c15:dlblFieldTable/>
                  <c15:showDataLabelsRange val="0"/>
                </c:ext>
                <c:ext xmlns:c16="http://schemas.microsoft.com/office/drawing/2014/chart" uri="{C3380CC4-5D6E-409C-BE32-E72D297353CC}">
                  <c16:uniqueId val="{0000000F-A913-473B-991E-DC8A24BBFAB1}"/>
                </c:ext>
              </c:extLst>
            </c:dLbl>
            <c:dLbl>
              <c:idx val="8"/>
              <c:layout>
                <c:manualLayout>
                  <c:x val="-9.3232428474203433E-2"/>
                  <c:y val="-0.12000019037653917"/>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11-A913-473B-991E-DC8A24BBFAB1}"/>
                </c:ext>
              </c:extLst>
            </c:dLbl>
            <c:dLbl>
              <c:idx val="9"/>
              <c:layout>
                <c:manualLayout>
                  <c:x val="2.437714695049871E-2"/>
                  <c:y val="-0.14211919841225967"/>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13-A913-473B-991E-DC8A24BBFAB1}"/>
                </c:ext>
              </c:extLst>
            </c:dLbl>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solidFill>
                    <a:latin typeface="Poppins SemiBold" pitchFamily="2" charset="77"/>
                    <a:ea typeface="+mn-ea"/>
                    <a:cs typeface="Poppins SemiBold" pitchFamily="2" charset="77"/>
                  </a:defRPr>
                </a:pPr>
                <a:endParaRPr lang="en-US"/>
              </a:p>
            </c:txPr>
            <c:showLegendKey val="0"/>
            <c:showVal val="1"/>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'Media Mix Chart'!$B$4:$B$13</c:f>
              <c:strCache>
                <c:ptCount val="10"/>
                <c:pt idx="0">
                  <c:v>Research</c:v>
                </c:pt>
                <c:pt idx="1">
                  <c:v>Alignment on Research</c:v>
                </c:pt>
                <c:pt idx="2">
                  <c:v>Concepting</c:v>
                </c:pt>
                <c:pt idx="3">
                  <c:v>Alignment on Concepting</c:v>
                </c:pt>
                <c:pt idx="4">
                  <c:v>Briefing</c:v>
                </c:pt>
                <c:pt idx="5">
                  <c:v>Alignment on Briefing</c:v>
                </c:pt>
                <c:pt idx="6">
                  <c:v>Internally Approved Design Delivery</c:v>
                </c:pt>
                <c:pt idx="7">
                  <c:v>Alignment on Design + Revisions</c:v>
                </c:pt>
                <c:pt idx="8">
                  <c:v>Compliance Alignment</c:v>
                </c:pt>
                <c:pt idx="9">
                  <c:v>Development</c:v>
                </c:pt>
              </c:strCache>
            </c:strRef>
          </c:cat>
          <c:val>
            <c:numRef>
              <c:f>'Media Mix Chart'!$D$4:$D$13</c:f>
              <c:numCache>
                <c:formatCode>0%</c:formatCode>
                <c:ptCount val="10"/>
                <c:pt idx="0">
                  <c:v>2.3809523809523808E-2</c:v>
                </c:pt>
                <c:pt idx="1">
                  <c:v>2.3809523809523808E-2</c:v>
                </c:pt>
                <c:pt idx="2">
                  <c:v>2.3809523809523808E-2</c:v>
                </c:pt>
                <c:pt idx="3">
                  <c:v>3.5714285714285712E-2</c:v>
                </c:pt>
                <c:pt idx="4">
                  <c:v>3.5714285714285712E-2</c:v>
                </c:pt>
                <c:pt idx="5">
                  <c:v>1.1904761904761904E-2</c:v>
                </c:pt>
                <c:pt idx="6">
                  <c:v>0.19047619047619047</c:v>
                </c:pt>
                <c:pt idx="7">
                  <c:v>0.2857142857142857</c:v>
                </c:pt>
                <c:pt idx="8">
                  <c:v>7.1428571428571425E-2</c:v>
                </c:pt>
                <c:pt idx="9">
                  <c:v>9.5238095238095233E-2</c:v>
                </c:pt>
              </c:numCache>
            </c:numRef>
          </c:val>
          <c:extLst>
            <c:ext xmlns:c16="http://schemas.microsoft.com/office/drawing/2014/chart" uri="{C3380CC4-5D6E-409C-BE32-E72D297353CC}">
              <c16:uniqueId val="{00000014-A913-473B-991E-DC8A24BBFAB1}"/>
            </c:ext>
          </c:extLst>
        </c:ser>
        <c:dLbls>
          <c:showLegendKey val="0"/>
          <c:showVal val="1"/>
          <c:showCatName val="0"/>
          <c:showSerName val="0"/>
          <c:showPercent val="0"/>
          <c:showBubbleSize val="0"/>
          <c:showLeaderLines val="1"/>
        </c:dLbls>
        <c:firstSliceAng val="0"/>
        <c:holeSize val="5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userShapes r:id="rId4"/>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8234619151868939"/>
          <c:y val="2.8901859072259428E-3"/>
          <c:w val="0.42226133013195583"/>
          <c:h val="0.56127683406759987"/>
        </c:manualLayout>
      </c:layout>
      <c:doughnutChart>
        <c:varyColors val="1"/>
        <c:ser>
          <c:idx val="0"/>
          <c:order val="0"/>
          <c:dPt>
            <c:idx val="0"/>
            <c:bubble3D val="0"/>
            <c:spPr>
              <a:solidFill>
                <a:schemeClr val="accent2"/>
              </a:solidFill>
              <a:ln w="19050">
                <a:solidFill>
                  <a:schemeClr val="lt1"/>
                </a:solidFill>
              </a:ln>
              <a:effectLst/>
            </c:spPr>
            <c:extLst>
              <c:ext xmlns:c16="http://schemas.microsoft.com/office/drawing/2014/chart" uri="{C3380CC4-5D6E-409C-BE32-E72D297353CC}">
                <c16:uniqueId val="{00000001-5AE1-41F8-A11E-CF0AE606C9AC}"/>
              </c:ext>
            </c:extLst>
          </c:dPt>
          <c:dPt>
            <c:idx val="1"/>
            <c:bubble3D val="0"/>
            <c:spPr>
              <a:solidFill>
                <a:srgbClr val="0070C0"/>
              </a:solidFill>
              <a:ln w="19050">
                <a:solidFill>
                  <a:schemeClr val="lt1"/>
                </a:solidFill>
              </a:ln>
              <a:effectLst/>
            </c:spPr>
            <c:extLst>
              <c:ext xmlns:c16="http://schemas.microsoft.com/office/drawing/2014/chart" uri="{C3380CC4-5D6E-409C-BE32-E72D297353CC}">
                <c16:uniqueId val="{00000003-5AE1-41F8-A11E-CF0AE606C9AC}"/>
              </c:ext>
            </c:extLst>
          </c:dPt>
          <c:dPt>
            <c:idx val="2"/>
            <c:bubble3D val="0"/>
            <c:spPr>
              <a:solidFill>
                <a:schemeClr val="accent2"/>
              </a:solidFill>
              <a:ln w="19050">
                <a:solidFill>
                  <a:schemeClr val="lt1"/>
                </a:solidFill>
              </a:ln>
              <a:effectLst/>
            </c:spPr>
            <c:extLst>
              <c:ext xmlns:c16="http://schemas.microsoft.com/office/drawing/2014/chart" uri="{C3380CC4-5D6E-409C-BE32-E72D297353CC}">
                <c16:uniqueId val="{00000005-5AE1-41F8-A11E-CF0AE606C9AC}"/>
              </c:ext>
            </c:extLst>
          </c:dPt>
          <c:dPt>
            <c:idx val="3"/>
            <c:bubble3D val="0"/>
            <c:spPr>
              <a:solidFill>
                <a:schemeClr val="accent1"/>
              </a:solidFill>
              <a:ln w="19050">
                <a:solidFill>
                  <a:schemeClr val="lt1"/>
                </a:solidFill>
              </a:ln>
              <a:effectLst/>
            </c:spPr>
            <c:extLst>
              <c:ext xmlns:c16="http://schemas.microsoft.com/office/drawing/2014/chart" uri="{C3380CC4-5D6E-409C-BE32-E72D297353CC}">
                <c16:uniqueId val="{00000007-5AE1-41F8-A11E-CF0AE606C9AC}"/>
              </c:ext>
            </c:extLst>
          </c:dPt>
          <c:dPt>
            <c:idx val="4"/>
            <c:bubble3D val="0"/>
            <c:spPr>
              <a:solidFill>
                <a:schemeClr val="accent2"/>
              </a:solidFill>
              <a:ln w="19050">
                <a:solidFill>
                  <a:schemeClr val="lt1"/>
                </a:solidFill>
              </a:ln>
              <a:effectLst/>
            </c:spPr>
            <c:extLst>
              <c:ext xmlns:c16="http://schemas.microsoft.com/office/drawing/2014/chart" uri="{C3380CC4-5D6E-409C-BE32-E72D297353CC}">
                <c16:uniqueId val="{00000009-5AE1-41F8-A11E-CF0AE606C9AC}"/>
              </c:ext>
            </c:extLst>
          </c:dPt>
          <c:dPt>
            <c:idx val="5"/>
            <c:bubble3D val="0"/>
            <c:spPr>
              <a:solidFill>
                <a:schemeClr val="accent1"/>
              </a:solidFill>
              <a:ln w="19050">
                <a:solidFill>
                  <a:schemeClr val="lt1"/>
                </a:solidFill>
              </a:ln>
              <a:effectLst/>
            </c:spPr>
            <c:extLst>
              <c:ext xmlns:c16="http://schemas.microsoft.com/office/drawing/2014/chart" uri="{C3380CC4-5D6E-409C-BE32-E72D297353CC}">
                <c16:uniqueId val="{0000000B-5AE1-41F8-A11E-CF0AE606C9AC}"/>
              </c:ext>
            </c:extLst>
          </c:dPt>
          <c:dPt>
            <c:idx val="6"/>
            <c:bubble3D val="0"/>
            <c:spPr>
              <a:solidFill>
                <a:schemeClr val="accent2"/>
              </a:solidFill>
              <a:ln w="19050">
                <a:solidFill>
                  <a:schemeClr val="lt1"/>
                </a:solidFill>
              </a:ln>
              <a:effectLst/>
            </c:spPr>
            <c:extLst>
              <c:ext xmlns:c16="http://schemas.microsoft.com/office/drawing/2014/chart" uri="{C3380CC4-5D6E-409C-BE32-E72D297353CC}">
                <c16:uniqueId val="{0000000D-5AE1-41F8-A11E-CF0AE606C9AC}"/>
              </c:ext>
            </c:extLst>
          </c:dPt>
          <c:dPt>
            <c:idx val="7"/>
            <c:bubble3D val="0"/>
            <c:spPr>
              <a:solidFill>
                <a:schemeClr val="accent1"/>
              </a:solidFill>
              <a:ln w="19050">
                <a:solidFill>
                  <a:schemeClr val="lt1"/>
                </a:solidFill>
              </a:ln>
              <a:effectLst/>
            </c:spPr>
            <c:extLst>
              <c:ext xmlns:c16="http://schemas.microsoft.com/office/drawing/2014/chart" uri="{C3380CC4-5D6E-409C-BE32-E72D297353CC}">
                <c16:uniqueId val="{0000000F-5AE1-41F8-A11E-CF0AE606C9AC}"/>
              </c:ext>
            </c:extLst>
          </c:dPt>
          <c:dPt>
            <c:idx val="8"/>
            <c:bubble3D val="0"/>
            <c:spPr>
              <a:solidFill>
                <a:srgbClr val="0070C0"/>
              </a:solidFill>
              <a:ln w="19050">
                <a:solidFill>
                  <a:schemeClr val="lt1"/>
                </a:solidFill>
              </a:ln>
              <a:effectLst/>
            </c:spPr>
            <c:extLst>
              <c:ext xmlns:c16="http://schemas.microsoft.com/office/drawing/2014/chart" uri="{C3380CC4-5D6E-409C-BE32-E72D297353CC}">
                <c16:uniqueId val="{00000011-5AE1-41F8-A11E-CF0AE606C9AC}"/>
              </c:ext>
            </c:extLst>
          </c:dPt>
          <c:dPt>
            <c:idx val="9"/>
            <c:bubble3D val="0"/>
            <c:spPr>
              <a:solidFill>
                <a:schemeClr val="accent2"/>
              </a:solidFill>
              <a:ln w="19050">
                <a:solidFill>
                  <a:schemeClr val="lt1"/>
                </a:solidFill>
              </a:ln>
              <a:effectLst/>
            </c:spPr>
            <c:extLst>
              <c:ext xmlns:c16="http://schemas.microsoft.com/office/drawing/2014/chart" uri="{C3380CC4-5D6E-409C-BE32-E72D297353CC}">
                <c16:uniqueId val="{00000013-5AE1-41F8-A11E-CF0AE606C9AC}"/>
              </c:ext>
            </c:extLst>
          </c:dPt>
          <c:dPt>
            <c:idx val="10"/>
            <c:bubble3D val="0"/>
            <c:spPr>
              <a:solidFill>
                <a:schemeClr val="accent1"/>
              </a:solidFill>
              <a:ln w="19050">
                <a:solidFill>
                  <a:schemeClr val="lt1"/>
                </a:solidFill>
              </a:ln>
              <a:effectLst/>
            </c:spPr>
            <c:extLst>
              <c:ext xmlns:c16="http://schemas.microsoft.com/office/drawing/2014/chart" uri="{C3380CC4-5D6E-409C-BE32-E72D297353CC}">
                <c16:uniqueId val="{00000015-5AE1-41F8-A11E-CF0AE606C9AC}"/>
              </c:ext>
            </c:extLst>
          </c:dPt>
          <c:dPt>
            <c:idx val="11"/>
            <c:bubble3D val="0"/>
            <c:spPr>
              <a:solidFill>
                <a:schemeClr val="accent2"/>
              </a:solidFill>
              <a:ln w="19050">
                <a:solidFill>
                  <a:schemeClr val="lt1"/>
                </a:solidFill>
              </a:ln>
              <a:effectLst/>
            </c:spPr>
            <c:extLst>
              <c:ext xmlns:c16="http://schemas.microsoft.com/office/drawing/2014/chart" uri="{C3380CC4-5D6E-409C-BE32-E72D297353CC}">
                <c16:uniqueId val="{00000017-5AE1-41F8-A11E-CF0AE606C9AC}"/>
              </c:ext>
            </c:extLst>
          </c:dPt>
          <c:dPt>
            <c:idx val="12"/>
            <c:bubble3D val="0"/>
            <c:spPr>
              <a:solidFill>
                <a:schemeClr val="accent2"/>
              </a:solidFill>
              <a:ln w="19050">
                <a:solidFill>
                  <a:schemeClr val="lt1"/>
                </a:solidFill>
              </a:ln>
              <a:effectLst/>
            </c:spPr>
            <c:extLst>
              <c:ext xmlns:c16="http://schemas.microsoft.com/office/drawing/2014/chart" uri="{C3380CC4-5D6E-409C-BE32-E72D297353CC}">
                <c16:uniqueId val="{00000019-5AE1-41F8-A11E-CF0AE606C9AC}"/>
              </c:ext>
            </c:extLst>
          </c:dPt>
          <c:dPt>
            <c:idx val="13"/>
            <c:bubble3D val="0"/>
            <c:spPr>
              <a:solidFill>
                <a:schemeClr val="accent2"/>
              </a:solidFill>
              <a:ln w="19050">
                <a:solidFill>
                  <a:schemeClr val="lt1"/>
                </a:solidFill>
              </a:ln>
              <a:effectLst/>
            </c:spPr>
            <c:extLst>
              <c:ext xmlns:c16="http://schemas.microsoft.com/office/drawing/2014/chart" uri="{C3380CC4-5D6E-409C-BE32-E72D297353CC}">
                <c16:uniqueId val="{0000001B-5AE1-41F8-A11E-CF0AE606C9AC}"/>
              </c:ext>
            </c:extLst>
          </c:dPt>
          <c:dLbls>
            <c:dLbl>
              <c:idx val="0"/>
              <c:delete val="1"/>
              <c:extLst>
                <c:ext xmlns:c15="http://schemas.microsoft.com/office/drawing/2012/chart" uri="{CE6537A1-D6FC-4f65-9D91-7224C49458BB}"/>
                <c:ext xmlns:c16="http://schemas.microsoft.com/office/drawing/2014/chart" uri="{C3380CC4-5D6E-409C-BE32-E72D297353CC}">
                  <c16:uniqueId val="{00000001-5AE1-41F8-A11E-CF0AE606C9AC}"/>
                </c:ext>
              </c:extLst>
            </c:dLbl>
            <c:dLbl>
              <c:idx val="1"/>
              <c:delete val="1"/>
              <c:extLst>
                <c:ext xmlns:c15="http://schemas.microsoft.com/office/drawing/2012/chart" uri="{CE6537A1-D6FC-4f65-9D91-7224C49458BB}"/>
                <c:ext xmlns:c16="http://schemas.microsoft.com/office/drawing/2014/chart" uri="{C3380CC4-5D6E-409C-BE32-E72D297353CC}">
                  <c16:uniqueId val="{00000003-5AE1-41F8-A11E-CF0AE606C9AC}"/>
                </c:ext>
              </c:extLst>
            </c:dLbl>
            <c:dLbl>
              <c:idx val="2"/>
              <c:delete val="1"/>
              <c:extLst>
                <c:ext xmlns:c15="http://schemas.microsoft.com/office/drawing/2012/chart" uri="{CE6537A1-D6FC-4f65-9D91-7224C49458BB}"/>
                <c:ext xmlns:c16="http://schemas.microsoft.com/office/drawing/2014/chart" uri="{C3380CC4-5D6E-409C-BE32-E72D297353CC}">
                  <c16:uniqueId val="{00000005-5AE1-41F8-A11E-CF0AE606C9AC}"/>
                </c:ext>
              </c:extLst>
            </c:dLbl>
            <c:dLbl>
              <c:idx val="5"/>
              <c:delete val="1"/>
              <c:extLst>
                <c:ext xmlns:c15="http://schemas.microsoft.com/office/drawing/2012/chart" uri="{CE6537A1-D6FC-4f65-9D91-7224C49458BB}"/>
                <c:ext xmlns:c16="http://schemas.microsoft.com/office/drawing/2014/chart" uri="{C3380CC4-5D6E-409C-BE32-E72D297353CC}">
                  <c16:uniqueId val="{0000000B-5AE1-41F8-A11E-CF0AE606C9AC}"/>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'[Chart in Microsoft PowerPoint]Media Mix Chart'!$B$4:$B$17</c:f>
              <c:strCache>
                <c:ptCount val="14"/>
                <c:pt idx="0">
                  <c:v>Research</c:v>
                </c:pt>
                <c:pt idx="1">
                  <c:v>Alignment on Research</c:v>
                </c:pt>
                <c:pt idx="2">
                  <c:v>Concepting</c:v>
                </c:pt>
                <c:pt idx="3">
                  <c:v>Alignment on Concepting</c:v>
                </c:pt>
                <c:pt idx="4">
                  <c:v>Briefing</c:v>
                </c:pt>
                <c:pt idx="5">
                  <c:v>Alignment on Briefing</c:v>
                </c:pt>
                <c:pt idx="6">
                  <c:v>Internally Approved Design Delivery</c:v>
                </c:pt>
                <c:pt idx="7">
                  <c:v>Alignment on Design + Revisions</c:v>
                </c:pt>
                <c:pt idx="8">
                  <c:v>Compliance Alignment</c:v>
                </c:pt>
                <c:pt idx="9">
                  <c:v>Development</c:v>
                </c:pt>
                <c:pt idx="10">
                  <c:v>Development Alignmnet</c:v>
                </c:pt>
                <c:pt idx="11">
                  <c:v>Test Launch + Monitoring</c:v>
                </c:pt>
                <c:pt idx="12">
                  <c:v>Analysis</c:v>
                </c:pt>
                <c:pt idx="13">
                  <c:v>Maintaining Winning Experiences</c:v>
                </c:pt>
              </c:strCache>
            </c:strRef>
          </c:cat>
          <c:val>
            <c:numRef>
              <c:f>'[Chart in Microsoft PowerPoint]Media Mix Chart'!$D$4:$D$17</c:f>
              <c:numCache>
                <c:formatCode>0%</c:formatCode>
                <c:ptCount val="14"/>
                <c:pt idx="0">
                  <c:v>2.3809523809523808E-2</c:v>
                </c:pt>
                <c:pt idx="1">
                  <c:v>2.3809523809523808E-2</c:v>
                </c:pt>
                <c:pt idx="2">
                  <c:v>2.3809523809523808E-2</c:v>
                </c:pt>
                <c:pt idx="3">
                  <c:v>3.5714285714285712E-2</c:v>
                </c:pt>
                <c:pt idx="4">
                  <c:v>3.5714285714285712E-2</c:v>
                </c:pt>
                <c:pt idx="5">
                  <c:v>1.1904761904761904E-2</c:v>
                </c:pt>
                <c:pt idx="6">
                  <c:v>0.19047619047619047</c:v>
                </c:pt>
                <c:pt idx="7">
                  <c:v>0.2857142857142857</c:v>
                </c:pt>
                <c:pt idx="8">
                  <c:v>7.1428571428571425E-2</c:v>
                </c:pt>
                <c:pt idx="9">
                  <c:v>9.5238095238095233E-2</c:v>
                </c:pt>
                <c:pt idx="10">
                  <c:v>4.7619047619047616E-2</c:v>
                </c:pt>
                <c:pt idx="11">
                  <c:v>3.5714285714285712E-2</c:v>
                </c:pt>
                <c:pt idx="12">
                  <c:v>5.9523809523809521E-2</c:v>
                </c:pt>
                <c:pt idx="13">
                  <c:v>5.9523809523809521E-2</c:v>
                </c:pt>
              </c:numCache>
            </c:numRef>
          </c:val>
          <c:extLst>
            <c:ext xmlns:c16="http://schemas.microsoft.com/office/drawing/2014/chart" uri="{C3380CC4-5D6E-409C-BE32-E72D297353CC}">
              <c16:uniqueId val="{0000001C-5AE1-41F8-A11E-CF0AE606C9AC}"/>
            </c:ext>
          </c:extLst>
        </c:ser>
        <c:dLbls>
          <c:showLegendKey val="0"/>
          <c:showVal val="1"/>
          <c:showCatName val="0"/>
          <c:showSerName val="0"/>
          <c:showPercent val="0"/>
          <c:showBubbleSize val="0"/>
          <c:showLeaderLines val="1"/>
        </c:dLbls>
        <c:firstSliceAng val="0"/>
        <c:holeSize val="50"/>
      </c:doughnutChart>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dPt>
            <c:idx val="0"/>
            <c:bubble3D val="0"/>
            <c:spPr>
              <a:solidFill>
                <a:schemeClr val="accent2"/>
              </a:solidFill>
              <a:ln w="19050">
                <a:solidFill>
                  <a:schemeClr val="lt1"/>
                </a:solidFill>
              </a:ln>
              <a:effectLst/>
            </c:spPr>
            <c:extLst>
              <c:ext xmlns:c16="http://schemas.microsoft.com/office/drawing/2014/chart" uri="{C3380CC4-5D6E-409C-BE32-E72D297353CC}">
                <c16:uniqueId val="{00000001-2445-4A5F-B145-AD214FCCCA12}"/>
              </c:ext>
            </c:extLst>
          </c:dPt>
          <c:dPt>
            <c:idx val="1"/>
            <c:bubble3D val="0"/>
            <c:spPr>
              <a:solidFill>
                <a:schemeClr val="accent1"/>
              </a:solidFill>
              <a:ln w="19050">
                <a:solidFill>
                  <a:schemeClr val="lt1"/>
                </a:solidFill>
              </a:ln>
              <a:effectLst/>
            </c:spPr>
            <c:extLst>
              <c:ext xmlns:c16="http://schemas.microsoft.com/office/drawing/2014/chart" uri="{C3380CC4-5D6E-409C-BE32-E72D297353CC}">
                <c16:uniqueId val="{00000003-2445-4A5F-B145-AD214FCCCA12}"/>
              </c:ext>
            </c:extLst>
          </c:dPt>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'[Chart in Microsoft PowerPoint]Media Mix Chart'!$B$24:$B$25</c:f>
              <c:strCache>
                <c:ptCount val="2"/>
                <c:pt idx="0">
                  <c:v>Execution Steps</c:v>
                </c:pt>
                <c:pt idx="1">
                  <c:v>Alignment Steps</c:v>
                </c:pt>
              </c:strCache>
            </c:strRef>
          </c:cat>
          <c:val>
            <c:numRef>
              <c:f>'[Chart in Microsoft PowerPoint]Media Mix Chart'!$D$24:$D$25</c:f>
              <c:numCache>
                <c:formatCode>0%</c:formatCode>
                <c:ptCount val="2"/>
                <c:pt idx="0">
                  <c:v>0.47619047619047616</c:v>
                </c:pt>
                <c:pt idx="1">
                  <c:v>0.52380952380952384</c:v>
                </c:pt>
              </c:numCache>
            </c:numRef>
          </c:val>
          <c:extLst>
            <c:ext xmlns:c16="http://schemas.microsoft.com/office/drawing/2014/chart" uri="{C3380CC4-5D6E-409C-BE32-E72D297353CC}">
              <c16:uniqueId val="{00000004-2445-4A5F-B145-AD214FCCCA12}"/>
            </c:ext>
          </c:extLst>
        </c:ser>
        <c:dLbls>
          <c:showLegendKey val="0"/>
          <c:showVal val="1"/>
          <c:showCatName val="0"/>
          <c:showSerName val="0"/>
          <c:showPercent val="0"/>
          <c:showBubbleSize val="0"/>
          <c:showLeaderLines val="1"/>
        </c:dLbls>
        <c:firstSliceAng val="0"/>
        <c:holeSize val="50"/>
      </c:doughnutChart>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spPr>
            <a:solidFill>
              <a:schemeClr val="accent2"/>
            </a:solidFill>
          </c:spPr>
          <c:dPt>
            <c:idx val="0"/>
            <c:bubble3D val="0"/>
            <c:spPr>
              <a:solidFill>
                <a:schemeClr val="accent2"/>
              </a:solidFill>
              <a:ln w="19050">
                <a:solidFill>
                  <a:schemeClr val="lt1"/>
                </a:solidFill>
              </a:ln>
              <a:effectLst/>
            </c:spPr>
            <c:extLst>
              <c:ext xmlns:c16="http://schemas.microsoft.com/office/drawing/2014/chart" uri="{C3380CC4-5D6E-409C-BE32-E72D297353CC}">
                <c16:uniqueId val="{00000001-AB4B-4146-8276-11AA1F81A7C8}"/>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AB4B-4146-8276-11AA1F81A7C8}"/>
              </c:ext>
            </c:extLst>
          </c:dPt>
          <c:dPt>
            <c:idx val="2"/>
            <c:bubble3D val="0"/>
            <c:spPr>
              <a:solidFill>
                <a:schemeClr val="accent2"/>
              </a:solidFill>
              <a:ln w="19050">
                <a:solidFill>
                  <a:schemeClr val="lt1"/>
                </a:solidFill>
              </a:ln>
              <a:effectLst/>
            </c:spPr>
            <c:extLst>
              <c:ext xmlns:c16="http://schemas.microsoft.com/office/drawing/2014/chart" uri="{C3380CC4-5D6E-409C-BE32-E72D297353CC}">
                <c16:uniqueId val="{00000005-AB4B-4146-8276-11AA1F81A7C8}"/>
              </c:ext>
            </c:extLst>
          </c:dPt>
          <c:dPt>
            <c:idx val="3"/>
            <c:bubble3D val="0"/>
            <c:spPr>
              <a:solidFill>
                <a:schemeClr val="accent2"/>
              </a:solidFill>
              <a:ln w="19050">
                <a:solidFill>
                  <a:schemeClr val="lt1"/>
                </a:solidFill>
              </a:ln>
              <a:effectLst/>
            </c:spPr>
            <c:extLst>
              <c:ext xmlns:c16="http://schemas.microsoft.com/office/drawing/2014/chart" uri="{C3380CC4-5D6E-409C-BE32-E72D297353CC}">
                <c16:uniqueId val="{00000007-AB4B-4146-8276-11AA1F81A7C8}"/>
              </c:ext>
            </c:extLst>
          </c:dPt>
          <c:dPt>
            <c:idx val="4"/>
            <c:bubble3D val="0"/>
            <c:spPr>
              <a:solidFill>
                <a:schemeClr val="accent1"/>
              </a:solidFill>
              <a:ln w="19050">
                <a:solidFill>
                  <a:schemeClr val="lt1"/>
                </a:solidFill>
              </a:ln>
              <a:effectLst/>
            </c:spPr>
            <c:extLst>
              <c:ext xmlns:c16="http://schemas.microsoft.com/office/drawing/2014/chart" uri="{C3380CC4-5D6E-409C-BE32-E72D297353CC}">
                <c16:uniqueId val="{00000009-AB4B-4146-8276-11AA1F81A7C8}"/>
              </c:ext>
            </c:extLst>
          </c:dPt>
          <c:dPt>
            <c:idx val="5"/>
            <c:bubble3D val="0"/>
            <c:spPr>
              <a:solidFill>
                <a:schemeClr val="accent2"/>
              </a:solidFill>
              <a:ln w="19050">
                <a:solidFill>
                  <a:schemeClr val="lt1"/>
                </a:solidFill>
              </a:ln>
              <a:effectLst/>
            </c:spPr>
            <c:extLst>
              <c:ext xmlns:c16="http://schemas.microsoft.com/office/drawing/2014/chart" uri="{C3380CC4-5D6E-409C-BE32-E72D297353CC}">
                <c16:uniqueId val="{0000000B-AB4B-4146-8276-11AA1F81A7C8}"/>
              </c:ext>
            </c:extLst>
          </c:dPt>
          <c:dPt>
            <c:idx val="6"/>
            <c:bubble3D val="0"/>
            <c:spPr>
              <a:solidFill>
                <a:schemeClr val="accent2"/>
              </a:solidFill>
              <a:ln w="19050">
                <a:solidFill>
                  <a:schemeClr val="lt1"/>
                </a:solidFill>
              </a:ln>
              <a:effectLst/>
            </c:spPr>
            <c:extLst>
              <c:ext xmlns:c16="http://schemas.microsoft.com/office/drawing/2014/chart" uri="{C3380CC4-5D6E-409C-BE32-E72D297353CC}">
                <c16:uniqueId val="{0000000D-AB4B-4146-8276-11AA1F81A7C8}"/>
              </c:ext>
            </c:extLst>
          </c:dPt>
          <c:dPt>
            <c:idx val="7"/>
            <c:bubble3D val="0"/>
            <c:spPr>
              <a:solidFill>
                <a:schemeClr val="accent2"/>
              </a:solidFill>
              <a:ln w="19050">
                <a:solidFill>
                  <a:schemeClr val="lt1"/>
                </a:solidFill>
              </a:ln>
              <a:effectLst/>
            </c:spPr>
            <c:extLst>
              <c:ext xmlns:c16="http://schemas.microsoft.com/office/drawing/2014/chart" uri="{C3380CC4-5D6E-409C-BE32-E72D297353CC}">
                <c16:uniqueId val="{0000000F-AB4B-4146-8276-11AA1F81A7C8}"/>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'[Chart in Microsoft PowerPoint]Media Mix Chart'!$B$45:$B$52</c:f>
              <c:strCache>
                <c:ptCount val="8"/>
                <c:pt idx="0">
                  <c:v>Concepting</c:v>
                </c:pt>
                <c:pt idx="1">
                  <c:v>Briefing - Simplified</c:v>
                </c:pt>
                <c:pt idx="2">
                  <c:v>Creative Input</c:v>
                </c:pt>
                <c:pt idx="3">
                  <c:v>WYSIWIG Development</c:v>
                </c:pt>
                <c:pt idx="4">
                  <c:v>QA Link Alignmnet</c:v>
                </c:pt>
                <c:pt idx="5">
                  <c:v>Test Launch + Monitoring</c:v>
                </c:pt>
                <c:pt idx="6">
                  <c:v>Analysis</c:v>
                </c:pt>
                <c:pt idx="7">
                  <c:v>Maintaining Winning Experiences</c:v>
                </c:pt>
              </c:strCache>
            </c:strRef>
          </c:cat>
          <c:val>
            <c:numRef>
              <c:f>'[Chart in Microsoft PowerPoint]Media Mix Chart'!$D$45:$D$52</c:f>
              <c:numCache>
                <c:formatCode>0%</c:formatCode>
                <c:ptCount val="8"/>
                <c:pt idx="0">
                  <c:v>5.4054054054054057E-2</c:v>
                </c:pt>
                <c:pt idx="1">
                  <c:v>5.4054054054054057E-2</c:v>
                </c:pt>
                <c:pt idx="2">
                  <c:v>0.21621621621621623</c:v>
                </c:pt>
                <c:pt idx="3">
                  <c:v>0.21621621621621623</c:v>
                </c:pt>
                <c:pt idx="4">
                  <c:v>0.10810810810810811</c:v>
                </c:pt>
                <c:pt idx="5">
                  <c:v>8.1081081081081086E-2</c:v>
                </c:pt>
                <c:pt idx="6">
                  <c:v>0.13513513513513514</c:v>
                </c:pt>
                <c:pt idx="7">
                  <c:v>0.13513513513513514</c:v>
                </c:pt>
              </c:numCache>
            </c:numRef>
          </c:val>
          <c:extLst>
            <c:ext xmlns:c16="http://schemas.microsoft.com/office/drawing/2014/chart" uri="{C3380CC4-5D6E-409C-BE32-E72D297353CC}">
              <c16:uniqueId val="{00000010-AB4B-4146-8276-11AA1F81A7C8}"/>
            </c:ext>
          </c:extLst>
        </c:ser>
        <c:dLbls>
          <c:showLegendKey val="0"/>
          <c:showVal val="0"/>
          <c:showCatName val="0"/>
          <c:showSerName val="0"/>
          <c:showPercent val="0"/>
          <c:showBubbleSize val="0"/>
          <c:showLeaderLines val="1"/>
        </c:dLbls>
        <c:firstSliceAng val="0"/>
        <c:holeSize val="50"/>
      </c:doughnutChart>
      <c:spPr>
        <a:noFill/>
        <a:ln w="25400">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0988675220378329"/>
          <c:y val="3.8946277338248479E-2"/>
          <c:w val="0.79676924846545572"/>
          <c:h val="0.96105372266175149"/>
        </c:manualLayout>
      </c:layout>
      <c:doughnutChart>
        <c:varyColors val="1"/>
        <c:ser>
          <c:idx val="0"/>
          <c:order val="0"/>
          <c:dPt>
            <c:idx val="0"/>
            <c:bubble3D val="0"/>
            <c:spPr>
              <a:solidFill>
                <a:schemeClr val="accent1"/>
              </a:solidFill>
              <a:ln w="19050">
                <a:solidFill>
                  <a:schemeClr val="lt1"/>
                </a:solidFill>
              </a:ln>
              <a:effectLst/>
            </c:spPr>
            <c:extLst>
              <c:ext xmlns:c16="http://schemas.microsoft.com/office/drawing/2014/chart" uri="{C3380CC4-5D6E-409C-BE32-E72D297353CC}">
                <c16:uniqueId val="{00000001-A913-473B-991E-DC8A24BBFAB1}"/>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A913-473B-991E-DC8A24BBFAB1}"/>
              </c:ext>
            </c:extLst>
          </c:dPt>
          <c:dPt>
            <c:idx val="2"/>
            <c:bubble3D val="0"/>
            <c:spPr>
              <a:solidFill>
                <a:schemeClr val="bg2">
                  <a:lumMod val="75000"/>
                </a:schemeClr>
              </a:solidFill>
              <a:ln w="19050">
                <a:solidFill>
                  <a:schemeClr val="lt1"/>
                </a:solidFill>
              </a:ln>
              <a:effectLst/>
            </c:spPr>
            <c:extLst>
              <c:ext xmlns:c16="http://schemas.microsoft.com/office/drawing/2014/chart" uri="{C3380CC4-5D6E-409C-BE32-E72D297353CC}">
                <c16:uniqueId val="{00000005-A913-473B-991E-DC8A24BBFAB1}"/>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A913-473B-991E-DC8A24BBFAB1}"/>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A913-473B-991E-DC8A24BBFAB1}"/>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0B-A913-473B-991E-DC8A24BBFAB1}"/>
              </c:ext>
            </c:extLst>
          </c:dPt>
          <c:dPt>
            <c:idx val="6"/>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00D-A913-473B-991E-DC8A24BBFAB1}"/>
              </c:ext>
            </c:extLst>
          </c:dPt>
          <c:dPt>
            <c:idx val="7"/>
            <c:bubble3D val="0"/>
            <c:spPr>
              <a:solidFill>
                <a:schemeClr val="accent2">
                  <a:lumMod val="60000"/>
                </a:schemeClr>
              </a:solidFill>
              <a:ln w="19050">
                <a:solidFill>
                  <a:schemeClr val="lt1"/>
                </a:solidFill>
              </a:ln>
              <a:effectLst/>
            </c:spPr>
            <c:extLst>
              <c:ext xmlns:c16="http://schemas.microsoft.com/office/drawing/2014/chart" uri="{C3380CC4-5D6E-409C-BE32-E72D297353CC}">
                <c16:uniqueId val="{0000000F-A913-473B-991E-DC8A24BBFAB1}"/>
              </c:ext>
            </c:extLst>
          </c:dPt>
          <c:dPt>
            <c:idx val="8"/>
            <c:bubble3D val="0"/>
            <c:spPr>
              <a:solidFill>
                <a:schemeClr val="accent3">
                  <a:lumMod val="60000"/>
                </a:schemeClr>
              </a:solidFill>
              <a:ln w="19050">
                <a:solidFill>
                  <a:schemeClr val="lt1"/>
                </a:solidFill>
              </a:ln>
              <a:effectLst/>
            </c:spPr>
            <c:extLst>
              <c:ext xmlns:c16="http://schemas.microsoft.com/office/drawing/2014/chart" uri="{C3380CC4-5D6E-409C-BE32-E72D297353CC}">
                <c16:uniqueId val="{00000011-A913-473B-991E-DC8A24BBFAB1}"/>
              </c:ext>
            </c:extLst>
          </c:dPt>
          <c:dPt>
            <c:idx val="9"/>
            <c:bubble3D val="0"/>
            <c:spPr>
              <a:solidFill>
                <a:schemeClr val="accent4">
                  <a:lumMod val="60000"/>
                </a:schemeClr>
              </a:solidFill>
              <a:ln w="19050">
                <a:solidFill>
                  <a:schemeClr val="lt1"/>
                </a:solidFill>
              </a:ln>
              <a:effectLst/>
            </c:spPr>
            <c:extLst>
              <c:ext xmlns:c16="http://schemas.microsoft.com/office/drawing/2014/chart" uri="{C3380CC4-5D6E-409C-BE32-E72D297353CC}">
                <c16:uniqueId val="{00000013-A913-473B-991E-DC8A24BBFAB1}"/>
              </c:ext>
            </c:extLst>
          </c:dPt>
          <c:dLbls>
            <c:dLbl>
              <c:idx val="0"/>
              <c:layout>
                <c:manualLayout>
                  <c:x val="0.12707297283124985"/>
                  <c:y val="-0.10352200258545986"/>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1-A913-473B-991E-DC8A24BBFAB1}"/>
                </c:ext>
              </c:extLst>
            </c:dLbl>
            <c:dLbl>
              <c:idx val="1"/>
              <c:layout>
                <c:manualLayout>
                  <c:x val="0.13177937923240735"/>
                  <c:y val="-9.2991617208428259E-2"/>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3-A913-473B-991E-DC8A24BBFAB1}"/>
                </c:ext>
              </c:extLst>
            </c:dLbl>
            <c:dLbl>
              <c:idx val="2"/>
              <c:layout>
                <c:manualLayout>
                  <c:x val="-2.269136405924958E-2"/>
                  <c:y val="9.4085183982450124E-2"/>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Poppins SemiBold" pitchFamily="2" charset="77"/>
                      <a:ea typeface="+mn-ea"/>
                      <a:cs typeface="Poppins SemiBold" pitchFamily="2" charset="77"/>
                    </a:defRPr>
                  </a:pPr>
                  <a:endParaRPr lang="en-US"/>
                </a:p>
              </c:txPr>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5-A913-473B-991E-DC8A24BBFAB1}"/>
                </c:ext>
              </c:extLst>
            </c:dLbl>
            <c:dLbl>
              <c:idx val="3"/>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Poppins SemiBold" pitchFamily="2" charset="77"/>
                      <a:ea typeface="+mn-ea"/>
                      <a:cs typeface="Poppins SemiBold" pitchFamily="2" charset="77"/>
                    </a:defRPr>
                  </a:pPr>
                  <a:endParaRPr lang="en-US"/>
                </a:p>
              </c:txPr>
              <c:showLegendKey val="0"/>
              <c:showVal val="1"/>
              <c:showCatName val="1"/>
              <c:showSerName val="0"/>
              <c:showPercent val="0"/>
              <c:showBubbleSize val="0"/>
              <c:extLst>
                <c:ext xmlns:c16="http://schemas.microsoft.com/office/drawing/2014/chart" uri="{C3380CC4-5D6E-409C-BE32-E72D297353CC}">
                  <c16:uniqueId val="{00000007-A913-473B-991E-DC8A24BBFAB1}"/>
                </c:ext>
              </c:extLst>
            </c:dLbl>
            <c:dLbl>
              <c:idx val="4"/>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Poppins SemiBold" pitchFamily="2" charset="77"/>
                      <a:ea typeface="+mn-ea"/>
                      <a:cs typeface="Poppins SemiBold" pitchFamily="2" charset="77"/>
                    </a:defRPr>
                  </a:pPr>
                  <a:endParaRPr lang="en-US"/>
                </a:p>
              </c:txPr>
              <c:showLegendKey val="0"/>
              <c:showVal val="1"/>
              <c:showCatName val="1"/>
              <c:showSerName val="0"/>
              <c:showPercent val="0"/>
              <c:showBubbleSize val="0"/>
              <c:extLst>
                <c:ext xmlns:c16="http://schemas.microsoft.com/office/drawing/2014/chart" uri="{C3380CC4-5D6E-409C-BE32-E72D297353CC}">
                  <c16:uniqueId val="{00000009-A913-473B-991E-DC8A24BBFAB1}"/>
                </c:ext>
              </c:extLst>
            </c:dLbl>
            <c:dLbl>
              <c:idx val="5"/>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Poppins SemiBold" pitchFamily="2" charset="77"/>
                      <a:ea typeface="+mn-ea"/>
                      <a:cs typeface="Poppins SemiBold" pitchFamily="2" charset="77"/>
                    </a:defRPr>
                  </a:pPr>
                  <a:endParaRPr lang="en-US"/>
                </a:p>
              </c:txPr>
              <c:showLegendKey val="0"/>
              <c:showVal val="1"/>
              <c:showCatName val="1"/>
              <c:showSerName val="0"/>
              <c:showPercent val="0"/>
              <c:showBubbleSize val="0"/>
              <c:extLst>
                <c:ext xmlns:c16="http://schemas.microsoft.com/office/drawing/2014/chart" uri="{C3380CC4-5D6E-409C-BE32-E72D297353CC}">
                  <c16:uniqueId val="{0000000B-A913-473B-991E-DC8A24BBFAB1}"/>
                </c:ext>
              </c:extLst>
            </c:dLbl>
            <c:dLbl>
              <c:idx val="6"/>
              <c:layout>
                <c:manualLayout>
                  <c:x val="-3.6083869644401349E-2"/>
                  <c:y val="-1.360661397385764E-2"/>
                </c:manualLayout>
              </c:layout>
              <c:spPr>
                <a:noFill/>
                <a:ln>
                  <a:noFill/>
                </a:ln>
                <a:effectLst/>
              </c:spPr>
              <c:txPr>
                <a:bodyPr rot="1620000" spcFirstLastPara="1" vertOverflow="ellipsis" wrap="square" lIns="38100" tIns="19050" rIns="38100" bIns="19050" anchor="ctr" anchorCtr="1">
                  <a:spAutoFit/>
                </a:bodyPr>
                <a:lstStyle/>
                <a:p>
                  <a:pPr>
                    <a:defRPr sz="1000" b="1" i="0" u="none" strike="noStrike" kern="1200" baseline="0">
                      <a:solidFill>
                        <a:schemeClr val="bg1"/>
                      </a:solidFill>
                      <a:latin typeface="Poppins SemiBold" pitchFamily="2" charset="77"/>
                      <a:ea typeface="+mn-ea"/>
                      <a:cs typeface="Poppins SemiBold" pitchFamily="2" charset="77"/>
                    </a:defRPr>
                  </a:pPr>
                  <a:endParaRPr lang="en-US"/>
                </a:p>
              </c:txPr>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D-A913-473B-991E-DC8A24BBFAB1}"/>
                </c:ext>
              </c:extLst>
            </c:dLbl>
            <c:dLbl>
              <c:idx val="7"/>
              <c:layout>
                <c:manualLayout>
                  <c:x val="-1.8099004632104475E-2"/>
                  <c:y val="-4.3828889566596828E-2"/>
                </c:manualLayout>
              </c:layout>
              <c:tx>
                <c:rich>
                  <a:bodyPr rot="0" spcFirstLastPara="1" vertOverflow="ellipsis" vert="horz" wrap="square" lIns="38100" tIns="19050" rIns="38100" bIns="19050" anchor="ctr" anchorCtr="1">
                    <a:noAutofit/>
                  </a:bodyPr>
                  <a:lstStyle/>
                  <a:p>
                    <a:pPr>
                      <a:defRPr sz="1000" b="1" i="0" u="none" strike="noStrike" kern="1200" baseline="0">
                        <a:solidFill>
                          <a:schemeClr val="bg1"/>
                        </a:solidFill>
                        <a:latin typeface="Poppins SemiBold" pitchFamily="2" charset="77"/>
                        <a:ea typeface="+mn-ea"/>
                        <a:cs typeface="Poppins SemiBold" pitchFamily="2" charset="77"/>
                      </a:defRPr>
                    </a:pPr>
                    <a:fld id="{FD44BA94-EA80-48CC-8BF7-B97A12B7E9EC}" type="CATEGORYNAME">
                      <a:rPr lang="en-US" smtClean="0">
                        <a:solidFill>
                          <a:schemeClr val="bg1"/>
                        </a:solidFill>
                      </a:rPr>
                      <a:pPr>
                        <a:defRPr sz="1000" b="1">
                          <a:solidFill>
                            <a:schemeClr val="bg1"/>
                          </a:solidFill>
                          <a:latin typeface="Poppins SemiBold" pitchFamily="2" charset="77"/>
                          <a:cs typeface="Poppins SemiBold" pitchFamily="2" charset="77"/>
                        </a:defRPr>
                      </a:pPr>
                      <a:t>[CATEGORY NAME]</a:t>
                    </a:fld>
                    <a:endParaRPr lang="en-US" baseline="0">
                      <a:solidFill>
                        <a:schemeClr val="bg1"/>
                      </a:solidFill>
                    </a:endParaRPr>
                  </a:p>
                  <a:p>
                    <a:pPr>
                      <a:defRPr sz="1000" b="1">
                        <a:solidFill>
                          <a:schemeClr val="bg1"/>
                        </a:solidFill>
                        <a:latin typeface="Poppins SemiBold" pitchFamily="2" charset="77"/>
                        <a:cs typeface="Poppins SemiBold" pitchFamily="2" charset="77"/>
                      </a:defRPr>
                    </a:pPr>
                    <a:fld id="{02DDC5ED-2583-47DF-AF7F-E24C79880F4B}" type="VALUE">
                      <a:rPr lang="en-US" baseline="0" smtClean="0">
                        <a:solidFill>
                          <a:schemeClr val="bg1"/>
                        </a:solidFill>
                      </a:rPr>
                      <a:pPr>
                        <a:defRPr sz="1000" b="1">
                          <a:solidFill>
                            <a:schemeClr val="bg1"/>
                          </a:solidFill>
                          <a:latin typeface="Poppins SemiBold" pitchFamily="2" charset="77"/>
                          <a:cs typeface="Poppins SemiBold" pitchFamily="2" charset="77"/>
                        </a:defRPr>
                      </a:pPr>
                      <a:t>[VALUE]</a:t>
                    </a:fld>
                    <a:endParaRPr lang="en-US"/>
                  </a:p>
                </c:rich>
              </c:tx>
              <c:spPr>
                <a:noFill/>
                <a:ln>
                  <a:noFill/>
                </a:ln>
                <a:effectLst/>
              </c:spPr>
              <c:txPr>
                <a:bodyPr rot="0" spcFirstLastPara="1" vertOverflow="ellipsis" vert="horz" wrap="square" lIns="38100" tIns="19050" rIns="38100" bIns="19050" anchor="ctr" anchorCtr="1">
                  <a:noAutofit/>
                </a:bodyPr>
                <a:lstStyle/>
                <a:p>
                  <a:pPr>
                    <a:defRPr sz="1000" b="1" i="0" u="none" strike="noStrike" kern="1200" baseline="0">
                      <a:solidFill>
                        <a:schemeClr val="bg1"/>
                      </a:solidFill>
                      <a:latin typeface="Poppins SemiBold" pitchFamily="2" charset="77"/>
                      <a:ea typeface="+mn-ea"/>
                      <a:cs typeface="Poppins SemiBold" pitchFamily="2" charset="77"/>
                    </a:defRPr>
                  </a:pPr>
                  <a:endParaRPr lang="en-US"/>
                </a:p>
              </c:txPr>
              <c:showLegendKey val="0"/>
              <c:showVal val="1"/>
              <c:showCatName val="1"/>
              <c:showSerName val="0"/>
              <c:showPercent val="0"/>
              <c:showBubbleSize val="0"/>
              <c:extLst>
                <c:ext xmlns:c15="http://schemas.microsoft.com/office/drawing/2012/chart" uri="{CE6537A1-D6FC-4f65-9D91-7224C49458BB}">
                  <c15:layout>
                    <c:manualLayout>
                      <c:w val="6.793697640070713E-2"/>
                      <c:h val="0.1046155693594818"/>
                    </c:manualLayout>
                  </c15:layout>
                  <c15:dlblFieldTable/>
                  <c15:showDataLabelsRange val="0"/>
                </c:ext>
                <c:ext xmlns:c16="http://schemas.microsoft.com/office/drawing/2014/chart" uri="{C3380CC4-5D6E-409C-BE32-E72D297353CC}">
                  <c16:uniqueId val="{0000000F-A913-473B-991E-DC8A24BBFAB1}"/>
                </c:ext>
              </c:extLst>
            </c:dLbl>
            <c:dLbl>
              <c:idx val="8"/>
              <c:layout>
                <c:manualLayout>
                  <c:x val="-9.3232428474203433E-2"/>
                  <c:y val="-0.12000019037653917"/>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11-A913-473B-991E-DC8A24BBFAB1}"/>
                </c:ext>
              </c:extLst>
            </c:dLbl>
            <c:dLbl>
              <c:idx val="9"/>
              <c:layout>
                <c:manualLayout>
                  <c:x val="2.437714695049871E-2"/>
                  <c:y val="-0.14211919841225967"/>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13-A913-473B-991E-DC8A24BBFAB1}"/>
                </c:ext>
              </c:extLst>
            </c:dLbl>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solidFill>
                    <a:latin typeface="Poppins SemiBold" pitchFamily="2" charset="77"/>
                    <a:ea typeface="+mn-ea"/>
                    <a:cs typeface="Poppins SemiBold" pitchFamily="2" charset="77"/>
                  </a:defRPr>
                </a:pPr>
                <a:endParaRPr lang="en-US"/>
              </a:p>
            </c:txPr>
            <c:showLegendKey val="0"/>
            <c:showVal val="1"/>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'Media Mix Chart'!$B$4:$B$13</c:f>
              <c:strCache>
                <c:ptCount val="10"/>
                <c:pt idx="0">
                  <c:v>Research</c:v>
                </c:pt>
                <c:pt idx="1">
                  <c:v>Alignment on Research</c:v>
                </c:pt>
                <c:pt idx="2">
                  <c:v>Concepting</c:v>
                </c:pt>
                <c:pt idx="3">
                  <c:v>Alignment on Concepting</c:v>
                </c:pt>
                <c:pt idx="4">
                  <c:v>Briefing</c:v>
                </c:pt>
                <c:pt idx="5">
                  <c:v>Alignment on Briefing</c:v>
                </c:pt>
                <c:pt idx="6">
                  <c:v>Internally Approved Design Delivery</c:v>
                </c:pt>
                <c:pt idx="7">
                  <c:v>Alignment on Design + Revisions</c:v>
                </c:pt>
                <c:pt idx="8">
                  <c:v>Compliance Alignment</c:v>
                </c:pt>
                <c:pt idx="9">
                  <c:v>Development</c:v>
                </c:pt>
              </c:strCache>
            </c:strRef>
          </c:cat>
          <c:val>
            <c:numRef>
              <c:f>'Media Mix Chart'!$D$4:$D$13</c:f>
              <c:numCache>
                <c:formatCode>0%</c:formatCode>
                <c:ptCount val="10"/>
                <c:pt idx="0">
                  <c:v>2.3809523809523808E-2</c:v>
                </c:pt>
                <c:pt idx="1">
                  <c:v>2.3809523809523808E-2</c:v>
                </c:pt>
                <c:pt idx="2">
                  <c:v>2.3809523809523808E-2</c:v>
                </c:pt>
                <c:pt idx="3">
                  <c:v>3.5714285714285712E-2</c:v>
                </c:pt>
                <c:pt idx="4">
                  <c:v>3.5714285714285712E-2</c:v>
                </c:pt>
                <c:pt idx="5">
                  <c:v>1.1904761904761904E-2</c:v>
                </c:pt>
                <c:pt idx="6">
                  <c:v>0.19047619047619047</c:v>
                </c:pt>
                <c:pt idx="7">
                  <c:v>0.2857142857142857</c:v>
                </c:pt>
                <c:pt idx="8">
                  <c:v>7.1428571428571425E-2</c:v>
                </c:pt>
                <c:pt idx="9">
                  <c:v>9.5238095238095233E-2</c:v>
                </c:pt>
              </c:numCache>
            </c:numRef>
          </c:val>
          <c:extLst>
            <c:ext xmlns:c16="http://schemas.microsoft.com/office/drawing/2014/chart" uri="{C3380CC4-5D6E-409C-BE32-E72D297353CC}">
              <c16:uniqueId val="{00000014-A913-473B-991E-DC8A24BBFAB1}"/>
            </c:ext>
          </c:extLst>
        </c:ser>
        <c:dLbls>
          <c:showLegendKey val="0"/>
          <c:showVal val="1"/>
          <c:showCatName val="0"/>
          <c:showSerName val="0"/>
          <c:showPercent val="0"/>
          <c:showBubbleSize val="0"/>
          <c:showLeaderLines val="1"/>
        </c:dLbls>
        <c:firstSliceAng val="0"/>
        <c:holeSize val="5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dPt>
            <c:idx val="0"/>
            <c:bubble3D val="0"/>
            <c:spPr>
              <a:solidFill>
                <a:schemeClr val="accent1"/>
              </a:solidFill>
              <a:ln w="19050">
                <a:solidFill>
                  <a:schemeClr val="lt1"/>
                </a:solidFill>
              </a:ln>
              <a:effectLst/>
            </c:spPr>
            <c:extLst>
              <c:ext xmlns:c16="http://schemas.microsoft.com/office/drawing/2014/chart" uri="{C3380CC4-5D6E-409C-BE32-E72D297353CC}">
                <c16:uniqueId val="{00000001-E5CB-4754-A548-D00B2253B007}"/>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E5CB-4754-A548-D00B2253B007}"/>
              </c:ext>
            </c:extLst>
          </c:dPt>
          <c:dLbls>
            <c:dLbl>
              <c:idx val="0"/>
              <c:tx>
                <c:rich>
                  <a:bodyPr/>
                  <a:lstStyle/>
                  <a:p>
                    <a:r>
                      <a:rPr lang="en-US"/>
                      <a:t>11%</a:t>
                    </a:r>
                    <a:endParaRPr lang="en-US" dirty="0"/>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E5CB-4754-A548-D00B2253B007}"/>
                </c:ext>
              </c:extLst>
            </c:dLbl>
            <c:dLbl>
              <c:idx val="1"/>
              <c:tx>
                <c:rich>
                  <a:bodyPr/>
                  <a:lstStyle/>
                  <a:p>
                    <a:r>
                      <a:rPr lang="en-US"/>
                      <a:t>89%</a:t>
                    </a:r>
                    <a:endParaRPr lang="en-US" dirty="0"/>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E5CB-4754-A548-D00B2253B007}"/>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'[Chart in Microsoft PowerPoint]Media Mix Chart'!$B$60:$B$61</c:f>
              <c:strCache>
                <c:ptCount val="2"/>
                <c:pt idx="0">
                  <c:v>Alignment Steps</c:v>
                </c:pt>
                <c:pt idx="1">
                  <c:v>Execution  Steps</c:v>
                </c:pt>
              </c:strCache>
            </c:strRef>
          </c:cat>
          <c:val>
            <c:numRef>
              <c:f>'[Chart in Microsoft PowerPoint]Media Mix Chart'!$D$60:$D$61</c:f>
              <c:numCache>
                <c:formatCode>0%</c:formatCode>
                <c:ptCount val="2"/>
                <c:pt idx="0">
                  <c:v>8.3333333333333329E-2</c:v>
                </c:pt>
                <c:pt idx="1">
                  <c:v>0.91666666666666663</c:v>
                </c:pt>
              </c:numCache>
            </c:numRef>
          </c:val>
          <c:extLst>
            <c:ext xmlns:c16="http://schemas.microsoft.com/office/drawing/2014/chart" uri="{C3380CC4-5D6E-409C-BE32-E72D297353CC}">
              <c16:uniqueId val="{00000004-E5CB-4754-A548-D00B2253B007}"/>
            </c:ext>
          </c:extLst>
        </c:ser>
        <c:dLbls>
          <c:showLegendKey val="0"/>
          <c:showVal val="0"/>
          <c:showCatName val="0"/>
          <c:showSerName val="0"/>
          <c:showPercent val="0"/>
          <c:showBubbleSize val="0"/>
          <c:showLeaderLines val="1"/>
        </c:dLbls>
        <c:firstSliceAng val="0"/>
        <c:holeSize val="50"/>
      </c:doughnutChart>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0988675220378329"/>
          <c:y val="3.8946277338248479E-2"/>
          <c:w val="0.79676924846545572"/>
          <c:h val="0.96105372266175149"/>
        </c:manualLayout>
      </c:layout>
      <c:doughnutChart>
        <c:varyColors val="1"/>
        <c:ser>
          <c:idx val="0"/>
          <c:order val="0"/>
          <c:dPt>
            <c:idx val="0"/>
            <c:bubble3D val="0"/>
            <c:spPr>
              <a:solidFill>
                <a:schemeClr val="accent1"/>
              </a:solidFill>
              <a:ln w="19050">
                <a:solidFill>
                  <a:schemeClr val="lt1"/>
                </a:solidFill>
              </a:ln>
              <a:effectLst/>
            </c:spPr>
            <c:extLst>
              <c:ext xmlns:c16="http://schemas.microsoft.com/office/drawing/2014/chart" uri="{C3380CC4-5D6E-409C-BE32-E72D297353CC}">
                <c16:uniqueId val="{00000001-66C8-8A46-A597-6A15FE693387}"/>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66C8-8A46-A597-6A15FE693387}"/>
              </c:ext>
            </c:extLst>
          </c:dPt>
          <c:dPt>
            <c:idx val="2"/>
            <c:bubble3D val="0"/>
            <c:spPr>
              <a:solidFill>
                <a:schemeClr val="bg2">
                  <a:lumMod val="75000"/>
                </a:schemeClr>
              </a:solidFill>
              <a:ln w="19050">
                <a:solidFill>
                  <a:schemeClr val="lt1"/>
                </a:solidFill>
              </a:ln>
              <a:effectLst/>
            </c:spPr>
            <c:extLst>
              <c:ext xmlns:c16="http://schemas.microsoft.com/office/drawing/2014/chart" uri="{C3380CC4-5D6E-409C-BE32-E72D297353CC}">
                <c16:uniqueId val="{00000005-66C8-8A46-A597-6A15FE693387}"/>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66C8-8A46-A597-6A15FE693387}"/>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66C8-8A46-A597-6A15FE693387}"/>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0B-66C8-8A46-A597-6A15FE693387}"/>
              </c:ext>
            </c:extLst>
          </c:dPt>
          <c:dPt>
            <c:idx val="6"/>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00D-66C8-8A46-A597-6A15FE693387}"/>
              </c:ext>
            </c:extLst>
          </c:dPt>
          <c:dPt>
            <c:idx val="7"/>
            <c:bubble3D val="0"/>
            <c:spPr>
              <a:solidFill>
                <a:schemeClr val="accent2">
                  <a:lumMod val="60000"/>
                </a:schemeClr>
              </a:solidFill>
              <a:ln w="19050">
                <a:solidFill>
                  <a:schemeClr val="lt1"/>
                </a:solidFill>
              </a:ln>
              <a:effectLst/>
            </c:spPr>
            <c:extLst>
              <c:ext xmlns:c16="http://schemas.microsoft.com/office/drawing/2014/chart" uri="{C3380CC4-5D6E-409C-BE32-E72D297353CC}">
                <c16:uniqueId val="{0000000F-66C8-8A46-A597-6A15FE693387}"/>
              </c:ext>
            </c:extLst>
          </c:dPt>
          <c:dPt>
            <c:idx val="8"/>
            <c:bubble3D val="0"/>
            <c:spPr>
              <a:solidFill>
                <a:schemeClr val="accent3">
                  <a:lumMod val="60000"/>
                </a:schemeClr>
              </a:solidFill>
              <a:ln w="19050">
                <a:solidFill>
                  <a:schemeClr val="lt1"/>
                </a:solidFill>
              </a:ln>
              <a:effectLst/>
            </c:spPr>
            <c:extLst>
              <c:ext xmlns:c16="http://schemas.microsoft.com/office/drawing/2014/chart" uri="{C3380CC4-5D6E-409C-BE32-E72D297353CC}">
                <c16:uniqueId val="{00000011-66C8-8A46-A597-6A15FE693387}"/>
              </c:ext>
            </c:extLst>
          </c:dPt>
          <c:dPt>
            <c:idx val="9"/>
            <c:bubble3D val="0"/>
            <c:spPr>
              <a:solidFill>
                <a:schemeClr val="accent4">
                  <a:lumMod val="60000"/>
                </a:schemeClr>
              </a:solidFill>
              <a:ln w="19050">
                <a:solidFill>
                  <a:schemeClr val="lt1"/>
                </a:solidFill>
              </a:ln>
              <a:effectLst/>
            </c:spPr>
            <c:extLst>
              <c:ext xmlns:c16="http://schemas.microsoft.com/office/drawing/2014/chart" uri="{C3380CC4-5D6E-409C-BE32-E72D297353CC}">
                <c16:uniqueId val="{00000013-66C8-8A46-A597-6A15FE693387}"/>
              </c:ext>
            </c:extLst>
          </c:dPt>
          <c:dLbls>
            <c:dLbl>
              <c:idx val="0"/>
              <c:layout>
                <c:manualLayout>
                  <c:x val="0.12707297283124985"/>
                  <c:y val="-0.10352200258545986"/>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1-66C8-8A46-A597-6A15FE693387}"/>
                </c:ext>
              </c:extLst>
            </c:dLbl>
            <c:dLbl>
              <c:idx val="1"/>
              <c:layout>
                <c:manualLayout>
                  <c:x val="0.13177937923240735"/>
                  <c:y val="-9.2991617208428259E-2"/>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3-66C8-8A46-A597-6A15FE693387}"/>
                </c:ext>
              </c:extLst>
            </c:dLbl>
            <c:dLbl>
              <c:idx val="2"/>
              <c:layout>
                <c:manualLayout>
                  <c:x val="-2.269136405924958E-2"/>
                  <c:y val="9.4085183982450124E-2"/>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Poppins SemiBold" pitchFamily="2" charset="77"/>
                      <a:ea typeface="+mn-ea"/>
                      <a:cs typeface="Poppins SemiBold" pitchFamily="2" charset="77"/>
                    </a:defRPr>
                  </a:pPr>
                  <a:endParaRPr lang="en-US"/>
                </a:p>
              </c:txPr>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5-66C8-8A46-A597-6A15FE693387}"/>
                </c:ext>
              </c:extLst>
            </c:dLbl>
            <c:dLbl>
              <c:idx val="3"/>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Poppins SemiBold" pitchFamily="2" charset="77"/>
                      <a:ea typeface="+mn-ea"/>
                      <a:cs typeface="Poppins SemiBold" pitchFamily="2" charset="77"/>
                    </a:defRPr>
                  </a:pPr>
                  <a:endParaRPr lang="en-US"/>
                </a:p>
              </c:txPr>
              <c:showLegendKey val="0"/>
              <c:showVal val="1"/>
              <c:showCatName val="1"/>
              <c:showSerName val="0"/>
              <c:showPercent val="0"/>
              <c:showBubbleSize val="0"/>
              <c:extLst>
                <c:ext xmlns:c16="http://schemas.microsoft.com/office/drawing/2014/chart" uri="{C3380CC4-5D6E-409C-BE32-E72D297353CC}">
                  <c16:uniqueId val="{00000007-66C8-8A46-A597-6A15FE693387}"/>
                </c:ext>
              </c:extLst>
            </c:dLbl>
            <c:dLbl>
              <c:idx val="4"/>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Poppins SemiBold" pitchFamily="2" charset="77"/>
                      <a:ea typeface="+mn-ea"/>
                      <a:cs typeface="Poppins SemiBold" pitchFamily="2" charset="77"/>
                    </a:defRPr>
                  </a:pPr>
                  <a:endParaRPr lang="en-US"/>
                </a:p>
              </c:txPr>
              <c:showLegendKey val="0"/>
              <c:showVal val="1"/>
              <c:showCatName val="1"/>
              <c:showSerName val="0"/>
              <c:showPercent val="0"/>
              <c:showBubbleSize val="0"/>
              <c:extLst>
                <c:ext xmlns:c16="http://schemas.microsoft.com/office/drawing/2014/chart" uri="{C3380CC4-5D6E-409C-BE32-E72D297353CC}">
                  <c16:uniqueId val="{00000009-66C8-8A46-A597-6A15FE693387}"/>
                </c:ext>
              </c:extLst>
            </c:dLbl>
            <c:dLbl>
              <c:idx val="5"/>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Poppins SemiBold" pitchFamily="2" charset="77"/>
                      <a:ea typeface="+mn-ea"/>
                      <a:cs typeface="Poppins SemiBold" pitchFamily="2" charset="77"/>
                    </a:defRPr>
                  </a:pPr>
                  <a:endParaRPr lang="en-US"/>
                </a:p>
              </c:txPr>
              <c:showLegendKey val="0"/>
              <c:showVal val="1"/>
              <c:showCatName val="1"/>
              <c:showSerName val="0"/>
              <c:showPercent val="0"/>
              <c:showBubbleSize val="0"/>
              <c:extLst>
                <c:ext xmlns:c16="http://schemas.microsoft.com/office/drawing/2014/chart" uri="{C3380CC4-5D6E-409C-BE32-E72D297353CC}">
                  <c16:uniqueId val="{0000000B-66C8-8A46-A597-6A15FE693387}"/>
                </c:ext>
              </c:extLst>
            </c:dLbl>
            <c:dLbl>
              <c:idx val="6"/>
              <c:layout>
                <c:manualLayout>
                  <c:x val="-3.6083869644401349E-2"/>
                  <c:y val="-1.360661397385764E-2"/>
                </c:manualLayout>
              </c:layout>
              <c:spPr>
                <a:noFill/>
                <a:ln>
                  <a:noFill/>
                </a:ln>
                <a:effectLst/>
              </c:spPr>
              <c:txPr>
                <a:bodyPr rot="1620000" spcFirstLastPara="1" vertOverflow="ellipsis" wrap="square" lIns="38100" tIns="19050" rIns="38100" bIns="19050" anchor="ctr" anchorCtr="1">
                  <a:spAutoFit/>
                </a:bodyPr>
                <a:lstStyle/>
                <a:p>
                  <a:pPr>
                    <a:defRPr sz="1000" b="1" i="0" u="none" strike="noStrike" kern="1200" baseline="0">
                      <a:solidFill>
                        <a:schemeClr val="bg1"/>
                      </a:solidFill>
                      <a:latin typeface="Poppins SemiBold" pitchFamily="2" charset="77"/>
                      <a:ea typeface="+mn-ea"/>
                      <a:cs typeface="Poppins SemiBold" pitchFamily="2" charset="77"/>
                    </a:defRPr>
                  </a:pPr>
                  <a:endParaRPr lang="en-US"/>
                </a:p>
              </c:txPr>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D-66C8-8A46-A597-6A15FE693387}"/>
                </c:ext>
              </c:extLst>
            </c:dLbl>
            <c:dLbl>
              <c:idx val="7"/>
              <c:layout>
                <c:manualLayout>
                  <c:x val="-1.8099004632104475E-2"/>
                  <c:y val="-4.3828889566596828E-2"/>
                </c:manualLayout>
              </c:layout>
              <c:tx>
                <c:rich>
                  <a:bodyPr rot="0" spcFirstLastPara="1" vertOverflow="ellipsis" vert="horz" wrap="square" lIns="38100" tIns="19050" rIns="38100" bIns="19050" anchor="ctr" anchorCtr="1">
                    <a:noAutofit/>
                  </a:bodyPr>
                  <a:lstStyle/>
                  <a:p>
                    <a:pPr>
                      <a:defRPr sz="1000" b="1" i="0" u="none" strike="noStrike" kern="1200" baseline="0">
                        <a:solidFill>
                          <a:schemeClr val="bg1"/>
                        </a:solidFill>
                        <a:latin typeface="Poppins SemiBold" pitchFamily="2" charset="77"/>
                        <a:ea typeface="+mn-ea"/>
                        <a:cs typeface="Poppins SemiBold" pitchFamily="2" charset="77"/>
                      </a:defRPr>
                    </a:pPr>
                    <a:fld id="{FD44BA94-EA80-48CC-8BF7-B97A12B7E9EC}" type="CATEGORYNAME">
                      <a:rPr lang="en-US" smtClean="0">
                        <a:solidFill>
                          <a:schemeClr val="bg1"/>
                        </a:solidFill>
                      </a:rPr>
                      <a:pPr>
                        <a:defRPr sz="1000" b="1">
                          <a:solidFill>
                            <a:schemeClr val="bg1"/>
                          </a:solidFill>
                          <a:latin typeface="Poppins SemiBold" pitchFamily="2" charset="77"/>
                          <a:cs typeface="Poppins SemiBold" pitchFamily="2" charset="77"/>
                        </a:defRPr>
                      </a:pPr>
                      <a:t>[CATEGORY NAME]</a:t>
                    </a:fld>
                    <a:endParaRPr lang="en-US" baseline="0">
                      <a:solidFill>
                        <a:schemeClr val="bg1"/>
                      </a:solidFill>
                    </a:endParaRPr>
                  </a:p>
                  <a:p>
                    <a:pPr>
                      <a:defRPr sz="1000" b="1">
                        <a:solidFill>
                          <a:schemeClr val="bg1"/>
                        </a:solidFill>
                        <a:latin typeface="Poppins SemiBold" pitchFamily="2" charset="77"/>
                        <a:cs typeface="Poppins SemiBold" pitchFamily="2" charset="77"/>
                      </a:defRPr>
                    </a:pPr>
                    <a:fld id="{02DDC5ED-2583-47DF-AF7F-E24C79880F4B}" type="VALUE">
                      <a:rPr lang="en-US" baseline="0" smtClean="0">
                        <a:solidFill>
                          <a:schemeClr val="bg1"/>
                        </a:solidFill>
                      </a:rPr>
                      <a:pPr>
                        <a:defRPr sz="1000" b="1">
                          <a:solidFill>
                            <a:schemeClr val="bg1"/>
                          </a:solidFill>
                          <a:latin typeface="Poppins SemiBold" pitchFamily="2" charset="77"/>
                          <a:cs typeface="Poppins SemiBold" pitchFamily="2" charset="77"/>
                        </a:defRPr>
                      </a:pPr>
                      <a:t>[VALUE]</a:t>
                    </a:fld>
                    <a:endParaRPr lang="en-US"/>
                  </a:p>
                </c:rich>
              </c:tx>
              <c:spPr>
                <a:noFill/>
                <a:ln>
                  <a:noFill/>
                </a:ln>
                <a:effectLst/>
              </c:spPr>
              <c:txPr>
                <a:bodyPr rot="0" spcFirstLastPara="1" vertOverflow="ellipsis" vert="horz" wrap="square" lIns="38100" tIns="19050" rIns="38100" bIns="19050" anchor="ctr" anchorCtr="1">
                  <a:noAutofit/>
                </a:bodyPr>
                <a:lstStyle/>
                <a:p>
                  <a:pPr>
                    <a:defRPr sz="1000" b="1" i="0" u="none" strike="noStrike" kern="1200" baseline="0">
                      <a:solidFill>
                        <a:schemeClr val="bg1"/>
                      </a:solidFill>
                      <a:latin typeface="Poppins SemiBold" pitchFamily="2" charset="77"/>
                      <a:ea typeface="+mn-ea"/>
                      <a:cs typeface="Poppins SemiBold" pitchFamily="2" charset="77"/>
                    </a:defRPr>
                  </a:pPr>
                  <a:endParaRPr lang="en-US"/>
                </a:p>
              </c:txPr>
              <c:showLegendKey val="0"/>
              <c:showVal val="1"/>
              <c:showCatName val="1"/>
              <c:showSerName val="0"/>
              <c:showPercent val="0"/>
              <c:showBubbleSize val="0"/>
              <c:extLst>
                <c:ext xmlns:c15="http://schemas.microsoft.com/office/drawing/2012/chart" uri="{CE6537A1-D6FC-4f65-9D91-7224C49458BB}">
                  <c15:layout>
                    <c:manualLayout>
                      <c:w val="6.793697640070713E-2"/>
                      <c:h val="0.1046155693594818"/>
                    </c:manualLayout>
                  </c15:layout>
                  <c15:dlblFieldTable/>
                  <c15:showDataLabelsRange val="0"/>
                </c:ext>
                <c:ext xmlns:c16="http://schemas.microsoft.com/office/drawing/2014/chart" uri="{C3380CC4-5D6E-409C-BE32-E72D297353CC}">
                  <c16:uniqueId val="{0000000F-66C8-8A46-A597-6A15FE693387}"/>
                </c:ext>
              </c:extLst>
            </c:dLbl>
            <c:dLbl>
              <c:idx val="8"/>
              <c:layout>
                <c:manualLayout>
                  <c:x val="-9.3232428474203433E-2"/>
                  <c:y val="-0.12000019037653917"/>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11-66C8-8A46-A597-6A15FE693387}"/>
                </c:ext>
              </c:extLst>
            </c:dLbl>
            <c:dLbl>
              <c:idx val="9"/>
              <c:layout>
                <c:manualLayout>
                  <c:x val="2.437714695049871E-2"/>
                  <c:y val="-0.14211919841225967"/>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13-66C8-8A46-A597-6A15FE693387}"/>
                </c:ext>
              </c:extLst>
            </c:dLbl>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solidFill>
                    <a:latin typeface="Poppins SemiBold" pitchFamily="2" charset="77"/>
                    <a:ea typeface="+mn-ea"/>
                    <a:cs typeface="Poppins SemiBold" pitchFamily="2" charset="77"/>
                  </a:defRPr>
                </a:pPr>
                <a:endParaRPr lang="en-US"/>
              </a:p>
            </c:txPr>
            <c:showLegendKey val="0"/>
            <c:showVal val="1"/>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'Media Mix Chart'!$B$4:$B$13</c:f>
              <c:strCache>
                <c:ptCount val="10"/>
                <c:pt idx="0">
                  <c:v>TV</c:v>
                </c:pt>
                <c:pt idx="1">
                  <c:v>CTV</c:v>
                </c:pt>
                <c:pt idx="2">
                  <c:v>MVPDs</c:v>
                </c:pt>
                <c:pt idx="3">
                  <c:v>Audio</c:v>
                </c:pt>
                <c:pt idx="4">
                  <c:v>Programmatic</c:v>
                </c:pt>
                <c:pt idx="5">
                  <c:v>Social</c:v>
                </c:pt>
                <c:pt idx="6">
                  <c:v>Digital</c:v>
                </c:pt>
                <c:pt idx="7">
                  <c:v>OOH </c:v>
                </c:pt>
                <c:pt idx="8">
                  <c:v>Search</c:v>
                </c:pt>
                <c:pt idx="9">
                  <c:v>Opportunitstic Fund</c:v>
                </c:pt>
              </c:strCache>
            </c:strRef>
          </c:cat>
          <c:val>
            <c:numRef>
              <c:f>'Media Mix Chart'!$D$4:$D$13</c:f>
              <c:numCache>
                <c:formatCode>0%</c:formatCode>
                <c:ptCount val="10"/>
                <c:pt idx="0">
                  <c:v>0.125</c:v>
                </c:pt>
                <c:pt idx="1">
                  <c:v>6.8750000000000006E-2</c:v>
                </c:pt>
                <c:pt idx="2">
                  <c:v>0.20958333333333334</c:v>
                </c:pt>
                <c:pt idx="3">
                  <c:v>2.0833333333333332E-2</c:v>
                </c:pt>
                <c:pt idx="4">
                  <c:v>0.20916666666666667</c:v>
                </c:pt>
                <c:pt idx="5">
                  <c:v>0.15</c:v>
                </c:pt>
                <c:pt idx="6">
                  <c:v>8.3333333333333329E-2</c:v>
                </c:pt>
                <c:pt idx="7">
                  <c:v>6.25E-2</c:v>
                </c:pt>
                <c:pt idx="8">
                  <c:v>2.9166666666666667E-2</c:v>
                </c:pt>
                <c:pt idx="9">
                  <c:v>4.1666666666666664E-2</c:v>
                </c:pt>
              </c:numCache>
            </c:numRef>
          </c:val>
          <c:extLst>
            <c:ext xmlns:c16="http://schemas.microsoft.com/office/drawing/2014/chart" uri="{C3380CC4-5D6E-409C-BE32-E72D297353CC}">
              <c16:uniqueId val="{00000014-66C8-8A46-A597-6A15FE693387}"/>
            </c:ext>
          </c:extLst>
        </c:ser>
        <c:dLbls>
          <c:showLegendKey val="0"/>
          <c:showVal val="1"/>
          <c:showCatName val="0"/>
          <c:showSerName val="0"/>
          <c:showPercent val="0"/>
          <c:showBubbleSize val="0"/>
          <c:showLeaderLines val="1"/>
        </c:dLbls>
        <c:firstSliceAng val="0"/>
        <c:holeSize val="5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omments/modernComment_7FFFE21A_DFCA2890.xml><?xml version="1.0" encoding="utf-8"?>
<p188:cmLst xmlns:a="http://schemas.openxmlformats.org/drawingml/2006/main" xmlns:r="http://schemas.openxmlformats.org/officeDocument/2006/relationships" xmlns:p188="http://schemas.microsoft.com/office/powerpoint/2018/8/main">
  <p188:cm id="{F5441085-B8E8-4B04-AF77-818336810BAE}" authorId="{6D9A9747-D274-8A81-B369-9B256C2FB221}" created="2025-11-10T19:23:48.359">
    <pc:sldMkLst xmlns:pc="http://schemas.microsoft.com/office/powerpoint/2013/main/command">
      <pc:docMk/>
      <pc:sldMk cId="3754567824" sldId="2147475994"/>
    </pc:sldMkLst>
    <p188:txBody>
      <a:bodyPr/>
      <a:lstStyle/>
      <a:p>
        <a:r>
          <a:rPr lang="en-US"/>
          <a:t>Put XS on roadmap without concepting</a:t>
        </a:r>
      </a:p>
    </p188:txBody>
  </p188:cm>
  <p188:cm id="{61AED2A1-F392-4133-AFD5-702A811E72C1}" authorId="{6D9A9747-D274-8A81-B369-9B256C2FB221}" created="2025-11-10T19:51:32.431">
    <pc:sldMkLst xmlns:pc="http://schemas.microsoft.com/office/powerpoint/2013/main/command">
      <pc:docMk/>
      <pc:sldMk cId="3754567824" sldId="2147475994"/>
    </pc:sldMkLst>
    <p188:txBody>
      <a:bodyPr/>
      <a:lstStyle/>
      <a:p>
        <a:r>
          <a:rPr lang="en-US"/>
          <a:t>Put them in the roadmap and let them know that we’re going to use a new process that’s lower lift</a:t>
        </a:r>
      </a:p>
    </p188:txBody>
  </p188:cm>
</p188:cmLst>
</file>

<file path=ppt/comments/modernComment_7FFFE21E_7E4A543D.xml><?xml version="1.0" encoding="utf-8"?>
<p188:cmLst xmlns:a="http://schemas.openxmlformats.org/drawingml/2006/main" xmlns:r="http://schemas.openxmlformats.org/officeDocument/2006/relationships" xmlns:p188="http://schemas.microsoft.com/office/powerpoint/2018/8/main">
  <p188:cm id="{5FA6E9AF-875E-40DA-AD42-19F881BCE227}" authorId="{6D9A9747-D274-8A81-B369-9B256C2FB221}" created="2025-11-10T19:33:58.801">
    <pc:sldMkLst xmlns:pc="http://schemas.microsoft.com/office/powerpoint/2013/main/command">
      <pc:docMk/>
      <pc:sldMk cId="2118800445" sldId="2147475998"/>
    </pc:sldMkLst>
    <p188:txBody>
      <a:bodyPr/>
      <a:lstStyle/>
      <a:p>
        <a:r>
          <a:rPr lang="en-US"/>
          <a:t>Use terms when talking process but don’t necessarily present slide</a:t>
        </a:r>
      </a:p>
    </p188:txBody>
  </p188:cm>
  <p188:cm id="{79176C56-3FE0-4200-B00D-0C69DDA04E9B}" authorId="{6D9A9747-D274-8A81-B369-9B256C2FB221}" created="2025-11-10T19:34:20.381">
    <pc:sldMkLst xmlns:pc="http://schemas.microsoft.com/office/powerpoint/2013/main/command">
      <pc:docMk/>
      <pc:sldMk cId="2118800445" sldId="2147475998"/>
    </pc:sldMkLst>
    <p188:txBody>
      <a:bodyPr/>
      <a:lstStyle/>
      <a:p>
        <a:r>
          <a:rPr lang="en-US"/>
          <a:t>Maybe more helpful for new client onboarding</a:t>
        </a:r>
      </a:p>
    </p188:txBody>
  </p188:cm>
</p188:cmLst>
</file>

<file path=ppt/comments/modernComment_7FFFE21F_3E970444.xml><?xml version="1.0" encoding="utf-8"?>
<p188:cmLst xmlns:a="http://schemas.openxmlformats.org/drawingml/2006/main" xmlns:r="http://schemas.openxmlformats.org/officeDocument/2006/relationships" xmlns:p188="http://schemas.microsoft.com/office/powerpoint/2018/8/main">
  <p188:cm id="{03F0B19B-3518-4B95-90BC-92840112918E}" authorId="{6D9A9747-D274-8A81-B369-9B256C2FB221}" created="2025-11-10T19:17:50.496">
    <pc:sldMkLst xmlns:pc="http://schemas.microsoft.com/office/powerpoint/2013/main/command">
      <pc:docMk/>
      <pc:sldMk cId="1050084420" sldId="2147475999"/>
    </pc:sldMkLst>
    <p188:txBody>
      <a:bodyPr/>
      <a:lstStyle/>
      <a:p>
        <a:r>
          <a:rPr lang="en-US"/>
          <a:t>Bring ideas to this conversation</a:t>
        </a:r>
      </a:p>
    </p188:txBody>
  </p188:cm>
  <p188:cm id="{B4261675-DE7F-47A3-AC86-29319F55D117}" authorId="{6D9A9747-D274-8A81-B369-9B256C2FB221}" created="2025-11-10T19:19:23.626">
    <pc:sldMkLst xmlns:pc="http://schemas.microsoft.com/office/powerpoint/2013/main/command">
      <pc:docMk/>
      <pc:sldMk cId="1050084420" sldId="2147475999"/>
    </pc:sldMkLst>
    <p188:txBody>
      <a:bodyPr/>
      <a:lstStyle/>
      <a:p>
        <a:r>
          <a:rPr lang="en-US"/>
          <a:t>Can we level-set during onboarding</a:t>
        </a:r>
      </a:p>
    </p188:txBody>
  </p188:cm>
  <p188:cm id="{4F5CC580-C3B6-4DEA-86C8-8FE0161110B1}" authorId="{6D9A9747-D274-8A81-B369-9B256C2FB221}" created="2025-11-10T19:21:42.889">
    <pc:sldMkLst xmlns:pc="http://schemas.microsoft.com/office/powerpoint/2013/main/command">
      <pc:docMk/>
      <pc:sldMk cId="1050084420" sldId="2147475999"/>
    </pc:sldMkLst>
    <p188:txBody>
      <a:bodyPr/>
      <a:lstStyle/>
      <a:p>
        <a:r>
          <a:rPr lang="en-US"/>
          <a:t>Still want to show these in the roadmap</a:t>
        </a:r>
      </a:p>
    </p188:txBody>
  </p188:cm>
</p188:cmLst>
</file>

<file path=ppt/comments/modernComment_7FFFE220_904AB267.xml><?xml version="1.0" encoding="utf-8"?>
<p188:cmLst xmlns:a="http://schemas.openxmlformats.org/drawingml/2006/main" xmlns:r="http://schemas.openxmlformats.org/officeDocument/2006/relationships" xmlns:p188="http://schemas.microsoft.com/office/powerpoint/2018/8/main">
  <p188:cm id="{C36B2C6F-3471-49DC-82F6-B11C8E33C73F}" authorId="{6D9A9747-D274-8A81-B369-9B256C2FB221}" created="2025-09-19T20:11:49.820">
    <ac:txMkLst xmlns:ac="http://schemas.microsoft.com/office/drawing/2013/main/command">
      <pc:docMk xmlns:pc="http://schemas.microsoft.com/office/powerpoint/2013/main/command"/>
      <pc:sldMk xmlns:pc="http://schemas.microsoft.com/office/powerpoint/2013/main/command" cId="2420814439" sldId="2147476000"/>
      <ac:graphicFrameMk id="2" creationId="{0C9E0FB6-B477-316F-6B64-05EF8FAEA08B}"/>
      <ac:tblMk/>
      <ac:tcMk rowId="2738900714" colId="3566654997"/>
      <ac:txMk cp="0" len="14">
        <ac:context len="15" hash="1245929648"/>
      </ac:txMk>
    </ac:txMkLst>
    <p188:pos x="8761962" y="1217174"/>
    <p188:txBody>
      <a:bodyPr/>
      <a:lstStyle/>
      <a:p>
        <a:r>
          <a:rPr lang="en-US"/>
          <a:t>Copy recommendations or providing imagery as needed</a:t>
        </a:r>
      </a:p>
    </p188:txBody>
  </p188:cm>
  <p188:cm id="{4BF6290D-AC49-488B-A89B-138544165745}" authorId="{6D9A9747-D274-8A81-B369-9B256C2FB221}" created="2025-11-10T19:37:05.219">
    <ac:deMkLst xmlns:ac="http://schemas.microsoft.com/office/drawing/2013/main/command">
      <pc:docMk xmlns:pc="http://schemas.microsoft.com/office/powerpoint/2013/main/command"/>
      <pc:sldMk xmlns:pc="http://schemas.microsoft.com/office/powerpoint/2013/main/command" cId="2420814439" sldId="2147476000"/>
      <ac:graphicFrameMk id="2" creationId="{0C9E0FB6-B477-316F-6B64-05EF8FAEA08B}"/>
    </ac:deMkLst>
    <p188:replyLst>
      <p188:reply id="{DA4BCAF5-985E-4B04-AD73-A028EADB60D9}" authorId="{6D9A9747-D274-8A81-B369-9B256C2FB221}" created="2025-11-10T19:37:10.886">
        <p188:txBody>
          <a:bodyPr/>
          <a:lstStyle/>
          <a:p>
            <a:r>
              <a:rPr lang="en-US"/>
              <a:t>Caitlin first</a:t>
            </a:r>
          </a:p>
        </p188:txBody>
      </p188:reply>
    </p188:replyLst>
    <p188:txBody>
      <a:bodyPr/>
      <a:lstStyle/>
      <a:p>
        <a:r>
          <a:rPr lang="en-US"/>
          <a:t>Bring this to creative for alignment</a:t>
        </a:r>
      </a:p>
    </p188:txBody>
  </p188:cm>
</p188:cmLst>
</file>

<file path=ppt/comments/modernComment_112_C5839777.xml><?xml version="1.0" encoding="utf-8"?>
<p188:cmLst xmlns:a="http://schemas.openxmlformats.org/drawingml/2006/main" xmlns:r="http://schemas.openxmlformats.org/officeDocument/2006/relationships" xmlns:p188="http://schemas.microsoft.com/office/powerpoint/2018/8/main">
  <p188:cm id="{37FF4C97-3BF8-4536-BCA6-B0BF0A6BC33B}" authorId="{6D9A9747-D274-8A81-B369-9B256C2FB221}" status="resolved" created="2025-11-21T15:43:34.003">
    <ac:deMkLst xmlns:ac="http://schemas.microsoft.com/office/drawing/2013/main/command">
      <pc:docMk xmlns:pc="http://schemas.microsoft.com/office/powerpoint/2013/main/command"/>
      <pc:sldMk xmlns:pc="http://schemas.microsoft.com/office/powerpoint/2013/main/command" cId="3313735543" sldId="274"/>
      <ac:graphicFrameMk id="3" creationId="{9734D930-6BBC-C75F-7F4A-7C4512C7B10B}"/>
    </ac:deMkLst>
    <p188:txBody>
      <a:bodyPr/>
      <a:lstStyle/>
      <a:p>
        <a:r>
          <a:rPr lang="en-US"/>
          <a:t>Make the table narrower</a:t>
        </a:r>
      </a:p>
    </p188:txBody>
  </p188:cm>
  <p188:cm id="{770800B2-4731-417A-B273-CDBFFD577181}" authorId="{6D9A9747-D274-8A81-B369-9B256C2FB221}" status="resolved" created="2025-11-21T15:44:25.957">
    <ac:deMkLst xmlns:ac="http://schemas.microsoft.com/office/drawing/2013/main/command">
      <pc:docMk xmlns:pc="http://schemas.microsoft.com/office/powerpoint/2013/main/command"/>
      <pc:sldMk xmlns:pc="http://schemas.microsoft.com/office/powerpoint/2013/main/command" cId="3313735543" sldId="274"/>
      <ac:grpSpMk id="31" creationId="{937266CE-BB7F-6D6F-EFD9-9514A335EB79}"/>
    </ac:deMkLst>
    <p188:txBody>
      <a:bodyPr/>
      <a:lstStyle/>
      <a:p>
        <a:r>
          <a:rPr lang="en-US"/>
          <a:t>Define KPIs</a:t>
        </a:r>
      </a:p>
    </p188:txBody>
  </p188:cm>
</p188:cmLst>
</file>

<file path=ppt/drawings/drawing1.xml><?xml version="1.0" encoding="utf-8"?>
<c:userShapes xmlns:c="http://schemas.openxmlformats.org/drawingml/2006/chart">
  <cdr:relSizeAnchor xmlns:cdr="http://schemas.openxmlformats.org/drawingml/2006/chartDrawing">
    <cdr:from>
      <cdr:x>0.35815</cdr:x>
      <cdr:y>0.7772</cdr:y>
    </cdr:from>
    <cdr:to>
      <cdr:x>0.54317</cdr:x>
      <cdr:y>1</cdr:y>
    </cdr:to>
    <cdr:sp macro="" textlink="">
      <cdr:nvSpPr>
        <cdr:cNvPr id="2" name="TextBox 1">
          <a:extLst xmlns:a="http://schemas.openxmlformats.org/drawingml/2006/main">
            <a:ext uri="{FF2B5EF4-FFF2-40B4-BE49-F238E27FC236}">
              <a16:creationId xmlns:a16="http://schemas.microsoft.com/office/drawing/2014/main" id="{225E72F1-32D8-6589-B1CE-6AE49318D3F3}"/>
            </a:ext>
          </a:extLst>
        </cdr:cNvPr>
        <cdr:cNvSpPr txBox="1"/>
      </cdr:nvSpPr>
      <cdr:spPr>
        <a:xfrm xmlns:a="http://schemas.openxmlformats.org/drawingml/2006/main">
          <a:off x="1769993" y="3189768"/>
          <a:ext cx="914400" cy="9144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US" sz="1100" kern="1200" dirty="0"/>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217712-D1C1-9043-A8A5-33738E201C1C}" type="datetimeFigureOut">
              <a:rPr lang="en-US" smtClean="0"/>
              <a:t>6/21/2026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F65DFE-2416-5948-B26E-1F80DB22C186}" type="slidenum">
              <a:rPr lang="en-US" smtClean="0"/>
              <a:t>‹#›</a:t>
            </a:fld>
            <a:endParaRPr lang="en-US"/>
          </a:p>
        </p:txBody>
      </p:sp>
    </p:spTree>
    <p:extLst>
      <p:ext uri="{BB962C8B-B14F-4D97-AF65-F5344CB8AC3E}">
        <p14:creationId xmlns:p14="http://schemas.microsoft.com/office/powerpoint/2010/main" val="2619898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59E9388-1C4D-4265-9FCE-9CDA698DEC9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467185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533EE-DFCB-A1F2-0055-1C81A42306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0745AF-1074-1335-B939-0CF3307A63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8AAAAA-C8C5-2ABF-A3C1-109A65A45D7A}"/>
              </a:ext>
            </a:extLst>
          </p:cNvPr>
          <p:cNvSpPr>
            <a:spLocks noGrp="1"/>
          </p:cNvSpPr>
          <p:nvPr>
            <p:ph type="body" idx="1"/>
          </p:nvPr>
        </p:nvSpPr>
        <p:spPr/>
        <p:txBody>
          <a:bodyPr/>
          <a:lstStyle/>
          <a:p>
            <a:r>
              <a:rPr lang="en-US" dirty="0"/>
              <a:t>And here’s a bit more on why we don’t do just high LOE tests</a:t>
            </a:r>
          </a:p>
          <a:p>
            <a:endParaRPr lang="en-US" dirty="0"/>
          </a:p>
          <a:p>
            <a:r>
              <a:rPr lang="en-US" dirty="0"/>
              <a:t>Because these kinds of tests are often more time consuming, we can run fewer of them … I know you know that … </a:t>
            </a:r>
          </a:p>
          <a:p>
            <a:endParaRPr lang="en-US" dirty="0"/>
          </a:p>
          <a:p>
            <a:r>
              <a:rPr lang="en-US" dirty="0"/>
              <a:t>But lack of tests has multiple downsides: </a:t>
            </a:r>
          </a:p>
          <a:p>
            <a:pPr marL="228600" indent="-228600">
              <a:buAutoNum type="arabicPeriod"/>
            </a:pPr>
            <a:r>
              <a:rPr lang="en-US" dirty="0"/>
              <a:t>It prevents a wholistic approach as we can only optimize in a few locations </a:t>
            </a:r>
          </a:p>
          <a:p>
            <a:pPr marL="228600" indent="-228600">
              <a:buAutoNum type="arabicPeriod"/>
            </a:pPr>
            <a:r>
              <a:rPr lang="en-US" dirty="0"/>
              <a:t>It creates ROI risk as a few bad tests in a row can ruin program metrics for the whole year</a:t>
            </a:r>
          </a:p>
          <a:p>
            <a:pPr marL="228600" indent="-228600">
              <a:buAutoNum type="arabicPeriod"/>
            </a:pPr>
            <a:r>
              <a:rPr lang="en-US" dirty="0"/>
              <a:t>It can even reduce impact potential </a:t>
            </a:r>
          </a:p>
          <a:p>
            <a:pPr marL="685800" lvl="1" indent="-228600">
              <a:buAutoNum type="arabicPeriod"/>
            </a:pPr>
            <a:r>
              <a:rPr lang="en-US" dirty="0"/>
              <a:t>While these large tests are individually higher lift most of the time, small and medium tests can make up for those deltas in the aggregate</a:t>
            </a:r>
          </a:p>
          <a:p>
            <a:pPr marL="685800" lvl="1" indent="-228600">
              <a:buAutoNum type="arabicPeriod"/>
            </a:pPr>
            <a:r>
              <a:rPr lang="en-US" dirty="0"/>
              <a:t>Big bets are often used to create new optimization paths – adding a substantially new element to the site – for us to then play with a bunch of small to medium changes that are also important </a:t>
            </a:r>
          </a:p>
          <a:p>
            <a:pPr marL="685800" lvl="1" indent="-228600">
              <a:buAutoNum type="arabicPeriod"/>
            </a:pPr>
            <a:endParaRPr lang="en-US" dirty="0"/>
          </a:p>
          <a:p>
            <a:pPr marL="0" lvl="0" indent="0">
              <a:buNone/>
            </a:pPr>
            <a:r>
              <a:rPr lang="en-US" dirty="0"/>
              <a:t>Now, I know you said this risk might not be unappealing to you .. That you might be comfortable with failing – and I guess my question to you is what kind of failures are you comfortable with? Are there program metrics we have to maintain? If yes, what levels do they have to be maintained?</a:t>
            </a:r>
          </a:p>
        </p:txBody>
      </p:sp>
      <p:sp>
        <p:nvSpPr>
          <p:cNvPr id="4" name="Slide Number Placeholder 3">
            <a:extLst>
              <a:ext uri="{FF2B5EF4-FFF2-40B4-BE49-F238E27FC236}">
                <a16:creationId xmlns:a16="http://schemas.microsoft.com/office/drawing/2014/main" id="{C62C196D-648A-DC49-A879-216B0207D1BC}"/>
              </a:ext>
            </a:extLst>
          </p:cNvPr>
          <p:cNvSpPr>
            <a:spLocks noGrp="1"/>
          </p:cNvSpPr>
          <p:nvPr>
            <p:ph type="sldNum" sz="quarter" idx="5"/>
          </p:nvPr>
        </p:nvSpPr>
        <p:spPr/>
        <p:txBody>
          <a:bodyPr/>
          <a:lstStyle/>
          <a:p>
            <a:fld id="{2403153F-EED8-4EF8-8765-69AE335376AF}" type="slidenum">
              <a:rPr lang="en-US" smtClean="0"/>
              <a:t>4</a:t>
            </a:fld>
            <a:endParaRPr lang="en-US"/>
          </a:p>
        </p:txBody>
      </p:sp>
    </p:spTree>
    <p:extLst>
      <p:ext uri="{BB962C8B-B14F-4D97-AF65-F5344CB8AC3E}">
        <p14:creationId xmlns:p14="http://schemas.microsoft.com/office/powerpoint/2010/main" val="10536111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9F65DFE-2416-5948-B26E-1F80DB22C186}" type="slidenum">
              <a:rPr lang="en-US" smtClean="0"/>
              <a:t>8</a:t>
            </a:fld>
            <a:endParaRPr lang="en-US"/>
          </a:p>
        </p:txBody>
      </p:sp>
    </p:spTree>
    <p:extLst>
      <p:ext uri="{BB962C8B-B14F-4D97-AF65-F5344CB8AC3E}">
        <p14:creationId xmlns:p14="http://schemas.microsoft.com/office/powerpoint/2010/main" val="31443380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A881B77-EAA7-4FAB-B3FE-B3C2FC90C318}" type="slidenum">
              <a:rPr lang="en-US" smtClean="0"/>
              <a:t>9</a:t>
            </a:fld>
            <a:endParaRPr lang="en-US"/>
          </a:p>
        </p:txBody>
      </p:sp>
    </p:spTree>
    <p:extLst>
      <p:ext uri="{BB962C8B-B14F-4D97-AF65-F5344CB8AC3E}">
        <p14:creationId xmlns:p14="http://schemas.microsoft.com/office/powerpoint/2010/main" val="34977632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F9A1D0-098A-7B07-4E2A-FAD9D31866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6D0E68-18EA-BB3B-9578-C3050292DC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67102A-4283-DEF3-5DFC-E87AC3360DF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24ADC53-DBE6-1287-EAE7-049AD36AD62A}"/>
              </a:ext>
            </a:extLst>
          </p:cNvPr>
          <p:cNvSpPr>
            <a:spLocks noGrp="1"/>
          </p:cNvSpPr>
          <p:nvPr>
            <p:ph type="sldNum" sz="quarter" idx="5"/>
          </p:nvPr>
        </p:nvSpPr>
        <p:spPr/>
        <p:txBody>
          <a:bodyPr/>
          <a:lstStyle/>
          <a:p>
            <a:fld id="{6A881B77-EAA7-4FAB-B3FE-B3C2FC90C318}" type="slidenum">
              <a:rPr lang="en-US" smtClean="0"/>
              <a:t>10</a:t>
            </a:fld>
            <a:endParaRPr lang="en-US"/>
          </a:p>
        </p:txBody>
      </p:sp>
    </p:spTree>
    <p:extLst>
      <p:ext uri="{BB962C8B-B14F-4D97-AF65-F5344CB8AC3E}">
        <p14:creationId xmlns:p14="http://schemas.microsoft.com/office/powerpoint/2010/main" val="22131603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73565C-435D-6C2D-6C14-C04F9859F6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8C5BBE-1367-57EE-9FFA-EDBB3C3805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33E754-2D8D-56BD-FA01-3ED64645B8E8}"/>
              </a:ext>
            </a:extLst>
          </p:cNvPr>
          <p:cNvSpPr>
            <a:spLocks noGrp="1"/>
          </p:cNvSpPr>
          <p:nvPr>
            <p:ph type="body" idx="1"/>
          </p:nvPr>
        </p:nvSpPr>
        <p:spPr/>
        <p:txBody>
          <a:bodyPr/>
          <a:lstStyle/>
          <a:p>
            <a:r>
              <a:rPr lang="en-US"/>
              <a:t>WILL</a:t>
            </a:r>
          </a:p>
          <a:p>
            <a:endParaRPr lang="en-US"/>
          </a:p>
          <a:p>
            <a:r>
              <a:rPr lang="en-US"/>
              <a:t>A more detailed scoring and sizing exercise will be shared as we put together the formal test pipeline</a:t>
            </a:r>
          </a:p>
          <a:p>
            <a:r>
              <a:rPr lang="en-US"/>
              <a:t>From a high level, we plotted the initiatives we just covered on this matrix</a:t>
            </a:r>
          </a:p>
          <a:p>
            <a:r>
              <a:rPr lang="en-US"/>
              <a:t>Key takeaways are:</a:t>
            </a:r>
          </a:p>
          <a:p>
            <a:pPr marL="171450" indent="-171450">
              <a:buFont typeface="Arial" panose="020B0604020202020204" pitchFamily="34" charset="0"/>
              <a:buChar char="•"/>
            </a:pPr>
            <a:r>
              <a:rPr lang="en-US"/>
              <a:t>Net new pages and content are going to make the biggest impact</a:t>
            </a:r>
          </a:p>
          <a:p>
            <a:pPr marL="171450" indent="-171450">
              <a:buFont typeface="Arial" panose="020B0604020202020204" pitchFamily="34" charset="0"/>
              <a:buChar char="•"/>
            </a:pPr>
            <a:r>
              <a:rPr lang="en-US"/>
              <a:t>Not just limited to new pages, which Devry is working on in tandem </a:t>
            </a:r>
          </a:p>
          <a:p>
            <a:pPr marL="171450" indent="-171450">
              <a:buFont typeface="Arial" panose="020B0604020202020204" pitchFamily="34" charset="0"/>
              <a:buChar char="•"/>
            </a:pPr>
            <a:r>
              <a:rPr lang="en-US"/>
              <a:t>But ensuring key trust signals are present on all pages could relatively low effort and high impact</a:t>
            </a:r>
          </a:p>
          <a:p>
            <a:pPr marL="171450" indent="-171450">
              <a:buFont typeface="Arial" panose="020B0604020202020204" pitchFamily="34" charset="0"/>
              <a:buChar char="•"/>
            </a:pPr>
            <a:r>
              <a:rPr lang="en-US"/>
              <a:t>Same goes for the on-page UX items – adding searchable selections &amp; pre-filled form values</a:t>
            </a:r>
          </a:p>
          <a:p>
            <a:pPr marL="171450" indent="-171450">
              <a:buFont typeface="Arial" panose="020B0604020202020204" pitchFamily="34" charset="0"/>
              <a:buChar char="•"/>
            </a:pPr>
            <a:r>
              <a:rPr lang="en-US"/>
              <a:t>Ideally, we’d be getting started on those pieces and parallel pathing the redirects</a:t>
            </a:r>
          </a:p>
          <a:p>
            <a:pPr marL="171450" indent="-171450">
              <a:buFont typeface="Arial" panose="020B0604020202020204" pitchFamily="34" charset="0"/>
              <a:buChar char="•"/>
            </a:pPr>
            <a:r>
              <a:rPr lang="en-US"/>
              <a:t>Get as many tests live in Wave 1 as possible, then begin a full strategic audit to help ID additional new content landing pages – amongst other LPO opportunities</a:t>
            </a:r>
          </a:p>
        </p:txBody>
      </p:sp>
      <p:sp>
        <p:nvSpPr>
          <p:cNvPr id="4" name="Slide Number Placeholder 3">
            <a:extLst>
              <a:ext uri="{FF2B5EF4-FFF2-40B4-BE49-F238E27FC236}">
                <a16:creationId xmlns:a16="http://schemas.microsoft.com/office/drawing/2014/main" id="{C65F2EF4-8982-FA10-9ABB-64400928FD7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23D5AC3-0692-43E0-830C-53BE24BB7542}" type="slidenum">
              <a:rPr kumimoji="0" lang="en-US" sz="1200" b="0" i="0" u="none" strike="noStrike" kern="1200" cap="none" spc="0" normalizeH="0" baseline="0" noProof="0" smtClean="0">
                <a:ln>
                  <a:noFill/>
                </a:ln>
                <a:solidFill>
                  <a:prstClr val="black"/>
                </a:solidFill>
                <a:effectLst/>
                <a:uLnTx/>
                <a:uFillTx/>
                <a:latin typeface="Poppins"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Poppins" panose="00000500000000000000" pitchFamily="2" charset="0"/>
              <a:ea typeface="+mn-ea"/>
              <a:cs typeface="+mn-cs"/>
            </a:endParaRPr>
          </a:p>
        </p:txBody>
      </p:sp>
    </p:spTree>
    <p:extLst>
      <p:ext uri="{BB962C8B-B14F-4D97-AF65-F5344CB8AC3E}">
        <p14:creationId xmlns:p14="http://schemas.microsoft.com/office/powerpoint/2010/main" val="4412627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7A5319-0580-FC15-7ADB-421D8AA55E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E6F265-ECE9-DCAE-4F1E-68A31DBCA7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4F8880-C4DF-87CA-C6B2-447B9F8E1B49}"/>
              </a:ext>
            </a:extLst>
          </p:cNvPr>
          <p:cNvSpPr>
            <a:spLocks noGrp="1"/>
          </p:cNvSpPr>
          <p:nvPr>
            <p:ph type="body" idx="1"/>
          </p:nvPr>
        </p:nvSpPr>
        <p:spPr/>
        <p:txBody>
          <a:bodyPr/>
          <a:lstStyle/>
          <a:p>
            <a:r>
              <a:rPr lang="en-US"/>
              <a:t>WILL</a:t>
            </a:r>
          </a:p>
          <a:p>
            <a:endParaRPr lang="en-US"/>
          </a:p>
          <a:p>
            <a:r>
              <a:rPr lang="en-US"/>
              <a:t>This slide outlines the full strategic audit we’re proposing to really understand the behavioral signals behind inquiry.</a:t>
            </a:r>
          </a:p>
          <a:p>
            <a:pPr marL="171450" indent="-171450">
              <a:buFont typeface="Arial" panose="020B0604020202020204" pitchFamily="34" charset="0"/>
              <a:buChar char="•"/>
            </a:pPr>
            <a:r>
              <a:rPr lang="en-US"/>
              <a:t>First, on the </a:t>
            </a:r>
            <a:r>
              <a:rPr lang="en-US" b="1"/>
              <a:t>Who</a:t>
            </a:r>
            <a:r>
              <a:rPr lang="en-US"/>
              <a:t>, we’ll map high-propensity student segments by looking at broader education-industry trends and where demand is growing across areas of study and degree types.</a:t>
            </a:r>
          </a:p>
          <a:p>
            <a:pPr marL="171450" indent="-171450">
              <a:buFont typeface="Arial" panose="020B0604020202020204" pitchFamily="34" charset="0"/>
              <a:buChar char="•"/>
            </a:pPr>
            <a:r>
              <a:rPr lang="en-US"/>
              <a:t>On the </a:t>
            </a:r>
            <a:r>
              <a:rPr lang="en-US" b="1"/>
              <a:t>What</a:t>
            </a:r>
            <a:r>
              <a:rPr lang="en-US"/>
              <a:t>, we’ll dig into competitor offerings to see which programs, credentials, and messages are driving engagement in the market, and where DeVry can differentiate.</a:t>
            </a:r>
          </a:p>
          <a:p>
            <a:pPr marL="171450" indent="-171450">
              <a:buFont typeface="Arial" panose="020B0604020202020204" pitchFamily="34" charset="0"/>
              <a:buChar char="•"/>
            </a:pPr>
            <a:r>
              <a:rPr lang="en-US"/>
              <a:t>For </a:t>
            </a:r>
            <a:r>
              <a:rPr lang="en-US" b="1"/>
              <a:t>Where</a:t>
            </a:r>
            <a:r>
              <a:rPr lang="en-US"/>
              <a:t>, we’ll use site analytics to pinpoint the markets, pages, and pathways where prospects most often convert or fall off, so we know which experiences to protect and which to fix.</a:t>
            </a:r>
          </a:p>
          <a:p>
            <a:pPr marL="171450" indent="-171450">
              <a:buFont typeface="Arial" panose="020B0604020202020204" pitchFamily="34" charset="0"/>
              <a:buChar char="•"/>
            </a:pPr>
            <a:r>
              <a:rPr lang="en-US"/>
              <a:t>On </a:t>
            </a:r>
            <a:r>
              <a:rPr lang="en-US" b="1"/>
              <a:t>When</a:t>
            </a:r>
            <a:r>
              <a:rPr lang="en-US"/>
              <a:t>, we’ll deep-dive timing and journey stage with segmented KPI data to identify the moments when the right content or offer has the highest chance to convert.</a:t>
            </a:r>
          </a:p>
          <a:p>
            <a:pPr marL="171450" indent="-171450">
              <a:buFont typeface="Arial" panose="020B0604020202020204" pitchFamily="34" charset="0"/>
              <a:buChar char="•"/>
            </a:pPr>
            <a:r>
              <a:rPr lang="en-US"/>
              <a:t>Finally, the </a:t>
            </a:r>
            <a:r>
              <a:rPr lang="en-US" b="1"/>
              <a:t>Why</a:t>
            </a:r>
            <a:r>
              <a:rPr lang="en-US"/>
              <a:t> ties it all together: we’ll synthesize available surveys and on-site behavior to uncover the real pain points and reasons people do or don’t inquire.</a:t>
            </a:r>
          </a:p>
        </p:txBody>
      </p:sp>
    </p:spTree>
    <p:extLst>
      <p:ext uri="{BB962C8B-B14F-4D97-AF65-F5344CB8AC3E}">
        <p14:creationId xmlns:p14="http://schemas.microsoft.com/office/powerpoint/2010/main" val="39012959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C0E7D7-7501-781A-AE1B-E29124778F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EE5009-5919-CD11-CDC1-E74E8C6E25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81FDA9-6B23-D14B-6DD4-72AB1F5D0860}"/>
              </a:ext>
            </a:extLst>
          </p:cNvPr>
          <p:cNvSpPr>
            <a:spLocks noGrp="1"/>
          </p:cNvSpPr>
          <p:nvPr>
            <p:ph type="body" idx="1"/>
          </p:nvPr>
        </p:nvSpPr>
        <p:spPr/>
        <p:txBody>
          <a:bodyPr/>
          <a:lstStyle/>
          <a:p>
            <a:r>
              <a:rPr lang="en-US"/>
              <a:t>WILL</a:t>
            </a:r>
          </a:p>
          <a:p>
            <a:endParaRPr lang="en-US"/>
          </a:p>
          <a:p>
            <a:r>
              <a:rPr lang="en-US"/>
              <a:t>First, we prioritize ideas with an ICE framework. We’ve moved the acronym around a little, but it’s impact, ease, confidence. </a:t>
            </a:r>
          </a:p>
          <a:p>
            <a:endParaRPr lang="en-US"/>
          </a:p>
          <a:p>
            <a:r>
              <a:rPr lang="en-US"/>
              <a:t>We can dive into what goes into each of those if you want, but if not, we can also just move on</a:t>
            </a:r>
          </a:p>
        </p:txBody>
      </p:sp>
      <p:sp>
        <p:nvSpPr>
          <p:cNvPr id="4" name="Slide Number Placeholder 3">
            <a:extLst>
              <a:ext uri="{FF2B5EF4-FFF2-40B4-BE49-F238E27FC236}">
                <a16:creationId xmlns:a16="http://schemas.microsoft.com/office/drawing/2014/main" id="{5D44D031-8FC3-9375-698E-22B0AA4164C6}"/>
              </a:ext>
            </a:extLst>
          </p:cNvPr>
          <p:cNvSpPr>
            <a:spLocks noGrp="1"/>
          </p:cNvSpPr>
          <p:nvPr>
            <p:ph type="sldNum" sz="quarter" idx="5"/>
          </p:nvPr>
        </p:nvSpPr>
        <p:spPr/>
        <p:txBody>
          <a:bodyPr/>
          <a:lstStyle/>
          <a:p>
            <a:pPr marL="0" marR="0" lvl="0" indent="0" algn="r" defTabSz="932309" rtl="0" eaLnBrk="1" fontAlgn="auto" latinLnBrk="0" hangingPunct="1">
              <a:lnSpc>
                <a:spcPct val="100000"/>
              </a:lnSpc>
              <a:spcBef>
                <a:spcPts val="0"/>
              </a:spcBef>
              <a:spcAft>
                <a:spcPts val="0"/>
              </a:spcAft>
              <a:buClrTx/>
              <a:buSzTx/>
              <a:buFontTx/>
              <a:buNone/>
              <a:tabLst/>
              <a:defRPr/>
            </a:pPr>
            <a:fld id="{26095562-CE4F-284A-A189-43C7B1EC1394}"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32309"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355503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513A4E-B8CC-E6C1-ADC2-FC641DB3EB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76A8B4-A54E-A8CF-2D33-0C35778DEF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C51529-33D0-58AF-21B7-180F6730F3DC}"/>
              </a:ext>
            </a:extLst>
          </p:cNvPr>
          <p:cNvSpPr>
            <a:spLocks noGrp="1"/>
          </p:cNvSpPr>
          <p:nvPr>
            <p:ph type="body" idx="1"/>
          </p:nvPr>
        </p:nvSpPr>
        <p:spPr/>
        <p:txBody>
          <a:bodyPr/>
          <a:lstStyle/>
          <a:p>
            <a:r>
              <a:rPr lang="en-US"/>
              <a:t>WILL</a:t>
            </a:r>
          </a:p>
          <a:p>
            <a:endParaRPr lang="en-US"/>
          </a:p>
          <a:p>
            <a:r>
              <a:rPr lang="en-US"/>
              <a:t>And we also want to make sure that we’re always optimizing toward the most relevant KPI. Obviously, most of our testing will focus on V2I, especially on the get started pages, but we wanted to let you know that we can also test on the thank you or success page and optimize toward a variety of metrics there but our proposals today will focus strictly on get started</a:t>
            </a:r>
          </a:p>
          <a:p>
            <a:endParaRPr lang="en-US"/>
          </a:p>
        </p:txBody>
      </p:sp>
      <p:sp>
        <p:nvSpPr>
          <p:cNvPr id="4" name="Slide Number Placeholder 3">
            <a:extLst>
              <a:ext uri="{FF2B5EF4-FFF2-40B4-BE49-F238E27FC236}">
                <a16:creationId xmlns:a16="http://schemas.microsoft.com/office/drawing/2014/main" id="{558FD8DE-7C38-921F-8B4B-30BFC873FC0D}"/>
              </a:ext>
            </a:extLst>
          </p:cNvPr>
          <p:cNvSpPr>
            <a:spLocks noGrp="1"/>
          </p:cNvSpPr>
          <p:nvPr>
            <p:ph type="sldNum" sz="quarter" idx="5"/>
          </p:nvPr>
        </p:nvSpPr>
        <p:spPr/>
        <p:txBody>
          <a:bodyPr/>
          <a:lstStyle/>
          <a:p>
            <a:fld id="{79E8C9DC-3570-B044-85FD-E1991A5346D2}" type="slidenum">
              <a:rPr lang="en-US" smtClean="0"/>
              <a:t>18</a:t>
            </a:fld>
            <a:endParaRPr lang="en-US"/>
          </a:p>
        </p:txBody>
      </p:sp>
    </p:spTree>
    <p:extLst>
      <p:ext uri="{BB962C8B-B14F-4D97-AF65-F5344CB8AC3E}">
        <p14:creationId xmlns:p14="http://schemas.microsoft.com/office/powerpoint/2010/main" val="22004321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CA1E18-0C7A-6FF7-A9D4-2710B1B233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44F583-C0D4-9B4E-4947-A963454518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F45B08-70B6-A236-6897-650BEA1EB2E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2B6051A-B123-328E-7676-D594C9C9FB20}"/>
              </a:ext>
            </a:extLst>
          </p:cNvPr>
          <p:cNvSpPr>
            <a:spLocks noGrp="1"/>
          </p:cNvSpPr>
          <p:nvPr>
            <p:ph type="sldNum" sz="quarter" idx="5"/>
          </p:nvPr>
        </p:nvSpPr>
        <p:spPr/>
        <p:txBody>
          <a:bodyPr/>
          <a:lstStyle/>
          <a:p>
            <a:pPr marL="0" marR="0" lvl="0" indent="0" algn="r" defTabSz="966612" rtl="0" eaLnBrk="1" fontAlgn="auto" latinLnBrk="0" hangingPunct="1">
              <a:lnSpc>
                <a:spcPct val="100000"/>
              </a:lnSpc>
              <a:spcBef>
                <a:spcPts val="0"/>
              </a:spcBef>
              <a:spcAft>
                <a:spcPts val="0"/>
              </a:spcAft>
              <a:buClrTx/>
              <a:buSzTx/>
              <a:buFontTx/>
              <a:buNone/>
              <a:tabLst/>
              <a:defRPr/>
            </a:pPr>
            <a:fld id="{AD6F3FBA-F922-44D1-AD41-B08BD5F0260E}" type="slidenum">
              <a:rPr kumimoji="0" lang="en-US" sz="1200" b="0" i="0" u="none" strike="noStrike" kern="1200" cap="none" spc="0" normalizeH="0" baseline="0" noProof="0">
                <a:ln>
                  <a:noFill/>
                </a:ln>
                <a:solidFill>
                  <a:prstClr val="black"/>
                </a:solidFill>
                <a:effectLst/>
                <a:uLnTx/>
                <a:uFillTx/>
                <a:latin typeface="Poppins" panose="00000500000000000000" pitchFamily="2" charset="0"/>
                <a:ea typeface="+mn-ea"/>
                <a:cs typeface="+mn-cs"/>
              </a:rPr>
              <a:pPr marL="0" marR="0" lvl="0" indent="0" algn="r" defTabSz="966612"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Poppins" panose="00000500000000000000" pitchFamily="2" charset="0"/>
              <a:ea typeface="+mn-ea"/>
              <a:cs typeface="+mn-cs"/>
            </a:endParaRPr>
          </a:p>
        </p:txBody>
      </p:sp>
    </p:spTree>
    <p:extLst>
      <p:ext uri="{BB962C8B-B14F-4D97-AF65-F5344CB8AC3E}">
        <p14:creationId xmlns:p14="http://schemas.microsoft.com/office/powerpoint/2010/main" val="11092119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9E77DD-C22B-69B0-71CC-14B60A2C0C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4108B2-19E2-BA62-B6BB-1ACB60A659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860710-EA84-309D-2595-66EB3A86C21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E71152B-3FCB-6E47-C7EB-21DCCE940EBF}"/>
              </a:ext>
            </a:extLst>
          </p:cNvPr>
          <p:cNvSpPr>
            <a:spLocks noGrp="1"/>
          </p:cNvSpPr>
          <p:nvPr>
            <p:ph type="sldNum" sz="quarter" idx="5"/>
          </p:nvPr>
        </p:nvSpPr>
        <p:spPr/>
        <p:txBody>
          <a:bodyPr/>
          <a:lstStyle/>
          <a:p>
            <a:fld id="{6A881B77-EAA7-4FAB-B3FE-B3C2FC90C318}" type="slidenum">
              <a:rPr lang="en-US" smtClean="0"/>
              <a:t>21</a:t>
            </a:fld>
            <a:endParaRPr lang="en-US"/>
          </a:p>
        </p:txBody>
      </p:sp>
    </p:spTree>
    <p:extLst>
      <p:ext uri="{BB962C8B-B14F-4D97-AF65-F5344CB8AC3E}">
        <p14:creationId xmlns:p14="http://schemas.microsoft.com/office/powerpoint/2010/main" val="5913992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A881B77-EAA7-4FAB-B3FE-B3C2FC90C318}" type="slidenum">
              <a:rPr lang="en-US" smtClean="0"/>
              <a:t>22</a:t>
            </a:fld>
            <a:endParaRPr lang="en-US"/>
          </a:p>
        </p:txBody>
      </p:sp>
    </p:spTree>
    <p:extLst>
      <p:ext uri="{BB962C8B-B14F-4D97-AF65-F5344CB8AC3E}">
        <p14:creationId xmlns:p14="http://schemas.microsoft.com/office/powerpoint/2010/main" val="37196436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A881B77-EAA7-4FAB-B3FE-B3C2FC90C318}" type="slidenum">
              <a:rPr lang="en-US" smtClean="0"/>
              <a:t>23</a:t>
            </a:fld>
            <a:endParaRPr lang="en-US"/>
          </a:p>
        </p:txBody>
      </p:sp>
    </p:spTree>
    <p:extLst>
      <p:ext uri="{BB962C8B-B14F-4D97-AF65-F5344CB8AC3E}">
        <p14:creationId xmlns:p14="http://schemas.microsoft.com/office/powerpoint/2010/main" val="223414648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p:bg>
      <p:bgPr>
        <a:solidFill>
          <a:schemeClr val="tx2"/>
        </a:solidFill>
        <a:effectLst/>
      </p:bgPr>
    </p:bg>
    <p:spTree>
      <p:nvGrpSpPr>
        <p:cNvPr id="1" name=""/>
        <p:cNvGrpSpPr/>
        <p:nvPr/>
      </p:nvGrpSpPr>
      <p:grpSpPr>
        <a:xfrm>
          <a:off x="0" y="0"/>
          <a:ext cx="0" cy="0"/>
          <a:chOff x="0" y="0"/>
          <a:chExt cx="0" cy="0"/>
        </a:xfrm>
      </p:grpSpPr>
      <p:sp>
        <p:nvSpPr>
          <p:cNvPr id="2" name="Rectangle: Rounded Corners 4">
            <a:extLst>
              <a:ext uri="{FF2B5EF4-FFF2-40B4-BE49-F238E27FC236}">
                <a16:creationId xmlns:a16="http://schemas.microsoft.com/office/drawing/2014/main" id="{246C5C55-C1FC-0DE2-E212-ADA0B0B06EEE}"/>
              </a:ext>
            </a:extLst>
          </p:cNvPr>
          <p:cNvSpPr/>
          <p:nvPr userDrawn="1"/>
        </p:nvSpPr>
        <p:spPr>
          <a:xfrm>
            <a:off x="794658" y="673102"/>
            <a:ext cx="10602687" cy="5511799"/>
          </a:xfrm>
          <a:prstGeom prst="roundRect">
            <a:avLst>
              <a:gd name="adj" fmla="val 4617"/>
            </a:avLst>
          </a:prstGeom>
          <a:noFill/>
          <a:ln w="25400">
            <a:solidFill>
              <a:schemeClr val="bg1"/>
            </a:solidFill>
          </a:ln>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377" rtl="0" eaLnBrk="1" fontAlgn="auto" latinLnBrk="0" hangingPunct="1">
              <a:lnSpc>
                <a:spcPct val="125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Poppins SemiBold" pitchFamily="2" charset="77"/>
                <a:ea typeface="+mn-ea"/>
                <a:cs typeface="+mn-cs"/>
              </a:rPr>
              <a:t> </a:t>
            </a:r>
          </a:p>
        </p:txBody>
      </p:sp>
      <p:sp>
        <p:nvSpPr>
          <p:cNvPr id="4" name="Rectangle 3">
            <a:extLst>
              <a:ext uri="{FF2B5EF4-FFF2-40B4-BE49-F238E27FC236}">
                <a16:creationId xmlns:a16="http://schemas.microsoft.com/office/drawing/2014/main" id="{C7EA668C-0B6B-A302-511D-67E3697B45FE}"/>
              </a:ext>
            </a:extLst>
          </p:cNvPr>
          <p:cNvSpPr/>
          <p:nvPr userDrawn="1"/>
        </p:nvSpPr>
        <p:spPr>
          <a:xfrm>
            <a:off x="4655890" y="5904074"/>
            <a:ext cx="2852257" cy="561652"/>
          </a:xfrm>
          <a:prstGeom prst="rect">
            <a:avLst/>
          </a:prstGeom>
          <a:gradFill>
            <a:gsLst>
              <a:gs pos="75000">
                <a:srgbClr val="040E32"/>
              </a:gs>
              <a:gs pos="25000">
                <a:srgbClr val="040E32"/>
              </a:gs>
              <a:gs pos="0">
                <a:schemeClr val="tx2">
                  <a:alpha val="0"/>
                </a:schemeClr>
              </a:gs>
              <a:gs pos="100000">
                <a:schemeClr val="tx2">
                  <a:alpha val="0"/>
                </a:schemeClr>
              </a:gs>
            </a:gsLst>
            <a:lin ang="0" scaled="0"/>
          </a:gra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US" sz="1400" err="1"/>
          </a:p>
        </p:txBody>
      </p:sp>
      <p:pic>
        <p:nvPicPr>
          <p:cNvPr id="8" name="Picture 7" descr="A black and white logo&#10;&#10;AI-generated content may be incorrect.">
            <a:extLst>
              <a:ext uri="{FF2B5EF4-FFF2-40B4-BE49-F238E27FC236}">
                <a16:creationId xmlns:a16="http://schemas.microsoft.com/office/drawing/2014/main" id="{86B327DA-FE2C-77AE-6693-73A7C7B3423E}"/>
              </a:ext>
            </a:extLst>
          </p:cNvPr>
          <p:cNvPicPr>
            <a:picLocks noChangeAspect="1"/>
          </p:cNvPicPr>
          <p:nvPr userDrawn="1"/>
        </p:nvPicPr>
        <p:blipFill>
          <a:blip r:embed="rId2"/>
          <a:stretch>
            <a:fillRect/>
          </a:stretch>
        </p:blipFill>
        <p:spPr>
          <a:xfrm>
            <a:off x="5497497" y="5997238"/>
            <a:ext cx="1197005" cy="375319"/>
          </a:xfrm>
          <a:prstGeom prst="rect">
            <a:avLst/>
          </a:prstGeom>
        </p:spPr>
      </p:pic>
    </p:spTree>
    <p:extLst>
      <p:ext uri="{BB962C8B-B14F-4D97-AF65-F5344CB8AC3E}">
        <p14:creationId xmlns:p14="http://schemas.microsoft.com/office/powerpoint/2010/main" val="25166130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2" name="Title 1"/>
          <p:cNvSpPr>
            <a:spLocks noGrp="1"/>
          </p:cNvSpPr>
          <p:nvPr>
            <p:ph type="title"/>
          </p:nvPr>
        </p:nvSpPr>
        <p:spPr>
          <a:xfrm>
            <a:off x="838200" y="700406"/>
            <a:ext cx="10515600" cy="547842"/>
          </a:xfrm>
        </p:spPr>
        <p:txBody>
          <a:bodyPr/>
          <a:lstStyle>
            <a:lvl1pPr algn="l">
              <a:lnSpc>
                <a:spcPct val="90000"/>
              </a:lnSpc>
              <a:defRPr/>
            </a:lvl1pPr>
          </a:lstStyle>
          <a:p>
            <a:r>
              <a:rPr lang="en-US"/>
              <a:t>Click to edit Master title style</a:t>
            </a:r>
          </a:p>
        </p:txBody>
      </p:sp>
    </p:spTree>
    <p:extLst>
      <p:ext uri="{BB962C8B-B14F-4D97-AF65-F5344CB8AC3E}">
        <p14:creationId xmlns:p14="http://schemas.microsoft.com/office/powerpoint/2010/main" val="20022162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23736001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D75988A-D49E-4ED7-8E09-7163D8B64319}" type="datetimeFigureOut">
              <a:rPr lang="en-US" smtClean="0"/>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8413BB-4EF1-466A-8A8C-145564296F4C}" type="slidenum">
              <a:rPr lang="en-US" smtClean="0"/>
              <a:t>‹#›</a:t>
            </a:fld>
            <a:endParaRPr lang="en-US"/>
          </a:p>
        </p:txBody>
      </p:sp>
    </p:spTree>
    <p:extLst>
      <p:ext uri="{BB962C8B-B14F-4D97-AF65-F5344CB8AC3E}">
        <p14:creationId xmlns:p14="http://schemas.microsoft.com/office/powerpoint/2010/main" val="21473117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Use this templat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757979"/>
            <a:ext cx="10515600" cy="614142"/>
          </a:xfrm>
          <a:prstGeom prst="rect">
            <a:avLst/>
          </a:prstGeom>
        </p:spPr>
        <p:txBody>
          <a:bodyPr wrap="square">
            <a:spAutoFit/>
          </a:bodyPr>
          <a:lstStyle>
            <a:lvl1pPr>
              <a:lnSpc>
                <a:spcPct val="90000"/>
              </a:lnSpc>
              <a:defRPr sz="3733" b="1" i="0">
                <a:solidFill>
                  <a:schemeClr val="accent4"/>
                </a:solidFill>
                <a:latin typeface="Poppins" pitchFamily="2" charset="77"/>
                <a:cs typeface="Poppins" pitchFamily="2" charset="77"/>
              </a:defRPr>
            </a:lvl1pPr>
          </a:lstStyle>
          <a:p>
            <a:r>
              <a:rPr lang="en-US"/>
              <a:t>Click to edit master title style</a:t>
            </a:r>
          </a:p>
        </p:txBody>
      </p:sp>
    </p:spTree>
    <p:extLst>
      <p:ext uri="{BB962C8B-B14F-4D97-AF65-F5344CB8AC3E}">
        <p14:creationId xmlns:p14="http://schemas.microsoft.com/office/powerpoint/2010/main" val="2405933339"/>
      </p:ext>
    </p:extLst>
  </p:cSld>
  <p:clrMapOvr>
    <a:masterClrMapping/>
  </p:clrMapOvr>
  <p:extLst>
    <p:ext uri="{DCECCB84-F9BA-43D5-87BE-67443E8EF086}">
      <p15:sldGuideLst xmlns:p15="http://schemas.microsoft.com/office/powerpoint/2012/main">
        <p15:guide id="1" orient="horz" pos="2880">
          <p15:clr>
            <a:srgbClr val="FBAE40"/>
          </p15:clr>
        </p15:guide>
        <p15:guide id="2" pos="512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cSld name="3_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665692"/>
            <a:ext cx="10515600" cy="561975"/>
          </a:xfrm>
        </p:spPr>
        <p:txBody>
          <a:bodyPr anchor="t">
            <a:noAutofit/>
          </a:bodyPr>
          <a:lstStyle>
            <a:lvl1pPr marL="0" algn="ctr" defTabSz="914400" rtl="0" eaLnBrk="1" latinLnBrk="0" hangingPunct="1">
              <a:lnSpc>
                <a:spcPct val="100000"/>
              </a:lnSpc>
              <a:spcBef>
                <a:spcPct val="0"/>
              </a:spcBef>
              <a:buNone/>
              <a:defRPr lang="en-US" sz="2600" b="1" i="0" kern="1200" dirty="0">
                <a:solidFill>
                  <a:schemeClr val="tx1"/>
                </a:solidFill>
                <a:latin typeface="Gotham Black" pitchFamily="2" charset="0"/>
                <a:ea typeface="+mj-ea"/>
                <a:cs typeface="+mj-cs"/>
              </a:defRPr>
            </a:lvl1pPr>
          </a:lstStyle>
          <a:p>
            <a:r>
              <a:rPr lang="en-US"/>
              <a:t>CLICK TO EDIT MASTER TITLE STYLE</a:t>
            </a:r>
          </a:p>
        </p:txBody>
      </p:sp>
    </p:spTree>
    <p:extLst>
      <p:ext uri="{BB962C8B-B14F-4D97-AF65-F5344CB8AC3E}">
        <p14:creationId xmlns:p14="http://schemas.microsoft.com/office/powerpoint/2010/main" val="39875115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Main Master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811319"/>
            <a:ext cx="10515600" cy="490904"/>
          </a:xfrm>
          <a:prstGeom prst="rect">
            <a:avLst/>
          </a:prstGeom>
        </p:spPr>
        <p:txBody>
          <a:bodyPr>
            <a:spAutoFit/>
          </a:bodyPr>
          <a:lstStyle>
            <a:lvl1pPr>
              <a:defRPr b="1" i="0">
                <a:solidFill>
                  <a:schemeClr val="accent2"/>
                </a:solidFill>
                <a:latin typeface="Poppins SemiBold" pitchFamily="2" charset="77"/>
                <a:cs typeface="Poppins SemiBold" pitchFamily="2" charset="77"/>
              </a:defRPr>
            </a:lvl1pPr>
          </a:lstStyle>
          <a:p>
            <a:r>
              <a:rPr lang="en-US"/>
              <a:t>Click to edit master title style</a:t>
            </a:r>
          </a:p>
        </p:txBody>
      </p:sp>
    </p:spTree>
    <p:extLst>
      <p:ext uri="{BB962C8B-B14F-4D97-AF65-F5344CB8AC3E}">
        <p14:creationId xmlns:p14="http://schemas.microsoft.com/office/powerpoint/2010/main" val="395216881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4-Sections">
    <p:spTree>
      <p:nvGrpSpPr>
        <p:cNvPr id="1" name=""/>
        <p:cNvGrpSpPr/>
        <p:nvPr/>
      </p:nvGrpSpPr>
      <p:grpSpPr>
        <a:xfrm>
          <a:off x="0" y="0"/>
          <a:ext cx="0" cy="0"/>
          <a:chOff x="0" y="0"/>
          <a:chExt cx="0" cy="0"/>
        </a:xfrm>
      </p:grpSpPr>
      <p:sp>
        <p:nvSpPr>
          <p:cNvPr id="2" name="Title 1"/>
          <p:cNvSpPr>
            <a:spLocks noGrp="1"/>
          </p:cNvSpPr>
          <p:nvPr>
            <p:ph type="title"/>
          </p:nvPr>
        </p:nvSpPr>
        <p:spPr>
          <a:xfrm>
            <a:off x="609600" y="457200"/>
            <a:ext cx="10972800" cy="792480"/>
          </a:xfrm>
        </p:spPr>
        <p:txBody>
          <a:bodyPr/>
          <a:lstStyle/>
          <a:p>
            <a:r>
              <a:rPr lang="en-US"/>
              <a:t>Click to edit Master title style</a:t>
            </a:r>
          </a:p>
        </p:txBody>
      </p:sp>
      <p:sp>
        <p:nvSpPr>
          <p:cNvPr id="3" name="Content Placeholder 2"/>
          <p:cNvSpPr>
            <a:spLocks noGrp="1"/>
          </p:cNvSpPr>
          <p:nvPr>
            <p:ph sz="half" idx="1"/>
          </p:nvPr>
        </p:nvSpPr>
        <p:spPr>
          <a:xfrm>
            <a:off x="609600" y="2501461"/>
            <a:ext cx="2642616" cy="37570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386328" y="2501461"/>
            <a:ext cx="2642616" cy="37570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E405B87-0B1C-464B-928F-AA5E9D282D70}" type="datetimeFigureOut">
              <a:rPr lang="en-US" smtClean="0"/>
              <a:t>6/21/2026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9AD4B2D-25FF-0B46-98A4-87FBB723E472}" type="slidenum">
              <a:rPr lang="en-US" smtClean="0"/>
              <a:t>‹#›</a:t>
            </a:fld>
            <a:endParaRPr lang="en-US"/>
          </a:p>
        </p:txBody>
      </p:sp>
      <p:sp>
        <p:nvSpPr>
          <p:cNvPr id="9" name="Text Placeholder 2">
            <a:extLst>
              <a:ext uri="{FF2B5EF4-FFF2-40B4-BE49-F238E27FC236}">
                <a16:creationId xmlns:a16="http://schemas.microsoft.com/office/drawing/2014/main" id="{350EAC16-3B86-317F-2CED-01BEFE8BFE5A}"/>
              </a:ext>
            </a:extLst>
          </p:cNvPr>
          <p:cNvSpPr>
            <a:spLocks noGrp="1"/>
          </p:cNvSpPr>
          <p:nvPr>
            <p:ph type="body" idx="14"/>
          </p:nvPr>
        </p:nvSpPr>
        <p:spPr>
          <a:xfrm>
            <a:off x="609600" y="1412241"/>
            <a:ext cx="2642616" cy="946983"/>
          </a:xfrm>
        </p:spPr>
        <p:txBody>
          <a:bodyPr anchor="b">
            <a:noAutofit/>
          </a:bodyPr>
          <a:lstStyle>
            <a:lvl1pPr marL="0" indent="0">
              <a:lnSpc>
                <a:spcPct val="100000"/>
              </a:lnSpc>
              <a:buNone/>
              <a:defRPr sz="2200" b="1">
                <a:latin typeface="+mj-lt"/>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
        <p:nvSpPr>
          <p:cNvPr id="10" name="Text Placeholder 2">
            <a:extLst>
              <a:ext uri="{FF2B5EF4-FFF2-40B4-BE49-F238E27FC236}">
                <a16:creationId xmlns:a16="http://schemas.microsoft.com/office/drawing/2014/main" id="{1EA0600A-89E3-8CAB-4C19-49198C79214D}"/>
              </a:ext>
            </a:extLst>
          </p:cNvPr>
          <p:cNvSpPr>
            <a:spLocks noGrp="1"/>
          </p:cNvSpPr>
          <p:nvPr>
            <p:ph type="body" idx="15"/>
          </p:nvPr>
        </p:nvSpPr>
        <p:spPr>
          <a:xfrm>
            <a:off x="3386328" y="1412241"/>
            <a:ext cx="2642616" cy="946983"/>
          </a:xfrm>
        </p:spPr>
        <p:txBody>
          <a:bodyPr anchor="b">
            <a:noAutofit/>
          </a:bodyPr>
          <a:lstStyle>
            <a:lvl1pPr marL="0" indent="0">
              <a:lnSpc>
                <a:spcPct val="100000"/>
              </a:lnSpc>
              <a:buNone/>
              <a:defRPr sz="2200" b="1">
                <a:latin typeface="+mj-lt"/>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
        <p:nvSpPr>
          <p:cNvPr id="12" name="Content Placeholder 2">
            <a:extLst>
              <a:ext uri="{FF2B5EF4-FFF2-40B4-BE49-F238E27FC236}">
                <a16:creationId xmlns:a16="http://schemas.microsoft.com/office/drawing/2014/main" id="{F690ACF7-A408-80E0-A25E-8A9F74C3F2B6}"/>
              </a:ext>
            </a:extLst>
          </p:cNvPr>
          <p:cNvSpPr>
            <a:spLocks noGrp="1"/>
          </p:cNvSpPr>
          <p:nvPr>
            <p:ph sz="half" idx="16"/>
          </p:nvPr>
        </p:nvSpPr>
        <p:spPr>
          <a:xfrm>
            <a:off x="6163056" y="2501461"/>
            <a:ext cx="2642616" cy="37570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3">
            <a:extLst>
              <a:ext uri="{FF2B5EF4-FFF2-40B4-BE49-F238E27FC236}">
                <a16:creationId xmlns:a16="http://schemas.microsoft.com/office/drawing/2014/main" id="{FDEA59C2-DB92-D43E-C415-F2F3982923E1}"/>
              </a:ext>
            </a:extLst>
          </p:cNvPr>
          <p:cNvSpPr>
            <a:spLocks noGrp="1"/>
          </p:cNvSpPr>
          <p:nvPr>
            <p:ph sz="half" idx="17"/>
          </p:nvPr>
        </p:nvSpPr>
        <p:spPr>
          <a:xfrm>
            <a:off x="8939784" y="2503564"/>
            <a:ext cx="2642616" cy="37570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2">
            <a:extLst>
              <a:ext uri="{FF2B5EF4-FFF2-40B4-BE49-F238E27FC236}">
                <a16:creationId xmlns:a16="http://schemas.microsoft.com/office/drawing/2014/main" id="{CB1781E3-ED60-E5E7-C672-6460D334A22A}"/>
              </a:ext>
            </a:extLst>
          </p:cNvPr>
          <p:cNvSpPr>
            <a:spLocks noGrp="1"/>
          </p:cNvSpPr>
          <p:nvPr>
            <p:ph type="body" idx="18"/>
          </p:nvPr>
        </p:nvSpPr>
        <p:spPr>
          <a:xfrm>
            <a:off x="6163056" y="1412241"/>
            <a:ext cx="2642616" cy="946983"/>
          </a:xfrm>
        </p:spPr>
        <p:txBody>
          <a:bodyPr anchor="b">
            <a:noAutofit/>
          </a:bodyPr>
          <a:lstStyle>
            <a:lvl1pPr marL="0" indent="0">
              <a:lnSpc>
                <a:spcPct val="100000"/>
              </a:lnSpc>
              <a:buNone/>
              <a:defRPr sz="2200" b="1">
                <a:latin typeface="+mj-lt"/>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
        <p:nvSpPr>
          <p:cNvPr id="15" name="Text Placeholder 2">
            <a:extLst>
              <a:ext uri="{FF2B5EF4-FFF2-40B4-BE49-F238E27FC236}">
                <a16:creationId xmlns:a16="http://schemas.microsoft.com/office/drawing/2014/main" id="{2B5BF9F1-DF69-2318-71B1-9FBF8A1100A0}"/>
              </a:ext>
            </a:extLst>
          </p:cNvPr>
          <p:cNvSpPr>
            <a:spLocks noGrp="1"/>
          </p:cNvSpPr>
          <p:nvPr>
            <p:ph type="body" idx="19"/>
          </p:nvPr>
        </p:nvSpPr>
        <p:spPr>
          <a:xfrm>
            <a:off x="8939784" y="1412241"/>
            <a:ext cx="2642616" cy="946983"/>
          </a:xfrm>
        </p:spPr>
        <p:txBody>
          <a:bodyPr anchor="b">
            <a:noAutofit/>
          </a:bodyPr>
          <a:lstStyle>
            <a:lvl1pPr marL="0" indent="0">
              <a:lnSpc>
                <a:spcPct val="100000"/>
              </a:lnSpc>
              <a:buNone/>
              <a:defRPr sz="2200" b="1">
                <a:latin typeface="+mj-lt"/>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Tree>
    <p:extLst>
      <p:ext uri="{BB962C8B-B14F-4D97-AF65-F5344CB8AC3E}">
        <p14:creationId xmlns:p14="http://schemas.microsoft.com/office/powerpoint/2010/main" val="9326468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F678FD-3F92-C545-AAA8-6590D69FB088}"/>
              </a:ext>
            </a:extLst>
          </p:cNvPr>
          <p:cNvSpPr>
            <a:spLocks noGrp="1"/>
          </p:cNvSpPr>
          <p:nvPr>
            <p:ph type="title"/>
          </p:nvPr>
        </p:nvSpPr>
        <p:spPr>
          <a:xfrm>
            <a:off x="838200" y="700406"/>
            <a:ext cx="10515600" cy="547842"/>
          </a:xfrm>
          <a:prstGeom prst="rect">
            <a:avLst/>
          </a:prstGeom>
        </p:spPr>
        <p:txBody>
          <a:bodyPr vert="horz" lIns="91440" tIns="45720" rIns="91440" bIns="45720" rtlCol="0" anchor="t">
            <a:spAutoFit/>
          </a:bodyPr>
          <a:lstStyle/>
          <a:p>
            <a:r>
              <a:rPr lang="en-US"/>
              <a:t>Click to edit Master title style</a:t>
            </a:r>
          </a:p>
        </p:txBody>
      </p:sp>
      <p:sp>
        <p:nvSpPr>
          <p:cNvPr id="3" name="Slide Number Placeholder 5">
            <a:extLst>
              <a:ext uri="{FF2B5EF4-FFF2-40B4-BE49-F238E27FC236}">
                <a16:creationId xmlns:a16="http://schemas.microsoft.com/office/drawing/2014/main" id="{069268E0-CCE8-DE84-BF20-3E05E88BA02C}"/>
              </a:ext>
            </a:extLst>
          </p:cNvPr>
          <p:cNvSpPr txBox="1">
            <a:spLocks/>
          </p:cNvSpPr>
          <p:nvPr userDrawn="1"/>
        </p:nvSpPr>
        <p:spPr>
          <a:xfrm>
            <a:off x="9569450" y="6401398"/>
            <a:ext cx="2478672" cy="365125"/>
          </a:xfrm>
          <a:prstGeom prst="rect">
            <a:avLst/>
          </a:prstGeom>
        </p:spPr>
        <p:txBody>
          <a:bodyPr vert="horz" lIns="91440" tIns="45720" rIns="91440" bIns="45720" rtlCol="0" anchor="ctr"/>
          <a:lstStyle>
            <a:defPPr>
              <a:defRPr lang="en-US"/>
            </a:defPPr>
            <a:lvl1pPr marL="0" algn="l" defTabSz="914400" rtl="0" eaLnBrk="1" latinLnBrk="0" hangingPunct="1">
              <a:defRPr sz="1000" kern="1200">
                <a:solidFill>
                  <a:schemeClr val="tx1">
                    <a:tint val="75000"/>
                  </a:schemeClr>
                </a:solidFill>
                <a:latin typeface="ClanOT-Book" panose="0200050303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700" baseline="0">
                <a:latin typeface="Poppins Light" panose="00000400000000000000" pitchFamily="2" charset="0"/>
                <a:cs typeface="Poppins Light" panose="00000400000000000000" pitchFamily="2" charset="0"/>
                <a:sym typeface="Symbol" panose="05050102010706020507" pitchFamily="18" charset="2"/>
              </a:rPr>
              <a:t>HORIZON COMMERCE      </a:t>
            </a:r>
            <a:fld id="{CF067BAB-ACAF-470B-88DC-99E80D1D4992}" type="slidenum">
              <a:rPr lang="en-US" sz="700" smtClean="0">
                <a:latin typeface="Poppins Light" panose="00000400000000000000" pitchFamily="2" charset="0"/>
                <a:cs typeface="Poppins Light" panose="00000400000000000000" pitchFamily="2"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70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3133631249"/>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1" r:id="rId3"/>
    <p:sldLayoutId id="2147483664" r:id="rId4"/>
    <p:sldLayoutId id="2147483665" r:id="rId5"/>
    <p:sldLayoutId id="2147483666" r:id="rId6"/>
    <p:sldLayoutId id="2147483667" r:id="rId7"/>
    <p:sldLayoutId id="2147483668" r:id="rId8"/>
  </p:sldLayoutIdLst>
  <p:hf hdr="0" ftr="0" dt="0"/>
  <p:txStyles>
    <p:titleStyle>
      <a:lvl1pPr algn="l" defTabSz="914377" rtl="0" eaLnBrk="1" latinLnBrk="0" hangingPunct="1">
        <a:lnSpc>
          <a:spcPct val="90000"/>
        </a:lnSpc>
        <a:spcBef>
          <a:spcPct val="0"/>
        </a:spcBef>
        <a:buNone/>
        <a:defRPr sz="3200" b="1" kern="1200">
          <a:solidFill>
            <a:schemeClr val="accent4"/>
          </a:solidFill>
          <a:latin typeface="Poppins" panose="00000500000000000000" pitchFamily="2" charset="0"/>
          <a:ea typeface="+mj-ea"/>
          <a:cs typeface="Poppins" panose="00000500000000000000" pitchFamily="2" charset="0"/>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hyperlink" Target="https://flippingwithkirch.blogspot.com/2012/02/reflection-on-week-4-smooth-sailing.html" TargetMode="External"/></Relationships>
</file>

<file path=ppt/slides/_rels/slide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microsoft.com/office/2018/10/relationships/comments" Target="../comments/modernComment_7FFFE21A_DFCA2890.xml"/><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microsoft.com/office/2018/10/relationships/comments" Target="../comments/modernComment_7FFFE220_904AB267.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8" Type="http://schemas.openxmlformats.org/officeDocument/2006/relationships/hyperlink" Target="https://hminc-my.sharepoint.com/:u:/g/personal/joshapiro_night-market_com/ETImccyY695JjF7rn7vzIv0B4tejQ45xSakksP00kOwtnw?e=jXH86w" TargetMode="External"/><Relationship Id="rId3" Type="http://schemas.openxmlformats.org/officeDocument/2006/relationships/hyperlink" Target="https://hminc.sharepoint.com/:p:/s/NightMarketEngagements/ETbdM5kjNytPseEUUD6P1qEBzFmC0l35Iz1kFR5Y8IKRfQ?e=torkuQ" TargetMode="External"/><Relationship Id="rId7" Type="http://schemas.openxmlformats.org/officeDocument/2006/relationships/hyperlink" Target="https://hminc.sharepoint.com/:x:/s/NightMarketEngagements/ES_yoU0SsRlPvNbliWn5jVoBGLyhd8vP82ExFPvxSR56qQ?e=BgEAwJ" TargetMode="External"/><Relationship Id="rId2" Type="http://schemas.openxmlformats.org/officeDocument/2006/relationships/image" Target="../media/image4.png"/><Relationship Id="rId1" Type="http://schemas.openxmlformats.org/officeDocument/2006/relationships/slideLayout" Target="../slideLayouts/slideLayout3.xml"/><Relationship Id="rId6" Type="http://schemas.openxmlformats.org/officeDocument/2006/relationships/hyperlink" Target="https://horizonmedia.atlassian.net/wiki/spaces/NM1/pages/3609100289/Jira+Product+Discovery+-+CRO+Ideation+Cross-Team+Collaboration?atlOrigin=eyJpIjoiYTNlN2Y4NDIzNzI5NGMyYWJhZDhmNWJhMzg0OWE0Y2QiLCJwIjoiYyJ9" TargetMode="External"/><Relationship Id="rId5" Type="http://schemas.openxmlformats.org/officeDocument/2006/relationships/hyperlink" Target="https://hminc.sharepoint.com/:p:/s/NightMarketEngagements/EfZbbI2bB2hDhBckUfXtpI4BuVAi15F5mXGyH7WP6mtKPA?e=DLfDda" TargetMode="External"/><Relationship Id="rId4" Type="http://schemas.openxmlformats.org/officeDocument/2006/relationships/hyperlink" Target="https://hminc.sharepoint.com/:p:/s/NightMarketEngagements/EfULTun65slCvZhg0UzXpL0B6Qed0uv5FGR8UBJBfb2OIg?e=qVgc9N"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hyperlink" Target="https://hminc.sharepoint.com/:p:/s/NightMarketEngagements/EfULTun65slCvZhg0UzXpL0B6Qed0uv5FGR8UBJBfb2OIg?e=qVgc9N" TargetMode="External"/></Relationships>
</file>

<file path=ppt/slides/_rels/slide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chart" Target="../charts/chart5.xml"/><Relationship Id="rId4" Type="http://schemas.openxmlformats.org/officeDocument/2006/relationships/chart" Target="../charts/chart4.xml"/></Relationships>
</file>

<file path=ppt/slides/_rels/slide10.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chart" Target="../charts/chart8.xml"/><Relationship Id="rId4" Type="http://schemas.openxmlformats.org/officeDocument/2006/relationships/chart" Target="../charts/chart7.xml"/></Relationships>
</file>

<file path=ppt/slides/_rels/slide11.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microsoft.com/office/2018/10/relationships/comments" Target="../comments/modernComment_7FFFE21F_3E970444.xml"/><Relationship Id="rId1" Type="http://schemas.openxmlformats.org/officeDocument/2006/relationships/slideLayout" Target="../slideLayouts/slideLayout3.xml"/><Relationship Id="rId4" Type="http://schemas.openxmlformats.org/officeDocument/2006/relationships/hyperlink" Target="https://www.facingourrisk.org/blog/weighing-the-risks-and-benefits-of-screening-mammography" TargetMode="External"/></Relationships>
</file>

<file path=ppt/slides/_rels/slide13.xml.rels><?xml version="1.0" encoding="UTF-8" standalone="yes"?>
<Relationships xmlns="http://schemas.openxmlformats.org/package/2006/relationships"><Relationship Id="rId2" Type="http://schemas.microsoft.com/office/2018/10/relationships/comments" Target="../comments/modernComment_7FFFE21E_7E4A543D.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hyperlink" Target="https://hminc.sharepoint.com/:x:/s/HorizonCommerceTeam/ERpRexpZnPpCjD2C3TFenYQBab_ccDWlDeFOmDn5m5MTMA?e=jc0qFO" TargetMode="Externa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svg"/><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image" Target="../media/image10.svg"/><Relationship Id="rId5" Type="http://schemas.openxmlformats.org/officeDocument/2006/relationships/image" Target="../media/image9.svg"/><Relationship Id="rId4" Type="http://schemas.openxmlformats.org/officeDocument/2006/relationships/image" Target="../media/image8.svg"/></Relationships>
</file>

<file path=ppt/slides/_rels/slide1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15.svg"/><Relationship Id="rId4" Type="http://schemas.openxmlformats.org/officeDocument/2006/relationships/image" Target="../media/image14.svg"/></Relationships>
</file>

<file path=ppt/slides/_rels/slide18.xml.rels><?xml version="1.0" encoding="UTF-8" standalone="yes"?>
<Relationships xmlns="http://schemas.openxmlformats.org/package/2006/relationships"><Relationship Id="rId3" Type="http://schemas.microsoft.com/office/2018/10/relationships/comments" Target="../comments/modernComment_112_C5839777.xml"/><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29D4728B-3F1C-0552-D900-DBD16F9B64BA}"/>
            </a:ext>
          </a:extLst>
        </p:cNvPr>
        <p:cNvGrpSpPr/>
        <p:nvPr/>
      </p:nvGrpSpPr>
      <p:grpSpPr>
        <a:xfrm>
          <a:off x="0" y="0"/>
          <a:ext cx="0" cy="0"/>
          <a:chOff x="0" y="0"/>
          <a:chExt cx="0" cy="0"/>
        </a:xfrm>
      </p:grpSpPr>
      <p:sp>
        <p:nvSpPr>
          <p:cNvPr id="16" name="Rectangle 15">
            <a:extLst>
              <a:ext uri="{FF2B5EF4-FFF2-40B4-BE49-F238E27FC236}">
                <a16:creationId xmlns:a16="http://schemas.microsoft.com/office/drawing/2014/main" id="{E9506320-2497-7C4F-6B74-36C5789BDB4D}"/>
              </a:ext>
            </a:extLst>
          </p:cNvPr>
          <p:cNvSpPr/>
          <p:nvPr/>
        </p:nvSpPr>
        <p:spPr>
          <a:xfrm>
            <a:off x="0" y="0"/>
            <a:ext cx="12192000" cy="6858000"/>
          </a:xfrm>
          <a:prstGeom prst="rect">
            <a:avLst/>
          </a:prstGeom>
          <a:gradFill flip="none" rotWithShape="1">
            <a:gsLst>
              <a:gs pos="84000">
                <a:schemeClr val="tx2">
                  <a:alpha val="0"/>
                </a:schemeClr>
              </a:gs>
              <a:gs pos="0">
                <a:schemeClr val="tx2"/>
              </a:gs>
            </a:gsLst>
            <a:lin ang="0" scaled="1"/>
            <a:tileRect/>
          </a:gra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US" err="1"/>
          </a:p>
        </p:txBody>
      </p:sp>
      <p:sp>
        <p:nvSpPr>
          <p:cNvPr id="8" name="TextBox 7">
            <a:extLst>
              <a:ext uri="{FF2B5EF4-FFF2-40B4-BE49-F238E27FC236}">
                <a16:creationId xmlns:a16="http://schemas.microsoft.com/office/drawing/2014/main" id="{39BD8424-09B6-B71B-943D-3674EECB55F6}"/>
              </a:ext>
            </a:extLst>
          </p:cNvPr>
          <p:cNvSpPr txBox="1"/>
          <p:nvPr/>
        </p:nvSpPr>
        <p:spPr>
          <a:xfrm>
            <a:off x="838200" y="2987020"/>
            <a:ext cx="10515600" cy="2410916"/>
          </a:xfrm>
          <a:prstGeom prst="rect">
            <a:avLst/>
          </a:prstGeom>
        </p:spPr>
        <p:txBody>
          <a:bodyPr vert="horz" wrap="square" lIns="91440" tIns="91440" rIns="91440" bIns="91440" rtlCol="0" anchor="t">
            <a:spAutoFit/>
          </a:bodyPr>
          <a:lstStyle/>
          <a:p>
            <a:pPr>
              <a:lnSpc>
                <a:spcPct val="90000"/>
              </a:lnSpc>
            </a:pPr>
            <a:r>
              <a:rPr lang="en-US" sz="8000" b="1" dirty="0">
                <a:solidFill>
                  <a:schemeClr val="bg1"/>
                </a:solidFill>
                <a:latin typeface="Poppins" pitchFamily="2" charset="77"/>
                <a:cs typeface="Poppins" pitchFamily="2" charset="77"/>
              </a:rPr>
              <a:t>Horizon Commerce Flash Process</a:t>
            </a:r>
          </a:p>
        </p:txBody>
      </p:sp>
      <p:sp>
        <p:nvSpPr>
          <p:cNvPr id="15" name="TextBox 14">
            <a:extLst>
              <a:ext uri="{FF2B5EF4-FFF2-40B4-BE49-F238E27FC236}">
                <a16:creationId xmlns:a16="http://schemas.microsoft.com/office/drawing/2014/main" id="{7663F7C9-EEF1-6488-6A18-F080CC5D2C74}"/>
              </a:ext>
            </a:extLst>
          </p:cNvPr>
          <p:cNvSpPr txBox="1"/>
          <p:nvPr/>
        </p:nvSpPr>
        <p:spPr>
          <a:xfrm>
            <a:off x="838200" y="5418455"/>
            <a:ext cx="10515600" cy="440890"/>
          </a:xfrm>
          <a:prstGeom prst="rect">
            <a:avLst/>
          </a:prstGeom>
        </p:spPr>
        <p:txBody>
          <a:bodyPr vert="horz" wrap="square" lIns="91440" tIns="91440" rIns="91440" bIns="91440" rtlCol="0" anchor="t">
            <a:spAutoFit/>
          </a:bodyPr>
          <a:lstStyle/>
          <a:p>
            <a:pPr>
              <a:lnSpc>
                <a:spcPct val="90000"/>
              </a:lnSpc>
            </a:pPr>
            <a:r>
              <a:rPr lang="en-US" dirty="0">
                <a:solidFill>
                  <a:schemeClr val="bg1"/>
                </a:solidFill>
                <a:latin typeface="Poppins" pitchFamily="2" charset="77"/>
                <a:cs typeface="Poppins" pitchFamily="2" charset="77"/>
              </a:rPr>
              <a:t>Month XX, Year</a:t>
            </a:r>
          </a:p>
        </p:txBody>
      </p:sp>
    </p:spTree>
    <p:extLst>
      <p:ext uri="{BB962C8B-B14F-4D97-AF65-F5344CB8AC3E}">
        <p14:creationId xmlns:p14="http://schemas.microsoft.com/office/powerpoint/2010/main" val="17653370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itle 1">
            <a:extLst>
              <a:ext uri="{FF2B5EF4-FFF2-40B4-BE49-F238E27FC236}">
                <a16:creationId xmlns:a16="http://schemas.microsoft.com/office/drawing/2014/main" id="{5811169F-FE8E-4039-0F1D-D02687FA07F5}"/>
              </a:ext>
            </a:extLst>
          </p:cNvPr>
          <p:cNvSpPr txBox="1">
            <a:spLocks/>
          </p:cNvSpPr>
          <p:nvPr/>
        </p:nvSpPr>
        <p:spPr>
          <a:xfrm>
            <a:off x="5753011" y="860132"/>
            <a:ext cx="5707326" cy="1437317"/>
          </a:xfrm>
          <a:prstGeom prst="rect">
            <a:avLst/>
          </a:prstGeom>
        </p:spPr>
        <p:txBody>
          <a:bodyPr wrap="square">
            <a:spAutoFit/>
          </a:bodyPr>
          <a:lstStyle>
            <a:lvl1pPr marL="0" algn="ctr" defTabSz="914400" rtl="0" eaLnBrk="1" latinLnBrk="0" hangingPunct="1">
              <a:lnSpc>
                <a:spcPct val="95000"/>
              </a:lnSpc>
              <a:spcBef>
                <a:spcPct val="0"/>
              </a:spcBef>
              <a:buNone/>
              <a:defRPr lang="en-US" sz="2800" b="1" i="0" kern="1200">
                <a:solidFill>
                  <a:schemeClr val="accent4"/>
                </a:solidFill>
                <a:latin typeface="Poppins" pitchFamily="2" charset="77"/>
                <a:ea typeface="+mj-ea"/>
                <a:cs typeface="Poppins" pitchFamily="2" charset="77"/>
              </a:defRPr>
            </a:lvl1pPr>
          </a:lstStyle>
          <a:p>
            <a:pPr marL="0" marR="0" lvl="0" indent="0" defTabSz="914400" rtl="0" eaLnBrk="1" fontAlgn="auto" latinLnBrk="0" hangingPunct="1">
              <a:lnSpc>
                <a:spcPct val="95000"/>
              </a:lnSpc>
              <a:spcBef>
                <a:spcPct val="0"/>
              </a:spcBef>
              <a:spcAft>
                <a:spcPts val="0"/>
              </a:spcAft>
              <a:buClrTx/>
              <a:buSzTx/>
              <a:buFontTx/>
              <a:buNone/>
              <a:tabLst/>
              <a:defRPr/>
            </a:pPr>
            <a:r>
              <a:rPr lang="en-US" sz="4600" dirty="0">
                <a:solidFill>
                  <a:schemeClr val="accent1"/>
                </a:solidFill>
              </a:rPr>
              <a:t>Today’s Agenda: Smooth Sailing</a:t>
            </a:r>
            <a:endParaRPr kumimoji="0" lang="en-US" sz="4600" b="1" i="0" u="none" strike="noStrike" kern="1200" cap="none" spc="0" normalizeH="0" baseline="0" noProof="0" dirty="0">
              <a:ln>
                <a:noFill/>
              </a:ln>
              <a:solidFill>
                <a:schemeClr val="accent1"/>
              </a:solidFill>
              <a:effectLst/>
              <a:uLnTx/>
              <a:uFillTx/>
              <a:latin typeface="Poppins" pitchFamily="2" charset="77"/>
              <a:ea typeface="+mj-ea"/>
              <a:cs typeface="Poppins" pitchFamily="2" charset="77"/>
            </a:endParaRPr>
          </a:p>
        </p:txBody>
      </p:sp>
      <p:sp>
        <p:nvSpPr>
          <p:cNvPr id="4" name="Title 1">
            <a:extLst>
              <a:ext uri="{FF2B5EF4-FFF2-40B4-BE49-F238E27FC236}">
                <a16:creationId xmlns:a16="http://schemas.microsoft.com/office/drawing/2014/main" id="{AE084BEE-7BD0-21CC-B943-811722B86E0F}"/>
              </a:ext>
            </a:extLst>
          </p:cNvPr>
          <p:cNvSpPr txBox="1">
            <a:spLocks/>
          </p:cNvSpPr>
          <p:nvPr/>
        </p:nvSpPr>
        <p:spPr>
          <a:xfrm>
            <a:off x="6101599" y="2431156"/>
            <a:ext cx="5010150" cy="447815"/>
          </a:xfrm>
          <a:prstGeom prst="rect">
            <a:avLst/>
          </a:prstGeom>
        </p:spPr>
        <p:txBody>
          <a:bodyPr wrap="square">
            <a:spAutoFit/>
          </a:bodyPr>
          <a:lstStyle>
            <a:lvl1pPr marL="0" algn="ctr" defTabSz="914400" rtl="0" eaLnBrk="1" latinLnBrk="0" hangingPunct="1">
              <a:lnSpc>
                <a:spcPct val="95000"/>
              </a:lnSpc>
              <a:spcBef>
                <a:spcPct val="0"/>
              </a:spcBef>
              <a:buNone/>
              <a:defRPr lang="en-US" sz="2800" b="1" i="0" kern="1200">
                <a:solidFill>
                  <a:schemeClr val="accent4"/>
                </a:solidFill>
                <a:latin typeface="Poppins" pitchFamily="2" charset="77"/>
                <a:ea typeface="+mj-ea"/>
                <a:cs typeface="Poppins" pitchFamily="2" charset="77"/>
              </a:defRPr>
            </a:lvl1pPr>
          </a:lstStyle>
          <a:p>
            <a:pPr marL="0" marR="0" lvl="0" indent="0" defTabSz="914400" rtl="0" eaLnBrk="1" fontAlgn="auto" latinLnBrk="0" hangingPunct="1">
              <a:lnSpc>
                <a:spcPct val="95000"/>
              </a:lnSpc>
              <a:spcBef>
                <a:spcPct val="0"/>
              </a:spcBef>
              <a:spcAft>
                <a:spcPts val="0"/>
              </a:spcAft>
              <a:buClrTx/>
              <a:buSzTx/>
              <a:buFontTx/>
              <a:buNone/>
              <a:tabLst/>
              <a:defRPr/>
            </a:pPr>
            <a:r>
              <a:rPr lang="en-US" sz="2400" b="0" dirty="0">
                <a:solidFill>
                  <a:schemeClr val="tx1"/>
                </a:solidFill>
              </a:rPr>
              <a:t>Why test X-small changes</a:t>
            </a:r>
            <a:endParaRPr kumimoji="0" lang="en-US" sz="2400" b="0" u="none" strike="noStrike" kern="1200" cap="none" spc="0" normalizeH="0" baseline="0" noProof="0" dirty="0">
              <a:ln>
                <a:noFill/>
              </a:ln>
              <a:solidFill>
                <a:schemeClr val="tx1"/>
              </a:solidFill>
              <a:effectLst/>
              <a:uLnTx/>
              <a:uFillTx/>
            </a:endParaRPr>
          </a:p>
        </p:txBody>
      </p:sp>
      <p:cxnSp>
        <p:nvCxnSpPr>
          <p:cNvPr id="7" name="Straight Connector 6">
            <a:extLst>
              <a:ext uri="{FF2B5EF4-FFF2-40B4-BE49-F238E27FC236}">
                <a16:creationId xmlns:a16="http://schemas.microsoft.com/office/drawing/2014/main" id="{518D0BB5-5F36-B3DD-192E-026B0310DFE0}"/>
              </a:ext>
            </a:extLst>
          </p:cNvPr>
          <p:cNvCxnSpPr>
            <a:cxnSpLocks/>
          </p:cNvCxnSpPr>
          <p:nvPr/>
        </p:nvCxnSpPr>
        <p:spPr>
          <a:xfrm>
            <a:off x="6410894" y="3101753"/>
            <a:ext cx="4391560" cy="0"/>
          </a:xfrm>
          <a:prstGeom prst="line">
            <a:avLst/>
          </a:prstGeom>
          <a:ln w="19050" cap="rnd">
            <a:solidFill>
              <a:schemeClr val="bg1">
                <a:lumMod val="75000"/>
              </a:schemeClr>
            </a:solidFill>
            <a:prstDash val="sysDot"/>
            <a:round/>
          </a:ln>
        </p:spPr>
        <p:style>
          <a:lnRef idx="1">
            <a:schemeClr val="accent1"/>
          </a:lnRef>
          <a:fillRef idx="0">
            <a:schemeClr val="accent1"/>
          </a:fillRef>
          <a:effectRef idx="0">
            <a:schemeClr val="accent1"/>
          </a:effectRef>
          <a:fontRef idx="minor">
            <a:schemeClr val="tx1"/>
          </a:fontRef>
        </p:style>
      </p:cxnSp>
      <p:sp>
        <p:nvSpPr>
          <p:cNvPr id="8" name="Title 1">
            <a:extLst>
              <a:ext uri="{FF2B5EF4-FFF2-40B4-BE49-F238E27FC236}">
                <a16:creationId xmlns:a16="http://schemas.microsoft.com/office/drawing/2014/main" id="{A0B9E1B1-A33D-8AFD-C736-46AAFA307630}"/>
              </a:ext>
            </a:extLst>
          </p:cNvPr>
          <p:cNvSpPr txBox="1">
            <a:spLocks/>
          </p:cNvSpPr>
          <p:nvPr/>
        </p:nvSpPr>
        <p:spPr>
          <a:xfrm>
            <a:off x="6101599" y="3324535"/>
            <a:ext cx="5010150" cy="447815"/>
          </a:xfrm>
          <a:prstGeom prst="rect">
            <a:avLst/>
          </a:prstGeom>
        </p:spPr>
        <p:txBody>
          <a:bodyPr wrap="square">
            <a:spAutoFit/>
          </a:bodyPr>
          <a:lstStyle>
            <a:lvl1pPr marL="0" algn="ctr" defTabSz="914400" rtl="0" eaLnBrk="1" latinLnBrk="0" hangingPunct="1">
              <a:lnSpc>
                <a:spcPct val="95000"/>
              </a:lnSpc>
              <a:spcBef>
                <a:spcPct val="0"/>
              </a:spcBef>
              <a:buNone/>
              <a:defRPr lang="en-US" sz="2800" b="1" i="0" kern="1200">
                <a:solidFill>
                  <a:schemeClr val="accent4"/>
                </a:solidFill>
                <a:latin typeface="Poppins" pitchFamily="2" charset="77"/>
                <a:ea typeface="+mj-ea"/>
                <a:cs typeface="Poppins" pitchFamily="2" charset="77"/>
              </a:defRPr>
            </a:lvl1pPr>
          </a:lstStyle>
          <a:p>
            <a:pPr marL="0" marR="0" lvl="0" indent="0" defTabSz="914400" rtl="0" eaLnBrk="1" fontAlgn="auto" latinLnBrk="0" hangingPunct="1">
              <a:lnSpc>
                <a:spcPct val="95000"/>
              </a:lnSpc>
              <a:spcBef>
                <a:spcPct val="0"/>
              </a:spcBef>
              <a:spcAft>
                <a:spcPts val="0"/>
              </a:spcAft>
              <a:buClrTx/>
              <a:buSzTx/>
              <a:buFontTx/>
              <a:buNone/>
              <a:tabLst/>
              <a:defRPr/>
            </a:pPr>
            <a:r>
              <a:rPr lang="en-US" sz="2400" b="0" dirty="0">
                <a:solidFill>
                  <a:schemeClr val="tx1"/>
                </a:solidFill>
              </a:rPr>
              <a:t>Maximizing X-small change ROI</a:t>
            </a:r>
            <a:endParaRPr kumimoji="0" lang="en-US" sz="2400" b="0" u="none" strike="noStrike" kern="1200" cap="none" spc="0" normalizeH="0" baseline="0" noProof="0" dirty="0">
              <a:ln>
                <a:noFill/>
              </a:ln>
              <a:solidFill>
                <a:schemeClr val="tx1"/>
              </a:solidFill>
              <a:effectLst/>
              <a:uLnTx/>
              <a:uFillTx/>
            </a:endParaRPr>
          </a:p>
        </p:txBody>
      </p:sp>
      <p:cxnSp>
        <p:nvCxnSpPr>
          <p:cNvPr id="9" name="Straight Connector 8">
            <a:extLst>
              <a:ext uri="{FF2B5EF4-FFF2-40B4-BE49-F238E27FC236}">
                <a16:creationId xmlns:a16="http://schemas.microsoft.com/office/drawing/2014/main" id="{B701EDA9-62EC-563E-8662-633BA4AC67A5}"/>
              </a:ext>
            </a:extLst>
          </p:cNvPr>
          <p:cNvCxnSpPr>
            <a:cxnSpLocks/>
          </p:cNvCxnSpPr>
          <p:nvPr/>
        </p:nvCxnSpPr>
        <p:spPr>
          <a:xfrm>
            <a:off x="6410894" y="3995132"/>
            <a:ext cx="4391560" cy="0"/>
          </a:xfrm>
          <a:prstGeom prst="line">
            <a:avLst/>
          </a:prstGeom>
          <a:ln w="19050" cap="rnd">
            <a:solidFill>
              <a:schemeClr val="bg1">
                <a:lumMod val="75000"/>
              </a:schemeClr>
            </a:solidFill>
            <a:prstDash val="sysDot"/>
            <a:round/>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A66316B9-B190-56B1-614C-FA757D4BDE20}"/>
              </a:ext>
            </a:extLst>
          </p:cNvPr>
          <p:cNvSpPr txBox="1">
            <a:spLocks/>
          </p:cNvSpPr>
          <p:nvPr/>
        </p:nvSpPr>
        <p:spPr>
          <a:xfrm>
            <a:off x="6101599" y="4217914"/>
            <a:ext cx="5010150" cy="794064"/>
          </a:xfrm>
          <a:prstGeom prst="rect">
            <a:avLst/>
          </a:prstGeom>
        </p:spPr>
        <p:txBody>
          <a:bodyPr wrap="square">
            <a:spAutoFit/>
          </a:bodyPr>
          <a:lstStyle>
            <a:lvl1pPr marL="0" algn="ctr" defTabSz="914400" rtl="0" eaLnBrk="1" latinLnBrk="0" hangingPunct="1">
              <a:lnSpc>
                <a:spcPct val="95000"/>
              </a:lnSpc>
              <a:spcBef>
                <a:spcPct val="0"/>
              </a:spcBef>
              <a:buNone/>
              <a:defRPr lang="en-US" sz="2800" b="1" i="0" kern="1200">
                <a:solidFill>
                  <a:schemeClr val="accent4"/>
                </a:solidFill>
                <a:latin typeface="Poppins" pitchFamily="2" charset="77"/>
                <a:ea typeface="+mj-ea"/>
                <a:cs typeface="Poppins" pitchFamily="2" charset="77"/>
              </a:defRPr>
            </a:lvl1pPr>
          </a:lstStyle>
          <a:p>
            <a:pPr marL="0" marR="0" lvl="0" indent="0" defTabSz="914400" rtl="0" eaLnBrk="1" fontAlgn="auto" latinLnBrk="0" hangingPunct="1">
              <a:lnSpc>
                <a:spcPct val="95000"/>
              </a:lnSpc>
              <a:spcBef>
                <a:spcPct val="0"/>
              </a:spcBef>
              <a:spcAft>
                <a:spcPts val="0"/>
              </a:spcAft>
              <a:buClrTx/>
              <a:buSzTx/>
              <a:buFontTx/>
              <a:buNone/>
              <a:tabLst/>
              <a:defRPr/>
            </a:pPr>
            <a:r>
              <a:rPr lang="en-US" sz="2400" b="0" dirty="0">
                <a:solidFill>
                  <a:schemeClr val="tx1"/>
                </a:solidFill>
              </a:rPr>
              <a:t>Detailed Alignment on optimized process</a:t>
            </a:r>
            <a:endParaRPr kumimoji="0" lang="en-US" sz="2400" b="0" u="none" strike="noStrike" kern="1200" cap="none" spc="0" normalizeH="0" baseline="0" noProof="0" dirty="0">
              <a:ln>
                <a:noFill/>
              </a:ln>
              <a:solidFill>
                <a:schemeClr val="tx1"/>
              </a:solidFill>
              <a:effectLst/>
              <a:uLnTx/>
              <a:uFillTx/>
            </a:endParaRPr>
          </a:p>
        </p:txBody>
      </p:sp>
      <p:sp>
        <p:nvSpPr>
          <p:cNvPr id="5" name="Rectangle 4">
            <a:extLst>
              <a:ext uri="{FF2B5EF4-FFF2-40B4-BE49-F238E27FC236}">
                <a16:creationId xmlns:a16="http://schemas.microsoft.com/office/drawing/2014/main" id="{A9538B32-F2DF-6327-5633-7516D5DE24B3}"/>
              </a:ext>
            </a:extLst>
          </p:cNvPr>
          <p:cNvSpPr/>
          <p:nvPr/>
        </p:nvSpPr>
        <p:spPr>
          <a:xfrm>
            <a:off x="-1" y="-1"/>
            <a:ext cx="5700189" cy="6857997"/>
          </a:xfrm>
          <a:prstGeom prst="rect">
            <a:avLst/>
          </a:prstGeom>
          <a:solidFill>
            <a:schemeClr val="bg1">
              <a:lumMod val="85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r>
              <a:rPr lang="en-US" dirty="0">
                <a:solidFill>
                  <a:schemeClr val="bg1">
                    <a:lumMod val="75000"/>
                  </a:schemeClr>
                </a:solidFill>
              </a:rPr>
              <a:t>IMAGE</a:t>
            </a:r>
          </a:p>
        </p:txBody>
      </p:sp>
      <p:sp>
        <p:nvSpPr>
          <p:cNvPr id="6" name="Rectangle 5">
            <a:extLst>
              <a:ext uri="{FF2B5EF4-FFF2-40B4-BE49-F238E27FC236}">
                <a16:creationId xmlns:a16="http://schemas.microsoft.com/office/drawing/2014/main" id="{18074726-596B-F796-45A6-3BA72FF9C4D3}"/>
              </a:ext>
            </a:extLst>
          </p:cNvPr>
          <p:cNvSpPr/>
          <p:nvPr/>
        </p:nvSpPr>
        <p:spPr>
          <a:xfrm>
            <a:off x="2906486" y="0"/>
            <a:ext cx="2793702" cy="6858000"/>
          </a:xfrm>
          <a:prstGeom prst="rect">
            <a:avLst/>
          </a:prstGeom>
          <a:gradFill>
            <a:gsLst>
              <a:gs pos="0">
                <a:schemeClr val="bg1"/>
              </a:gs>
              <a:gs pos="100000">
                <a:schemeClr val="bg1">
                  <a:alpha val="0"/>
                </a:schemeClr>
              </a:gs>
            </a:gsLst>
            <a:lin ang="10800000" scaled="1"/>
          </a:gra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US" err="1"/>
          </a:p>
        </p:txBody>
      </p:sp>
      <p:pic>
        <p:nvPicPr>
          <p:cNvPr id="3" name="Picture 2" descr="A couple of sailboats on the water&#10;&#10;AI-generated content may be incorrect.">
            <a:extLst>
              <a:ext uri="{FF2B5EF4-FFF2-40B4-BE49-F238E27FC236}">
                <a16:creationId xmlns:a16="http://schemas.microsoft.com/office/drawing/2014/main" id="{34EBB310-98A7-AE62-70A0-8AD82D0AE890}"/>
              </a:ext>
            </a:extLst>
          </p:cNvPr>
          <p:cNvPicPr>
            <a:picLocks noChangeAspect="1"/>
          </p:cNvPicPr>
          <p:nvPr/>
        </p:nvPicPr>
        <p:blipFill>
          <a:blip r:embed="rId3">
            <a:extLst>
              <a:ext uri="{837473B0-CC2E-450A-ABE3-18F120FF3D39}">
                <a1611:picAttrSrcUrl xmlns:a1611="http://schemas.microsoft.com/office/drawing/2016/11/main" r:id="rId4"/>
              </a:ext>
            </a:extLst>
          </a:blip>
          <a:srcRect l="1" r="50130"/>
          <a:stretch>
            <a:fillRect/>
          </a:stretch>
        </p:blipFill>
        <p:spPr>
          <a:xfrm>
            <a:off x="-4980" y="489100"/>
            <a:ext cx="5700189" cy="6000750"/>
          </a:xfrm>
          <a:prstGeom prst="ellipse">
            <a:avLst/>
          </a:prstGeom>
          <a:ln>
            <a:noFill/>
          </a:ln>
          <a:effectLst>
            <a:softEdge rad="112500"/>
          </a:effectLst>
        </p:spPr>
      </p:pic>
    </p:spTree>
    <p:extLst>
      <p:ext uri="{BB962C8B-B14F-4D97-AF65-F5344CB8AC3E}">
        <p14:creationId xmlns:p14="http://schemas.microsoft.com/office/powerpoint/2010/main" val="6142282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7A4F6502-3622-DA56-2ED4-ED5009041C47}"/>
              </a:ext>
            </a:extLst>
          </p:cNvPr>
          <p:cNvSpPr txBox="1"/>
          <p:nvPr/>
        </p:nvSpPr>
        <p:spPr>
          <a:xfrm>
            <a:off x="843490" y="2244349"/>
            <a:ext cx="4556535" cy="2305503"/>
          </a:xfrm>
          <a:prstGeom prst="rect">
            <a:avLst/>
          </a:prstGeom>
          <a:noFill/>
        </p:spPr>
        <p:txBody>
          <a:bodyPr wrap="square" rtlCol="0" anchor="ctr">
            <a:spAutoFit/>
          </a:bodyPr>
          <a:lstStyle/>
          <a:p>
            <a:pPr>
              <a:lnSpc>
                <a:spcPct val="95000"/>
              </a:lnSpc>
              <a:spcBef>
                <a:spcPct val="0"/>
              </a:spcBef>
              <a:defRPr/>
            </a:pPr>
            <a:r>
              <a:rPr lang="en-US" sz="3200" b="1" dirty="0">
                <a:solidFill>
                  <a:schemeClr val="accent1"/>
                </a:solidFill>
                <a:latin typeface="+mj-lt"/>
                <a:ea typeface="+mj-ea"/>
                <a:cs typeface="+mj-cs"/>
              </a:rPr>
              <a:t>Why test X-small changes?</a:t>
            </a:r>
          </a:p>
          <a:p>
            <a:pPr marL="342900" indent="-342900">
              <a:lnSpc>
                <a:spcPct val="112000"/>
              </a:lnSpc>
              <a:spcBef>
                <a:spcPts val="1200"/>
              </a:spcBef>
              <a:buFontTx/>
              <a:buAutoNum type="arabicPeriod"/>
              <a:defRPr/>
            </a:pPr>
            <a:r>
              <a:rPr lang="en-US" sz="1600" dirty="0"/>
              <a:t>Site fine tuning</a:t>
            </a:r>
            <a:endParaRPr lang="en-US" sz="1600" dirty="0">
              <a:latin typeface="+mj-lt"/>
            </a:endParaRPr>
          </a:p>
          <a:p>
            <a:pPr marL="342900" indent="-342900">
              <a:lnSpc>
                <a:spcPct val="112000"/>
              </a:lnSpc>
              <a:spcBef>
                <a:spcPts val="1200"/>
              </a:spcBef>
              <a:buAutoNum type="arabicPeriod"/>
              <a:defRPr/>
            </a:pPr>
            <a:r>
              <a:rPr lang="en-US" sz="1600" dirty="0">
                <a:latin typeface="+mj-lt"/>
              </a:rPr>
              <a:t>Low risk </a:t>
            </a:r>
          </a:p>
          <a:p>
            <a:pPr marL="342900" indent="-342900">
              <a:lnSpc>
                <a:spcPct val="112000"/>
              </a:lnSpc>
              <a:spcBef>
                <a:spcPts val="1200"/>
              </a:spcBef>
              <a:buFontTx/>
              <a:buAutoNum type="arabicPeriod"/>
              <a:defRPr/>
            </a:pPr>
            <a:r>
              <a:rPr lang="en-US" sz="1600" dirty="0"/>
              <a:t>High ROI &amp; high reward in aggregate</a:t>
            </a:r>
          </a:p>
        </p:txBody>
      </p:sp>
      <p:graphicFrame>
        <p:nvGraphicFramePr>
          <p:cNvPr id="3" name="Chart 2">
            <a:extLst>
              <a:ext uri="{FF2B5EF4-FFF2-40B4-BE49-F238E27FC236}">
                <a16:creationId xmlns:a16="http://schemas.microsoft.com/office/drawing/2014/main" id="{5A3A44B2-50DF-A608-40F8-E5483B782310}"/>
              </a:ext>
            </a:extLst>
          </p:cNvPr>
          <p:cNvGraphicFramePr>
            <a:graphicFrameLocks/>
          </p:cNvGraphicFramePr>
          <p:nvPr>
            <p:extLst>
              <p:ext uri="{D42A27DB-BD31-4B8C-83A1-F6EECF244321}">
                <p14:modId xmlns:p14="http://schemas.microsoft.com/office/powerpoint/2010/main" val="1952414086"/>
              </p:ext>
            </p:extLst>
          </p:nvPr>
        </p:nvGraphicFramePr>
        <p:xfrm>
          <a:off x="6795867" y="1726440"/>
          <a:ext cx="4552643" cy="3405117"/>
        </p:xfrm>
        <a:graphic>
          <a:graphicData uri="http://schemas.openxmlformats.org/drawingml/2006/chart">
            <c:chart xmlns:c="http://schemas.openxmlformats.org/drawingml/2006/chart" xmlns:r="http://schemas.openxmlformats.org/officeDocument/2006/relationships" r:id="rId2"/>
          </a:graphicData>
        </a:graphic>
      </p:graphicFrame>
      <p:sp>
        <p:nvSpPr>
          <p:cNvPr id="4" name="Oval 3">
            <a:extLst>
              <a:ext uri="{FF2B5EF4-FFF2-40B4-BE49-F238E27FC236}">
                <a16:creationId xmlns:a16="http://schemas.microsoft.com/office/drawing/2014/main" id="{50329000-2406-B176-6263-7CAFFCF65E1C}"/>
              </a:ext>
            </a:extLst>
          </p:cNvPr>
          <p:cNvSpPr/>
          <p:nvPr/>
        </p:nvSpPr>
        <p:spPr>
          <a:xfrm>
            <a:off x="8829961" y="4254655"/>
            <a:ext cx="177557" cy="174529"/>
          </a:xfrm>
          <a:prstGeom prst="ellipse">
            <a:avLst/>
          </a:prstGeom>
          <a:solidFill>
            <a:srgbClr val="7030A0"/>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US" dirty="0" err="1"/>
          </a:p>
        </p:txBody>
      </p:sp>
      <p:sp>
        <p:nvSpPr>
          <p:cNvPr id="5" name="Oval 4">
            <a:extLst>
              <a:ext uri="{FF2B5EF4-FFF2-40B4-BE49-F238E27FC236}">
                <a16:creationId xmlns:a16="http://schemas.microsoft.com/office/drawing/2014/main" id="{C99A2C58-B159-7AD9-C6AB-C6343AD0FB79}"/>
              </a:ext>
            </a:extLst>
          </p:cNvPr>
          <p:cNvSpPr/>
          <p:nvPr/>
        </p:nvSpPr>
        <p:spPr>
          <a:xfrm>
            <a:off x="8829960" y="3552282"/>
            <a:ext cx="177557" cy="174529"/>
          </a:xfrm>
          <a:prstGeom prst="ellipse">
            <a:avLst/>
          </a:prstGeom>
          <a:solidFill>
            <a:schemeClr val="accent2"/>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US" dirty="0" err="1"/>
          </a:p>
        </p:txBody>
      </p:sp>
    </p:spTree>
    <p:extLst>
      <p:ext uri="{BB962C8B-B14F-4D97-AF65-F5344CB8AC3E}">
        <p14:creationId xmlns:p14="http://schemas.microsoft.com/office/powerpoint/2010/main" val="4213759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12E86F-8303-596A-2EF3-7F282CF29452}"/>
            </a:ext>
          </a:extLst>
        </p:cNvPr>
        <p:cNvGrpSpPr/>
        <p:nvPr/>
      </p:nvGrpSpPr>
      <p:grpSpPr>
        <a:xfrm>
          <a:off x="0" y="0"/>
          <a:ext cx="0" cy="0"/>
          <a:chOff x="0" y="0"/>
          <a:chExt cx="0" cy="0"/>
        </a:xfrm>
      </p:grpSpPr>
      <p:sp>
        <p:nvSpPr>
          <p:cNvPr id="27" name="Rectangle 26">
            <a:extLst>
              <a:ext uri="{FF2B5EF4-FFF2-40B4-BE49-F238E27FC236}">
                <a16:creationId xmlns:a16="http://schemas.microsoft.com/office/drawing/2014/main" id="{D21DD6A8-7EA1-3F08-9B4C-596F6CDAFE57}"/>
              </a:ext>
            </a:extLst>
          </p:cNvPr>
          <p:cNvSpPr/>
          <p:nvPr/>
        </p:nvSpPr>
        <p:spPr>
          <a:xfrm>
            <a:off x="0" y="1447944"/>
            <a:ext cx="3384761" cy="5410056"/>
          </a:xfrm>
          <a:prstGeom prst="rect">
            <a:avLst/>
          </a:prstGeom>
          <a:solidFill>
            <a:schemeClr val="accent1"/>
          </a:solidFill>
          <a:ln>
            <a:noFill/>
          </a:ln>
          <a:effectLst>
            <a:outerShdw blurRad="50800" dist="38100" algn="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ctr"/>
          <a:lstStyle/>
          <a:p>
            <a:pPr algn="ctr"/>
            <a:endParaRPr lang="en-US" err="1">
              <a:latin typeface="+mj-lt"/>
            </a:endParaRPr>
          </a:p>
        </p:txBody>
      </p:sp>
      <p:pic>
        <p:nvPicPr>
          <p:cNvPr id="40" name="Picture 39">
            <a:extLst>
              <a:ext uri="{FF2B5EF4-FFF2-40B4-BE49-F238E27FC236}">
                <a16:creationId xmlns:a16="http://schemas.microsoft.com/office/drawing/2014/main" id="{2768854D-D56F-B1A3-8E1F-A72E364B3E57}"/>
              </a:ext>
            </a:extLst>
          </p:cNvPr>
          <p:cNvPicPr>
            <a:picLocks noChangeAspect="1"/>
          </p:cNvPicPr>
          <p:nvPr/>
        </p:nvPicPr>
        <p:blipFill>
          <a:blip r:embed="rId4"/>
          <a:stretch>
            <a:fillRect/>
          </a:stretch>
        </p:blipFill>
        <p:spPr>
          <a:xfrm>
            <a:off x="10808099" y="6353199"/>
            <a:ext cx="1246369" cy="362001"/>
          </a:xfrm>
          <a:prstGeom prst="rect">
            <a:avLst/>
          </a:prstGeom>
        </p:spPr>
      </p:pic>
      <p:graphicFrame>
        <p:nvGraphicFramePr>
          <p:cNvPr id="2" name="Table 7">
            <a:extLst>
              <a:ext uri="{FF2B5EF4-FFF2-40B4-BE49-F238E27FC236}">
                <a16:creationId xmlns:a16="http://schemas.microsoft.com/office/drawing/2014/main" id="{A198A47A-AC60-5AAD-6B81-4281486C9D01}"/>
              </a:ext>
            </a:extLst>
          </p:cNvPr>
          <p:cNvGraphicFramePr>
            <a:graphicFrameLocks noGrp="1"/>
          </p:cNvGraphicFramePr>
          <p:nvPr/>
        </p:nvGraphicFramePr>
        <p:xfrm>
          <a:off x="4611874" y="1447944"/>
          <a:ext cx="7260936" cy="2192529"/>
        </p:xfrm>
        <a:graphic>
          <a:graphicData uri="http://schemas.openxmlformats.org/drawingml/2006/table">
            <a:tbl>
              <a:tblPr firstRow="1" bandRow="1">
                <a:tableStyleId>{5C22544A-7EE6-4342-B048-85BDC9FD1C3A}</a:tableStyleId>
              </a:tblPr>
              <a:tblGrid>
                <a:gridCol w="605078">
                  <a:extLst>
                    <a:ext uri="{9D8B030D-6E8A-4147-A177-3AD203B41FA5}">
                      <a16:colId xmlns:a16="http://schemas.microsoft.com/office/drawing/2014/main" val="2512130470"/>
                    </a:ext>
                  </a:extLst>
                </a:gridCol>
                <a:gridCol w="605078">
                  <a:extLst>
                    <a:ext uri="{9D8B030D-6E8A-4147-A177-3AD203B41FA5}">
                      <a16:colId xmlns:a16="http://schemas.microsoft.com/office/drawing/2014/main" val="4133395945"/>
                    </a:ext>
                  </a:extLst>
                </a:gridCol>
                <a:gridCol w="605078">
                  <a:extLst>
                    <a:ext uri="{9D8B030D-6E8A-4147-A177-3AD203B41FA5}">
                      <a16:colId xmlns:a16="http://schemas.microsoft.com/office/drawing/2014/main" val="4118028688"/>
                    </a:ext>
                  </a:extLst>
                </a:gridCol>
                <a:gridCol w="605078">
                  <a:extLst>
                    <a:ext uri="{9D8B030D-6E8A-4147-A177-3AD203B41FA5}">
                      <a16:colId xmlns:a16="http://schemas.microsoft.com/office/drawing/2014/main" val="3264559589"/>
                    </a:ext>
                  </a:extLst>
                </a:gridCol>
                <a:gridCol w="605078">
                  <a:extLst>
                    <a:ext uri="{9D8B030D-6E8A-4147-A177-3AD203B41FA5}">
                      <a16:colId xmlns:a16="http://schemas.microsoft.com/office/drawing/2014/main" val="759051057"/>
                    </a:ext>
                  </a:extLst>
                </a:gridCol>
                <a:gridCol w="605078">
                  <a:extLst>
                    <a:ext uri="{9D8B030D-6E8A-4147-A177-3AD203B41FA5}">
                      <a16:colId xmlns:a16="http://schemas.microsoft.com/office/drawing/2014/main" val="3729066656"/>
                    </a:ext>
                  </a:extLst>
                </a:gridCol>
                <a:gridCol w="605078">
                  <a:extLst>
                    <a:ext uri="{9D8B030D-6E8A-4147-A177-3AD203B41FA5}">
                      <a16:colId xmlns:a16="http://schemas.microsoft.com/office/drawing/2014/main" val="2153923829"/>
                    </a:ext>
                  </a:extLst>
                </a:gridCol>
                <a:gridCol w="605078">
                  <a:extLst>
                    <a:ext uri="{9D8B030D-6E8A-4147-A177-3AD203B41FA5}">
                      <a16:colId xmlns:a16="http://schemas.microsoft.com/office/drawing/2014/main" val="697760512"/>
                    </a:ext>
                  </a:extLst>
                </a:gridCol>
                <a:gridCol w="605078">
                  <a:extLst>
                    <a:ext uri="{9D8B030D-6E8A-4147-A177-3AD203B41FA5}">
                      <a16:colId xmlns:a16="http://schemas.microsoft.com/office/drawing/2014/main" val="706740897"/>
                    </a:ext>
                  </a:extLst>
                </a:gridCol>
                <a:gridCol w="605078">
                  <a:extLst>
                    <a:ext uri="{9D8B030D-6E8A-4147-A177-3AD203B41FA5}">
                      <a16:colId xmlns:a16="http://schemas.microsoft.com/office/drawing/2014/main" val="1588501090"/>
                    </a:ext>
                  </a:extLst>
                </a:gridCol>
                <a:gridCol w="605078">
                  <a:extLst>
                    <a:ext uri="{9D8B030D-6E8A-4147-A177-3AD203B41FA5}">
                      <a16:colId xmlns:a16="http://schemas.microsoft.com/office/drawing/2014/main" val="2454760725"/>
                    </a:ext>
                  </a:extLst>
                </a:gridCol>
                <a:gridCol w="605078">
                  <a:extLst>
                    <a:ext uri="{9D8B030D-6E8A-4147-A177-3AD203B41FA5}">
                      <a16:colId xmlns:a16="http://schemas.microsoft.com/office/drawing/2014/main" val="2075737799"/>
                    </a:ext>
                  </a:extLst>
                </a:gridCol>
              </a:tblGrid>
              <a:tr h="395194">
                <a:tc gridSpan="4">
                  <a:txBody>
                    <a:bodyPr/>
                    <a:lstStyle/>
                    <a:p>
                      <a:pPr algn="ctr"/>
                      <a:r>
                        <a:rPr lang="en-US" sz="2400" b="0">
                          <a:solidFill>
                            <a:schemeClr val="tx1"/>
                          </a:solidFill>
                          <a:latin typeface="Georgia" panose="02040502050405020303" pitchFamily="18" charset="0"/>
                        </a:rPr>
                        <a:t>Month 1</a:t>
                      </a:r>
                      <a:endParaRPr lang="en-MY" sz="2400" b="0">
                        <a:solidFill>
                          <a:schemeClr val="tx1"/>
                        </a:solidFill>
                        <a:latin typeface="Georgia" panose="02040502050405020303"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en-MY" sz="1200" b="0">
                        <a:solidFill>
                          <a:schemeClr val="tx1"/>
                        </a:solidFill>
                      </a:endParaRPr>
                    </a:p>
                  </a:txBody>
                  <a:tcPr marL="0" marR="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en-MY" sz="1200" b="0">
                        <a:solidFill>
                          <a:schemeClr val="tx1"/>
                        </a:solidFill>
                      </a:endParaRPr>
                    </a:p>
                  </a:txBody>
                  <a:tcPr marL="0" marR="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en-MY" sz="1200" b="0">
                        <a:solidFill>
                          <a:schemeClr val="tx1"/>
                        </a:solidFill>
                      </a:endParaRPr>
                    </a:p>
                  </a:txBody>
                  <a:tcPr marL="0" marR="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a:r>
                        <a:rPr lang="en-US" sz="2400" b="0" kern="1200">
                          <a:solidFill>
                            <a:schemeClr val="tx1"/>
                          </a:solidFill>
                          <a:latin typeface="Georgia" panose="02040502050405020303" pitchFamily="18" charset="0"/>
                          <a:ea typeface="+mn-ea"/>
                          <a:cs typeface="+mn-cs"/>
                        </a:rPr>
                        <a:t>Month 2</a:t>
                      </a:r>
                      <a:endParaRPr lang="en-MY" sz="2400" b="0">
                        <a:solidFill>
                          <a:schemeClr val="tx1"/>
                        </a:solidFill>
                        <a:latin typeface="Georgia" panose="02040502050405020303"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en-MY" sz="1200" b="0">
                        <a:solidFill>
                          <a:schemeClr val="tx1"/>
                        </a:solidFill>
                      </a:endParaRPr>
                    </a:p>
                  </a:txBody>
                  <a:tcPr marL="0" marR="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en-MY" sz="1200" b="0">
                        <a:solidFill>
                          <a:schemeClr val="tx1"/>
                        </a:solidFill>
                      </a:endParaRPr>
                    </a:p>
                  </a:txBody>
                  <a:tcPr marL="0" marR="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en-MY" sz="1200" b="0">
                        <a:solidFill>
                          <a:schemeClr val="tx1"/>
                        </a:solidFill>
                      </a:endParaRPr>
                    </a:p>
                  </a:txBody>
                  <a:tcPr marL="0" marR="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a:r>
                        <a:rPr lang="en-US" sz="2400" b="0" kern="1200">
                          <a:solidFill>
                            <a:schemeClr val="tx1"/>
                          </a:solidFill>
                          <a:latin typeface="Georgia" panose="02040502050405020303" pitchFamily="18" charset="0"/>
                          <a:ea typeface="+mn-ea"/>
                          <a:cs typeface="+mn-cs"/>
                        </a:rPr>
                        <a:t>Month 3</a:t>
                      </a:r>
                      <a:endParaRPr lang="en-MY" sz="2400" b="0">
                        <a:solidFill>
                          <a:schemeClr val="tx1"/>
                        </a:solidFill>
                        <a:latin typeface="Georgia" panose="02040502050405020303"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en-MY" sz="1200" b="0">
                        <a:solidFill>
                          <a:schemeClr val="tx1"/>
                        </a:solidFill>
                      </a:endParaRPr>
                    </a:p>
                  </a:txBody>
                  <a:tcPr marL="0" marR="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en-MY" sz="1200" b="0">
                        <a:solidFill>
                          <a:schemeClr val="tx1"/>
                        </a:solidFill>
                      </a:endParaRPr>
                    </a:p>
                  </a:txBody>
                  <a:tcPr marL="0" marR="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en-MY" sz="1200" b="0">
                        <a:solidFill>
                          <a:schemeClr val="tx1"/>
                        </a:solidFill>
                      </a:endParaRPr>
                    </a:p>
                  </a:txBody>
                  <a:tcPr marL="0" marR="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26821813"/>
                  </a:ext>
                </a:extLst>
              </a:tr>
              <a:tr h="359467">
                <a:tc>
                  <a:txBody>
                    <a:bodyPr/>
                    <a:lstStyle/>
                    <a:p>
                      <a:pPr algn="ctr"/>
                      <a:r>
                        <a:rPr lang="en-US" sz="1050">
                          <a:solidFill>
                            <a:schemeClr val="tx1"/>
                          </a:solidFill>
                          <a:latin typeface="+mj-lt"/>
                        </a:rPr>
                        <a:t>WK1</a:t>
                      </a:r>
                      <a:endParaRPr lang="en-MY" sz="1050">
                        <a:solidFill>
                          <a:schemeClr val="tx1"/>
                        </a:solidFill>
                        <a:latin typeface="+mj-lt"/>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050">
                          <a:solidFill>
                            <a:schemeClr val="tx1"/>
                          </a:solidFill>
                          <a:latin typeface="+mj-lt"/>
                        </a:rPr>
                        <a:t>WK2</a:t>
                      </a:r>
                      <a:endParaRPr lang="en-MY" sz="1050">
                        <a:solidFill>
                          <a:schemeClr val="tx1"/>
                        </a:solidFill>
                        <a:latin typeface="+mj-lt"/>
                      </a:endParaRPr>
                    </a:p>
                  </a:txBody>
                  <a:tcPr marL="0" marR="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050">
                          <a:solidFill>
                            <a:schemeClr val="tx1"/>
                          </a:solidFill>
                          <a:latin typeface="+mj-lt"/>
                        </a:rPr>
                        <a:t>WK3</a:t>
                      </a:r>
                      <a:endParaRPr lang="en-MY" sz="1050">
                        <a:solidFill>
                          <a:schemeClr val="tx1"/>
                        </a:solidFill>
                        <a:latin typeface="+mj-lt"/>
                      </a:endParaRPr>
                    </a:p>
                  </a:txBody>
                  <a:tcPr marL="0" marR="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050">
                          <a:solidFill>
                            <a:schemeClr val="tx1"/>
                          </a:solidFill>
                          <a:latin typeface="+mj-lt"/>
                        </a:rPr>
                        <a:t>WK4/5</a:t>
                      </a:r>
                      <a:endParaRPr lang="en-MY" sz="1050">
                        <a:solidFill>
                          <a:schemeClr val="tx1"/>
                        </a:solidFill>
                        <a:latin typeface="+mj-lt"/>
                      </a:endParaRPr>
                    </a:p>
                  </a:txBody>
                  <a:tcPr marL="0" marR="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050">
                          <a:solidFill>
                            <a:schemeClr val="tx1"/>
                          </a:solidFill>
                          <a:latin typeface="+mj-lt"/>
                        </a:rPr>
                        <a:t>WK1</a:t>
                      </a:r>
                      <a:endParaRPr lang="en-MY" sz="1050">
                        <a:solidFill>
                          <a:schemeClr val="tx1"/>
                        </a:solidFill>
                        <a:latin typeface="+mj-lt"/>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050">
                          <a:solidFill>
                            <a:schemeClr val="tx1"/>
                          </a:solidFill>
                          <a:latin typeface="+mj-lt"/>
                        </a:rPr>
                        <a:t>WK2</a:t>
                      </a:r>
                      <a:endParaRPr lang="en-MY" sz="1050">
                        <a:solidFill>
                          <a:schemeClr val="tx1"/>
                        </a:solidFill>
                        <a:latin typeface="+mj-lt"/>
                      </a:endParaRPr>
                    </a:p>
                  </a:txBody>
                  <a:tcPr marL="0" marR="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050">
                          <a:solidFill>
                            <a:schemeClr val="tx1"/>
                          </a:solidFill>
                          <a:latin typeface="+mj-lt"/>
                        </a:rPr>
                        <a:t>WK3</a:t>
                      </a:r>
                      <a:endParaRPr lang="en-MY" sz="1050">
                        <a:solidFill>
                          <a:schemeClr val="tx1"/>
                        </a:solidFill>
                        <a:latin typeface="+mj-lt"/>
                      </a:endParaRPr>
                    </a:p>
                  </a:txBody>
                  <a:tcPr marL="0" marR="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050">
                          <a:solidFill>
                            <a:schemeClr val="tx1"/>
                          </a:solidFill>
                          <a:latin typeface="+mj-lt"/>
                        </a:rPr>
                        <a:t>WK4/5</a:t>
                      </a:r>
                      <a:endParaRPr lang="en-MY" sz="1050">
                        <a:solidFill>
                          <a:schemeClr val="tx1"/>
                        </a:solidFill>
                        <a:latin typeface="+mj-lt"/>
                      </a:endParaRPr>
                    </a:p>
                  </a:txBody>
                  <a:tcPr marL="0" marR="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050">
                          <a:solidFill>
                            <a:schemeClr val="tx1"/>
                          </a:solidFill>
                          <a:latin typeface="+mj-lt"/>
                        </a:rPr>
                        <a:t>WK1</a:t>
                      </a:r>
                      <a:endParaRPr lang="en-MY" sz="1050">
                        <a:solidFill>
                          <a:schemeClr val="tx1"/>
                        </a:solidFill>
                        <a:latin typeface="+mj-lt"/>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050">
                          <a:solidFill>
                            <a:schemeClr val="tx1"/>
                          </a:solidFill>
                          <a:latin typeface="+mj-lt"/>
                        </a:rPr>
                        <a:t>WK2</a:t>
                      </a:r>
                      <a:endParaRPr lang="en-MY" sz="1050">
                        <a:solidFill>
                          <a:schemeClr val="tx1"/>
                        </a:solidFill>
                        <a:latin typeface="+mj-lt"/>
                      </a:endParaRPr>
                    </a:p>
                  </a:txBody>
                  <a:tcPr marL="0" marR="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050">
                          <a:solidFill>
                            <a:schemeClr val="tx1"/>
                          </a:solidFill>
                          <a:latin typeface="+mj-lt"/>
                        </a:rPr>
                        <a:t>WK3</a:t>
                      </a:r>
                      <a:endParaRPr lang="en-MY" sz="1050">
                        <a:solidFill>
                          <a:schemeClr val="tx1"/>
                        </a:solidFill>
                        <a:latin typeface="+mj-lt"/>
                      </a:endParaRPr>
                    </a:p>
                  </a:txBody>
                  <a:tcPr marL="0" marR="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050">
                          <a:solidFill>
                            <a:schemeClr val="tx1"/>
                          </a:solidFill>
                          <a:latin typeface="+mj-lt"/>
                        </a:rPr>
                        <a:t>WK4/5</a:t>
                      </a:r>
                      <a:endParaRPr lang="en-MY" sz="1050">
                        <a:solidFill>
                          <a:schemeClr val="tx1"/>
                        </a:solidFill>
                        <a:latin typeface="+mj-lt"/>
                      </a:endParaRPr>
                    </a:p>
                  </a:txBody>
                  <a:tcPr marL="0" marR="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6740885"/>
                  </a:ext>
                </a:extLst>
              </a:tr>
              <a:tr h="359467">
                <a:tc>
                  <a:txBody>
                    <a:bodyPr/>
                    <a:lstStyle/>
                    <a:p>
                      <a:endParaRPr lang="en-MY">
                        <a:solidFill>
                          <a:schemeClr val="tx1"/>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solidFill>
                          <a:schemeClr val="tx1"/>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solidFill>
                          <a:schemeClr val="tx1"/>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81735823"/>
                  </a:ext>
                </a:extLst>
              </a:tr>
              <a:tr h="359467">
                <a:tc>
                  <a:txBody>
                    <a:bodyPr/>
                    <a:lstStyle/>
                    <a:p>
                      <a:endParaRPr lang="en-MY">
                        <a:solidFill>
                          <a:schemeClr val="tx1"/>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solidFill>
                          <a:schemeClr val="tx1"/>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solidFill>
                          <a:schemeClr val="tx1"/>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14635189"/>
                  </a:ext>
                </a:extLst>
              </a:tr>
              <a:tr h="359467">
                <a:tc>
                  <a:txBody>
                    <a:bodyPr/>
                    <a:lstStyle/>
                    <a:p>
                      <a:endParaRPr lang="en-MY">
                        <a:solidFill>
                          <a:schemeClr val="tx1"/>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solidFill>
                          <a:schemeClr val="tx1"/>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solidFill>
                          <a:schemeClr val="tx1"/>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20089260"/>
                  </a:ext>
                </a:extLst>
              </a:tr>
              <a:tr h="359467">
                <a:tc>
                  <a:txBody>
                    <a:bodyPr/>
                    <a:lstStyle/>
                    <a:p>
                      <a:endParaRPr lang="en-MY">
                        <a:solidFill>
                          <a:schemeClr val="tx1"/>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solidFill>
                          <a:schemeClr val="tx1"/>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solidFill>
                          <a:schemeClr val="tx1"/>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3751883"/>
                  </a:ext>
                </a:extLst>
              </a:tr>
            </a:tbl>
          </a:graphicData>
        </a:graphic>
      </p:graphicFrame>
      <p:sp>
        <p:nvSpPr>
          <p:cNvPr id="26" name="Title 1">
            <a:extLst>
              <a:ext uri="{FF2B5EF4-FFF2-40B4-BE49-F238E27FC236}">
                <a16:creationId xmlns:a16="http://schemas.microsoft.com/office/drawing/2014/main" id="{8DCCFF46-A373-D9A2-D5C3-885C981D70DC}"/>
              </a:ext>
            </a:extLst>
          </p:cNvPr>
          <p:cNvSpPr txBox="1">
            <a:spLocks/>
          </p:cNvSpPr>
          <p:nvPr/>
        </p:nvSpPr>
        <p:spPr>
          <a:xfrm>
            <a:off x="554989" y="246662"/>
            <a:ext cx="11082019" cy="867930"/>
          </a:xfrm>
          <a:prstGeom prst="rect">
            <a:avLst/>
          </a:prstGeom>
        </p:spPr>
        <p:txBody>
          <a:bodyPr vert="horz" lIns="91440" tIns="45720" rIns="91440" bIns="45720" rtlCol="0" anchor="t">
            <a:spAutoFit/>
          </a:bodyPr>
          <a:lstStyle>
            <a:lvl1pPr algn="l" defTabSz="914377" rtl="0" eaLnBrk="1" latinLnBrk="0" hangingPunct="1">
              <a:lnSpc>
                <a:spcPct val="90000"/>
              </a:lnSpc>
              <a:spcBef>
                <a:spcPct val="0"/>
              </a:spcBef>
              <a:buNone/>
              <a:defRPr sz="3200" b="1" kern="1200">
                <a:solidFill>
                  <a:schemeClr val="accent4"/>
                </a:solidFill>
                <a:latin typeface="Poppins" panose="00000500000000000000" pitchFamily="2" charset="0"/>
                <a:ea typeface="+mj-ea"/>
                <a:cs typeface="Poppins" panose="00000500000000000000" pitchFamily="2" charset="0"/>
              </a:defRPr>
            </a:lvl1pPr>
          </a:lstStyle>
          <a:p>
            <a:pPr algn="ctr"/>
            <a:r>
              <a:rPr lang="en-US" sz="2800" dirty="0">
                <a:solidFill>
                  <a:schemeClr val="tx2"/>
                </a:solidFill>
                <a:latin typeface="+mj-lt"/>
              </a:rPr>
              <a:t>Prioritization Inclusive Of LOE Enables Broader Testing, Higher Impact &amp; Lower Risk</a:t>
            </a:r>
          </a:p>
        </p:txBody>
      </p:sp>
      <p:graphicFrame>
        <p:nvGraphicFramePr>
          <p:cNvPr id="29" name="Table 7">
            <a:extLst>
              <a:ext uri="{FF2B5EF4-FFF2-40B4-BE49-F238E27FC236}">
                <a16:creationId xmlns:a16="http://schemas.microsoft.com/office/drawing/2014/main" id="{A276C578-DC9F-537C-D807-F9A9AC26E162}"/>
              </a:ext>
            </a:extLst>
          </p:cNvPr>
          <p:cNvGraphicFramePr>
            <a:graphicFrameLocks noGrp="1"/>
          </p:cNvGraphicFramePr>
          <p:nvPr/>
        </p:nvGraphicFramePr>
        <p:xfrm>
          <a:off x="4614112" y="4134058"/>
          <a:ext cx="7260936" cy="2192529"/>
        </p:xfrm>
        <a:graphic>
          <a:graphicData uri="http://schemas.openxmlformats.org/drawingml/2006/table">
            <a:tbl>
              <a:tblPr firstRow="1" bandRow="1">
                <a:tableStyleId>{5C22544A-7EE6-4342-B048-85BDC9FD1C3A}</a:tableStyleId>
              </a:tblPr>
              <a:tblGrid>
                <a:gridCol w="605078">
                  <a:extLst>
                    <a:ext uri="{9D8B030D-6E8A-4147-A177-3AD203B41FA5}">
                      <a16:colId xmlns:a16="http://schemas.microsoft.com/office/drawing/2014/main" val="2512130470"/>
                    </a:ext>
                  </a:extLst>
                </a:gridCol>
                <a:gridCol w="605078">
                  <a:extLst>
                    <a:ext uri="{9D8B030D-6E8A-4147-A177-3AD203B41FA5}">
                      <a16:colId xmlns:a16="http://schemas.microsoft.com/office/drawing/2014/main" val="4133395945"/>
                    </a:ext>
                  </a:extLst>
                </a:gridCol>
                <a:gridCol w="605078">
                  <a:extLst>
                    <a:ext uri="{9D8B030D-6E8A-4147-A177-3AD203B41FA5}">
                      <a16:colId xmlns:a16="http://schemas.microsoft.com/office/drawing/2014/main" val="4118028688"/>
                    </a:ext>
                  </a:extLst>
                </a:gridCol>
                <a:gridCol w="605078">
                  <a:extLst>
                    <a:ext uri="{9D8B030D-6E8A-4147-A177-3AD203B41FA5}">
                      <a16:colId xmlns:a16="http://schemas.microsoft.com/office/drawing/2014/main" val="3264559589"/>
                    </a:ext>
                  </a:extLst>
                </a:gridCol>
                <a:gridCol w="605078">
                  <a:extLst>
                    <a:ext uri="{9D8B030D-6E8A-4147-A177-3AD203B41FA5}">
                      <a16:colId xmlns:a16="http://schemas.microsoft.com/office/drawing/2014/main" val="759051057"/>
                    </a:ext>
                  </a:extLst>
                </a:gridCol>
                <a:gridCol w="605078">
                  <a:extLst>
                    <a:ext uri="{9D8B030D-6E8A-4147-A177-3AD203B41FA5}">
                      <a16:colId xmlns:a16="http://schemas.microsoft.com/office/drawing/2014/main" val="3729066656"/>
                    </a:ext>
                  </a:extLst>
                </a:gridCol>
                <a:gridCol w="605078">
                  <a:extLst>
                    <a:ext uri="{9D8B030D-6E8A-4147-A177-3AD203B41FA5}">
                      <a16:colId xmlns:a16="http://schemas.microsoft.com/office/drawing/2014/main" val="2153923829"/>
                    </a:ext>
                  </a:extLst>
                </a:gridCol>
                <a:gridCol w="605078">
                  <a:extLst>
                    <a:ext uri="{9D8B030D-6E8A-4147-A177-3AD203B41FA5}">
                      <a16:colId xmlns:a16="http://schemas.microsoft.com/office/drawing/2014/main" val="697760512"/>
                    </a:ext>
                  </a:extLst>
                </a:gridCol>
                <a:gridCol w="605078">
                  <a:extLst>
                    <a:ext uri="{9D8B030D-6E8A-4147-A177-3AD203B41FA5}">
                      <a16:colId xmlns:a16="http://schemas.microsoft.com/office/drawing/2014/main" val="706740897"/>
                    </a:ext>
                  </a:extLst>
                </a:gridCol>
                <a:gridCol w="605078">
                  <a:extLst>
                    <a:ext uri="{9D8B030D-6E8A-4147-A177-3AD203B41FA5}">
                      <a16:colId xmlns:a16="http://schemas.microsoft.com/office/drawing/2014/main" val="1588501090"/>
                    </a:ext>
                  </a:extLst>
                </a:gridCol>
                <a:gridCol w="605078">
                  <a:extLst>
                    <a:ext uri="{9D8B030D-6E8A-4147-A177-3AD203B41FA5}">
                      <a16:colId xmlns:a16="http://schemas.microsoft.com/office/drawing/2014/main" val="2454760725"/>
                    </a:ext>
                  </a:extLst>
                </a:gridCol>
                <a:gridCol w="605078">
                  <a:extLst>
                    <a:ext uri="{9D8B030D-6E8A-4147-A177-3AD203B41FA5}">
                      <a16:colId xmlns:a16="http://schemas.microsoft.com/office/drawing/2014/main" val="2075737799"/>
                    </a:ext>
                  </a:extLst>
                </a:gridCol>
              </a:tblGrid>
              <a:tr h="395194">
                <a:tc gridSpan="4">
                  <a:txBody>
                    <a:bodyPr/>
                    <a:lstStyle/>
                    <a:p>
                      <a:pPr algn="ctr"/>
                      <a:r>
                        <a:rPr lang="en-US" sz="2400" b="0">
                          <a:ln>
                            <a:noFill/>
                          </a:ln>
                          <a:solidFill>
                            <a:schemeClr val="tx1"/>
                          </a:solidFill>
                          <a:latin typeface="Georgia" panose="02040502050405020303" pitchFamily="18" charset="0"/>
                        </a:rPr>
                        <a:t>Month 1</a:t>
                      </a:r>
                      <a:endParaRPr lang="en-MY" sz="2400" b="0">
                        <a:ln>
                          <a:noFill/>
                        </a:ln>
                        <a:solidFill>
                          <a:schemeClr val="tx1"/>
                        </a:solidFill>
                        <a:latin typeface="Georgia" panose="02040502050405020303"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en-MY" sz="1200" b="0">
                        <a:solidFill>
                          <a:schemeClr val="tx1"/>
                        </a:solidFill>
                      </a:endParaRPr>
                    </a:p>
                  </a:txBody>
                  <a:tcPr marL="0" marR="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en-MY" sz="1200" b="0">
                        <a:solidFill>
                          <a:schemeClr val="tx1"/>
                        </a:solidFill>
                      </a:endParaRPr>
                    </a:p>
                  </a:txBody>
                  <a:tcPr marL="0" marR="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en-MY" sz="1200" b="0">
                        <a:solidFill>
                          <a:schemeClr val="tx1"/>
                        </a:solidFill>
                      </a:endParaRPr>
                    </a:p>
                  </a:txBody>
                  <a:tcPr marL="0" marR="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a:r>
                        <a:rPr lang="en-US" sz="2400" b="0" kern="1200">
                          <a:ln>
                            <a:noFill/>
                          </a:ln>
                          <a:solidFill>
                            <a:schemeClr val="tx1"/>
                          </a:solidFill>
                          <a:latin typeface="Georgia" panose="02040502050405020303" pitchFamily="18" charset="0"/>
                          <a:ea typeface="+mn-ea"/>
                          <a:cs typeface="+mn-cs"/>
                        </a:rPr>
                        <a:t>Month 2</a:t>
                      </a:r>
                      <a:endParaRPr lang="en-MY" sz="2400" b="0">
                        <a:ln>
                          <a:noFill/>
                        </a:ln>
                        <a:solidFill>
                          <a:schemeClr val="tx1"/>
                        </a:solidFill>
                        <a:latin typeface="Georgia" panose="02040502050405020303"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en-MY" sz="1200" b="0">
                        <a:solidFill>
                          <a:schemeClr val="tx1"/>
                        </a:solidFill>
                      </a:endParaRPr>
                    </a:p>
                  </a:txBody>
                  <a:tcPr marL="0" marR="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en-MY" sz="1200" b="0">
                        <a:solidFill>
                          <a:schemeClr val="tx1"/>
                        </a:solidFill>
                      </a:endParaRPr>
                    </a:p>
                  </a:txBody>
                  <a:tcPr marL="0" marR="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en-MY" sz="1200" b="0">
                        <a:solidFill>
                          <a:schemeClr val="tx1"/>
                        </a:solidFill>
                      </a:endParaRPr>
                    </a:p>
                  </a:txBody>
                  <a:tcPr marL="0" marR="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a:r>
                        <a:rPr lang="en-US" sz="2400" b="0" kern="1200">
                          <a:ln>
                            <a:noFill/>
                          </a:ln>
                          <a:solidFill>
                            <a:schemeClr val="tx1"/>
                          </a:solidFill>
                          <a:latin typeface="Georgia" panose="02040502050405020303" pitchFamily="18" charset="0"/>
                          <a:ea typeface="+mn-ea"/>
                          <a:cs typeface="+mn-cs"/>
                        </a:rPr>
                        <a:t>Month 3</a:t>
                      </a:r>
                      <a:endParaRPr lang="en-MY" sz="2400" b="0">
                        <a:ln>
                          <a:noFill/>
                        </a:ln>
                        <a:solidFill>
                          <a:schemeClr val="tx1"/>
                        </a:solidFill>
                        <a:latin typeface="Georgia" panose="02040502050405020303"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en-MY" sz="1200" b="0">
                        <a:solidFill>
                          <a:schemeClr val="tx1"/>
                        </a:solidFill>
                      </a:endParaRPr>
                    </a:p>
                  </a:txBody>
                  <a:tcPr marL="0" marR="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en-MY" sz="1200" b="0">
                        <a:solidFill>
                          <a:schemeClr val="tx1"/>
                        </a:solidFill>
                      </a:endParaRPr>
                    </a:p>
                  </a:txBody>
                  <a:tcPr marL="0" marR="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en-MY" sz="1200" b="0">
                        <a:solidFill>
                          <a:schemeClr val="tx1"/>
                        </a:solidFill>
                      </a:endParaRPr>
                    </a:p>
                  </a:txBody>
                  <a:tcPr marL="0" marR="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26821813"/>
                  </a:ext>
                </a:extLst>
              </a:tr>
              <a:tr h="359467">
                <a:tc>
                  <a:txBody>
                    <a:bodyPr/>
                    <a:lstStyle/>
                    <a:p>
                      <a:pPr algn="ctr"/>
                      <a:r>
                        <a:rPr lang="en-US" sz="1050">
                          <a:ln>
                            <a:noFill/>
                          </a:ln>
                          <a:solidFill>
                            <a:schemeClr val="tx1"/>
                          </a:solidFill>
                          <a:latin typeface="+mj-lt"/>
                        </a:rPr>
                        <a:t>WK1</a:t>
                      </a:r>
                      <a:endParaRPr lang="en-MY" sz="1050">
                        <a:ln>
                          <a:noFill/>
                        </a:ln>
                        <a:solidFill>
                          <a:schemeClr val="tx1"/>
                        </a:solidFill>
                        <a:latin typeface="+mj-lt"/>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050">
                          <a:ln>
                            <a:noFill/>
                          </a:ln>
                          <a:solidFill>
                            <a:schemeClr val="tx1"/>
                          </a:solidFill>
                          <a:latin typeface="+mj-lt"/>
                        </a:rPr>
                        <a:t>WK2</a:t>
                      </a:r>
                      <a:endParaRPr lang="en-MY" sz="1050">
                        <a:ln>
                          <a:noFill/>
                        </a:ln>
                        <a:solidFill>
                          <a:schemeClr val="tx1"/>
                        </a:solidFill>
                        <a:latin typeface="+mj-lt"/>
                      </a:endParaRPr>
                    </a:p>
                  </a:txBody>
                  <a:tcPr marL="0" marR="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050">
                          <a:ln>
                            <a:noFill/>
                          </a:ln>
                          <a:solidFill>
                            <a:schemeClr val="tx1"/>
                          </a:solidFill>
                          <a:latin typeface="+mj-lt"/>
                        </a:rPr>
                        <a:t>WK3</a:t>
                      </a:r>
                      <a:endParaRPr lang="en-MY" sz="1050">
                        <a:ln>
                          <a:noFill/>
                        </a:ln>
                        <a:solidFill>
                          <a:schemeClr val="tx1"/>
                        </a:solidFill>
                        <a:latin typeface="+mj-lt"/>
                      </a:endParaRPr>
                    </a:p>
                  </a:txBody>
                  <a:tcPr marL="0" marR="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050">
                          <a:ln>
                            <a:noFill/>
                          </a:ln>
                          <a:solidFill>
                            <a:schemeClr val="tx1"/>
                          </a:solidFill>
                          <a:latin typeface="+mj-lt"/>
                        </a:rPr>
                        <a:t>WK4/5</a:t>
                      </a:r>
                      <a:endParaRPr lang="en-MY" sz="1050">
                        <a:ln>
                          <a:noFill/>
                        </a:ln>
                        <a:solidFill>
                          <a:schemeClr val="tx1"/>
                        </a:solidFill>
                        <a:latin typeface="+mj-lt"/>
                      </a:endParaRPr>
                    </a:p>
                  </a:txBody>
                  <a:tcPr marL="0" marR="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050">
                          <a:ln>
                            <a:noFill/>
                          </a:ln>
                          <a:solidFill>
                            <a:schemeClr val="tx1"/>
                          </a:solidFill>
                          <a:latin typeface="+mj-lt"/>
                        </a:rPr>
                        <a:t>WK1</a:t>
                      </a:r>
                      <a:endParaRPr lang="en-MY" sz="1050">
                        <a:ln>
                          <a:noFill/>
                        </a:ln>
                        <a:solidFill>
                          <a:schemeClr val="tx1"/>
                        </a:solidFill>
                        <a:latin typeface="+mj-lt"/>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050">
                          <a:ln>
                            <a:noFill/>
                          </a:ln>
                          <a:solidFill>
                            <a:schemeClr val="tx1"/>
                          </a:solidFill>
                          <a:latin typeface="+mj-lt"/>
                        </a:rPr>
                        <a:t>WK2</a:t>
                      </a:r>
                      <a:endParaRPr lang="en-MY" sz="1050">
                        <a:ln>
                          <a:noFill/>
                        </a:ln>
                        <a:solidFill>
                          <a:schemeClr val="tx1"/>
                        </a:solidFill>
                        <a:latin typeface="+mj-lt"/>
                      </a:endParaRPr>
                    </a:p>
                  </a:txBody>
                  <a:tcPr marL="0" marR="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050">
                          <a:ln>
                            <a:noFill/>
                          </a:ln>
                          <a:solidFill>
                            <a:schemeClr val="tx1"/>
                          </a:solidFill>
                          <a:latin typeface="+mj-lt"/>
                        </a:rPr>
                        <a:t>WK3</a:t>
                      </a:r>
                      <a:endParaRPr lang="en-MY" sz="1050">
                        <a:ln>
                          <a:noFill/>
                        </a:ln>
                        <a:solidFill>
                          <a:schemeClr val="tx1"/>
                        </a:solidFill>
                        <a:latin typeface="+mj-lt"/>
                      </a:endParaRPr>
                    </a:p>
                  </a:txBody>
                  <a:tcPr marL="0" marR="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050">
                          <a:ln>
                            <a:noFill/>
                          </a:ln>
                          <a:solidFill>
                            <a:schemeClr val="tx1"/>
                          </a:solidFill>
                          <a:latin typeface="+mj-lt"/>
                        </a:rPr>
                        <a:t>WK4/5</a:t>
                      </a:r>
                      <a:endParaRPr lang="en-MY" sz="1050">
                        <a:ln>
                          <a:noFill/>
                        </a:ln>
                        <a:solidFill>
                          <a:schemeClr val="tx1"/>
                        </a:solidFill>
                        <a:latin typeface="+mj-lt"/>
                      </a:endParaRPr>
                    </a:p>
                  </a:txBody>
                  <a:tcPr marL="0" marR="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050">
                          <a:ln>
                            <a:noFill/>
                          </a:ln>
                          <a:solidFill>
                            <a:schemeClr val="tx1"/>
                          </a:solidFill>
                          <a:latin typeface="+mj-lt"/>
                        </a:rPr>
                        <a:t>WK1</a:t>
                      </a:r>
                      <a:endParaRPr lang="en-MY" sz="1050">
                        <a:ln>
                          <a:noFill/>
                        </a:ln>
                        <a:solidFill>
                          <a:schemeClr val="tx1"/>
                        </a:solidFill>
                        <a:latin typeface="+mj-lt"/>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050">
                          <a:ln>
                            <a:noFill/>
                          </a:ln>
                          <a:solidFill>
                            <a:schemeClr val="tx1"/>
                          </a:solidFill>
                          <a:latin typeface="+mj-lt"/>
                        </a:rPr>
                        <a:t>WK2</a:t>
                      </a:r>
                      <a:endParaRPr lang="en-MY" sz="1050">
                        <a:ln>
                          <a:noFill/>
                        </a:ln>
                        <a:solidFill>
                          <a:schemeClr val="tx1"/>
                        </a:solidFill>
                        <a:latin typeface="+mj-lt"/>
                      </a:endParaRPr>
                    </a:p>
                  </a:txBody>
                  <a:tcPr marL="0" marR="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050">
                          <a:ln>
                            <a:noFill/>
                          </a:ln>
                          <a:solidFill>
                            <a:schemeClr val="tx1"/>
                          </a:solidFill>
                          <a:latin typeface="+mj-lt"/>
                        </a:rPr>
                        <a:t>WK3</a:t>
                      </a:r>
                      <a:endParaRPr lang="en-MY" sz="1050">
                        <a:ln>
                          <a:noFill/>
                        </a:ln>
                        <a:solidFill>
                          <a:schemeClr val="tx1"/>
                        </a:solidFill>
                        <a:latin typeface="+mj-lt"/>
                      </a:endParaRPr>
                    </a:p>
                  </a:txBody>
                  <a:tcPr marL="0" marR="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050">
                          <a:ln>
                            <a:noFill/>
                          </a:ln>
                          <a:solidFill>
                            <a:schemeClr val="tx1"/>
                          </a:solidFill>
                          <a:latin typeface="+mj-lt"/>
                        </a:rPr>
                        <a:t>WK4/5</a:t>
                      </a:r>
                      <a:endParaRPr lang="en-MY" sz="1050">
                        <a:ln>
                          <a:noFill/>
                        </a:ln>
                        <a:solidFill>
                          <a:schemeClr val="tx1"/>
                        </a:solidFill>
                        <a:latin typeface="+mj-lt"/>
                      </a:endParaRPr>
                    </a:p>
                  </a:txBody>
                  <a:tcPr marL="0" marR="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6740885"/>
                  </a:ext>
                </a:extLst>
              </a:tr>
              <a:tr h="359467">
                <a:tc>
                  <a:txBody>
                    <a:bodyPr/>
                    <a:lstStyle/>
                    <a:p>
                      <a:endParaRPr lang="en-MY">
                        <a:ln>
                          <a:noFill/>
                        </a:ln>
                        <a:solidFill>
                          <a:schemeClr val="tx1"/>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ln>
                          <a:noFill/>
                        </a:ln>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ln>
                          <a:noFill/>
                        </a:ln>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ln>
                          <a:noFill/>
                        </a:ln>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ln>
                          <a:noFill/>
                        </a:ln>
                        <a:solidFill>
                          <a:schemeClr val="tx1"/>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ln>
                          <a:noFill/>
                        </a:ln>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ln>
                          <a:noFill/>
                        </a:ln>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ln>
                          <a:noFill/>
                        </a:ln>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ln>
                          <a:noFill/>
                        </a:ln>
                        <a:solidFill>
                          <a:schemeClr val="tx1"/>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ln>
                          <a:noFill/>
                        </a:ln>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ln>
                          <a:noFill/>
                        </a:ln>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ln>
                          <a:noFill/>
                        </a:ln>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81735823"/>
                  </a:ext>
                </a:extLst>
              </a:tr>
              <a:tr h="359467">
                <a:tc>
                  <a:txBody>
                    <a:bodyPr/>
                    <a:lstStyle/>
                    <a:p>
                      <a:endParaRPr lang="en-MY">
                        <a:ln>
                          <a:noFill/>
                        </a:ln>
                        <a:solidFill>
                          <a:schemeClr val="tx1"/>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ln>
                          <a:noFill/>
                        </a:ln>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ln>
                          <a:noFill/>
                        </a:ln>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ln>
                          <a:noFill/>
                        </a:ln>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ln>
                          <a:noFill/>
                        </a:ln>
                        <a:solidFill>
                          <a:schemeClr val="tx1"/>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ln>
                          <a:noFill/>
                        </a:ln>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ln>
                          <a:noFill/>
                        </a:ln>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ln>
                          <a:noFill/>
                        </a:ln>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ln>
                          <a:noFill/>
                        </a:ln>
                        <a:solidFill>
                          <a:schemeClr val="tx1"/>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ln>
                          <a:noFill/>
                        </a:ln>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ln>
                          <a:noFill/>
                        </a:ln>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ln>
                          <a:noFill/>
                        </a:ln>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14635189"/>
                  </a:ext>
                </a:extLst>
              </a:tr>
              <a:tr h="359467">
                <a:tc>
                  <a:txBody>
                    <a:bodyPr/>
                    <a:lstStyle/>
                    <a:p>
                      <a:endParaRPr lang="en-MY">
                        <a:ln>
                          <a:noFill/>
                        </a:ln>
                        <a:solidFill>
                          <a:schemeClr val="tx1"/>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ln>
                          <a:noFill/>
                        </a:ln>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ln>
                          <a:noFill/>
                        </a:ln>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ln>
                          <a:noFill/>
                        </a:ln>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ln>
                          <a:noFill/>
                        </a:ln>
                        <a:solidFill>
                          <a:schemeClr val="tx1"/>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ln>
                          <a:noFill/>
                        </a:ln>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ln>
                          <a:noFill/>
                        </a:ln>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ln>
                          <a:noFill/>
                        </a:ln>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ln>
                          <a:noFill/>
                        </a:ln>
                        <a:solidFill>
                          <a:schemeClr val="tx1"/>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ln>
                          <a:noFill/>
                        </a:ln>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ln>
                          <a:noFill/>
                        </a:ln>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ln>
                          <a:noFill/>
                        </a:ln>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20089260"/>
                  </a:ext>
                </a:extLst>
              </a:tr>
              <a:tr h="359467">
                <a:tc>
                  <a:txBody>
                    <a:bodyPr/>
                    <a:lstStyle/>
                    <a:p>
                      <a:endParaRPr lang="en-MY">
                        <a:ln>
                          <a:noFill/>
                        </a:ln>
                        <a:solidFill>
                          <a:schemeClr val="tx1"/>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ln>
                          <a:noFill/>
                        </a:ln>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ln>
                          <a:noFill/>
                        </a:ln>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ln>
                          <a:noFill/>
                        </a:ln>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ln>
                          <a:noFill/>
                        </a:ln>
                        <a:solidFill>
                          <a:schemeClr val="tx1"/>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ln>
                          <a:noFill/>
                        </a:ln>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ln>
                          <a:noFill/>
                        </a:ln>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ln>
                          <a:noFill/>
                        </a:ln>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ln>
                          <a:noFill/>
                        </a:ln>
                        <a:solidFill>
                          <a:schemeClr val="tx1"/>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ln>
                          <a:noFill/>
                        </a:ln>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ln>
                          <a:noFill/>
                        </a:ln>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ln>
                          <a:noFill/>
                        </a:ln>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3751883"/>
                  </a:ext>
                </a:extLst>
              </a:tr>
            </a:tbl>
          </a:graphicData>
        </a:graphic>
      </p:graphicFrame>
      <p:sp>
        <p:nvSpPr>
          <p:cNvPr id="32" name="Rectangle: Rounded Corners 31">
            <a:extLst>
              <a:ext uri="{FF2B5EF4-FFF2-40B4-BE49-F238E27FC236}">
                <a16:creationId xmlns:a16="http://schemas.microsoft.com/office/drawing/2014/main" id="{447BE34B-CB51-4C97-30C2-C6B805555F66}"/>
              </a:ext>
            </a:extLst>
          </p:cNvPr>
          <p:cNvSpPr/>
          <p:nvPr/>
        </p:nvSpPr>
        <p:spPr>
          <a:xfrm>
            <a:off x="5252854" y="4909008"/>
            <a:ext cx="2089946" cy="324035"/>
          </a:xfrm>
          <a:prstGeom prst="roundRect">
            <a:avLst>
              <a:gd name="adj" fmla="val 4958"/>
            </a:avLst>
          </a:prstGeom>
          <a:solidFill>
            <a:srgbClr val="FFC000"/>
          </a:solidFill>
          <a:ln>
            <a:noFill/>
          </a:ln>
          <a:effectLst>
            <a:outerShdw blurRad="254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MY" sz="1100" b="0" i="0" u="none" strike="noStrike" kern="1200" cap="none" spc="0" normalizeH="0" baseline="0" noProof="0">
                <a:ln>
                  <a:noFill/>
                </a:ln>
                <a:solidFill>
                  <a:srgbClr val="FFFFFF"/>
                </a:solidFill>
                <a:effectLst/>
                <a:uLnTx/>
                <a:uFillTx/>
                <a:latin typeface="+mj-lt"/>
                <a:ea typeface="+mn-ea"/>
                <a:cs typeface="+mn-cs"/>
              </a:rPr>
              <a:t>Large +10</a:t>
            </a:r>
          </a:p>
        </p:txBody>
      </p:sp>
      <p:sp>
        <p:nvSpPr>
          <p:cNvPr id="33" name="Rectangle: Rounded Corners 32">
            <a:extLst>
              <a:ext uri="{FF2B5EF4-FFF2-40B4-BE49-F238E27FC236}">
                <a16:creationId xmlns:a16="http://schemas.microsoft.com/office/drawing/2014/main" id="{B417CA68-F8F7-5C62-8686-0501856FA8E2}"/>
              </a:ext>
            </a:extLst>
          </p:cNvPr>
          <p:cNvSpPr/>
          <p:nvPr/>
        </p:nvSpPr>
        <p:spPr>
          <a:xfrm>
            <a:off x="7449880" y="4909008"/>
            <a:ext cx="2089946" cy="324035"/>
          </a:xfrm>
          <a:prstGeom prst="roundRect">
            <a:avLst>
              <a:gd name="adj" fmla="val 4958"/>
            </a:avLst>
          </a:prstGeom>
          <a:solidFill>
            <a:srgbClr val="FFC000"/>
          </a:solidFill>
          <a:ln>
            <a:noFill/>
          </a:ln>
          <a:effectLst>
            <a:outerShdw blurRad="254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MY" sz="1100" b="0" i="0" u="none" strike="noStrike" kern="1200" cap="none" spc="0" normalizeH="0" baseline="0" noProof="0">
                <a:ln>
                  <a:noFill/>
                </a:ln>
                <a:solidFill>
                  <a:srgbClr val="FFFFFF"/>
                </a:solidFill>
                <a:effectLst/>
                <a:uLnTx/>
                <a:uFillTx/>
                <a:latin typeface="+mj-lt"/>
                <a:ea typeface="+mn-ea"/>
                <a:cs typeface="+mn-cs"/>
              </a:rPr>
              <a:t>Large +12</a:t>
            </a:r>
          </a:p>
        </p:txBody>
      </p:sp>
      <p:sp>
        <p:nvSpPr>
          <p:cNvPr id="36" name="Rectangle: Rounded Corners 35">
            <a:extLst>
              <a:ext uri="{FF2B5EF4-FFF2-40B4-BE49-F238E27FC236}">
                <a16:creationId xmlns:a16="http://schemas.microsoft.com/office/drawing/2014/main" id="{17D6DEFF-C95A-158B-436F-8BA0A1958A71}"/>
              </a:ext>
            </a:extLst>
          </p:cNvPr>
          <p:cNvSpPr/>
          <p:nvPr/>
        </p:nvSpPr>
        <p:spPr>
          <a:xfrm>
            <a:off x="8512629" y="5253714"/>
            <a:ext cx="3254813" cy="324035"/>
          </a:xfrm>
          <a:prstGeom prst="roundRect">
            <a:avLst>
              <a:gd name="adj" fmla="val 4958"/>
            </a:avLst>
          </a:prstGeom>
          <a:solidFill>
            <a:srgbClr val="FFC000"/>
          </a:solidFill>
          <a:ln>
            <a:noFill/>
          </a:ln>
          <a:effectLst>
            <a:outerShdw blurRad="254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MY" sz="1100" b="0" i="0" u="none" strike="noStrike" kern="1200" cap="none" spc="0" normalizeH="0" baseline="0" noProof="0">
                <a:ln>
                  <a:noFill/>
                </a:ln>
                <a:solidFill>
                  <a:srgbClr val="FFFFFF"/>
                </a:solidFill>
                <a:effectLst/>
                <a:uLnTx/>
                <a:uFillTx/>
                <a:latin typeface="+mj-lt"/>
                <a:ea typeface="+mn-ea"/>
                <a:cs typeface="+mn-cs"/>
              </a:rPr>
              <a:t>X-Large</a:t>
            </a:r>
          </a:p>
        </p:txBody>
      </p:sp>
      <p:sp>
        <p:nvSpPr>
          <p:cNvPr id="41" name="TextBox 40">
            <a:extLst>
              <a:ext uri="{FF2B5EF4-FFF2-40B4-BE49-F238E27FC236}">
                <a16:creationId xmlns:a16="http://schemas.microsoft.com/office/drawing/2014/main" id="{B3799C69-F7BF-2DAE-9F4A-3025A67BEC64}"/>
              </a:ext>
            </a:extLst>
          </p:cNvPr>
          <p:cNvSpPr txBox="1"/>
          <p:nvPr/>
        </p:nvSpPr>
        <p:spPr>
          <a:xfrm>
            <a:off x="3417420" y="2236431"/>
            <a:ext cx="1194454" cy="307777"/>
          </a:xfrm>
          <a:prstGeom prst="rect">
            <a:avLst/>
          </a:prstGeom>
          <a:noFill/>
        </p:spPr>
        <p:txBody>
          <a:bodyPr wrap="square" rtlCol="0">
            <a:spAutoFit/>
          </a:bodyPr>
          <a:lstStyle/>
          <a:p>
            <a:pPr algn="ctr"/>
            <a:r>
              <a:rPr lang="en-US" sz="1400">
                <a:latin typeface="+mj-lt"/>
              </a:rPr>
              <a:t>Location 1</a:t>
            </a:r>
          </a:p>
        </p:txBody>
      </p:sp>
      <p:sp>
        <p:nvSpPr>
          <p:cNvPr id="5" name="Rectangle: Rounded Corners 4">
            <a:extLst>
              <a:ext uri="{FF2B5EF4-FFF2-40B4-BE49-F238E27FC236}">
                <a16:creationId xmlns:a16="http://schemas.microsoft.com/office/drawing/2014/main" id="{120FD225-13DD-2280-E570-EB077BBD8CD5}"/>
              </a:ext>
            </a:extLst>
          </p:cNvPr>
          <p:cNvSpPr/>
          <p:nvPr/>
        </p:nvSpPr>
        <p:spPr>
          <a:xfrm>
            <a:off x="5226558" y="2222895"/>
            <a:ext cx="840334" cy="324035"/>
          </a:xfrm>
          <a:prstGeom prst="roundRect">
            <a:avLst>
              <a:gd name="adj" fmla="val 4958"/>
            </a:avLst>
          </a:prstGeom>
          <a:solidFill>
            <a:srgbClr val="002060"/>
          </a:solidFill>
          <a:ln>
            <a:noFill/>
          </a:ln>
          <a:effectLst>
            <a:outerShdw blurRad="254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MY" sz="1100" b="0" i="0" u="none" strike="noStrike" kern="1200" cap="none" spc="0" normalizeH="0" baseline="0" noProof="0">
                <a:ln>
                  <a:noFill/>
                </a:ln>
                <a:solidFill>
                  <a:srgbClr val="FFFFFF"/>
                </a:solidFill>
                <a:effectLst/>
                <a:uLnTx/>
                <a:uFillTx/>
                <a:latin typeface="+mj-lt"/>
                <a:ea typeface="+mn-ea"/>
                <a:cs typeface="+mn-cs"/>
              </a:rPr>
              <a:t>Small</a:t>
            </a:r>
            <a:r>
              <a:rPr lang="en-MY" sz="1100">
                <a:solidFill>
                  <a:srgbClr val="FFFFFF"/>
                </a:solidFill>
                <a:latin typeface="+mj-lt"/>
              </a:rPr>
              <a:t> +2</a:t>
            </a:r>
            <a:endParaRPr kumimoji="0" lang="en-MY" sz="1100" b="0" i="0" u="none" strike="noStrike" kern="1200" cap="none" spc="0" normalizeH="0" baseline="0" noProof="0">
              <a:ln>
                <a:noFill/>
              </a:ln>
              <a:solidFill>
                <a:srgbClr val="FFFFFF"/>
              </a:solidFill>
              <a:effectLst/>
              <a:uLnTx/>
              <a:uFillTx/>
              <a:latin typeface="+mj-lt"/>
              <a:ea typeface="+mn-ea"/>
              <a:cs typeface="+mn-cs"/>
            </a:endParaRPr>
          </a:p>
        </p:txBody>
      </p:sp>
      <p:sp>
        <p:nvSpPr>
          <p:cNvPr id="16" name="Rectangle: Rounded Corners 15">
            <a:extLst>
              <a:ext uri="{FF2B5EF4-FFF2-40B4-BE49-F238E27FC236}">
                <a16:creationId xmlns:a16="http://schemas.microsoft.com/office/drawing/2014/main" id="{9969AD7D-7F07-EAF6-3A24-A28ACC1F6B2F}"/>
              </a:ext>
            </a:extLst>
          </p:cNvPr>
          <p:cNvSpPr/>
          <p:nvPr/>
        </p:nvSpPr>
        <p:spPr>
          <a:xfrm>
            <a:off x="5859487" y="2590959"/>
            <a:ext cx="1025858" cy="324035"/>
          </a:xfrm>
          <a:prstGeom prst="roundRect">
            <a:avLst>
              <a:gd name="adj" fmla="val 4958"/>
            </a:avLst>
          </a:prstGeom>
          <a:solidFill>
            <a:srgbClr val="0070C0"/>
          </a:solidFill>
          <a:ln>
            <a:noFill/>
          </a:ln>
          <a:effectLst>
            <a:outerShdw blurRad="254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MY" sz="1100" b="0" i="0" u="none" strike="noStrike" kern="1200" cap="none" spc="0" normalizeH="0" baseline="0" noProof="0">
                <a:ln>
                  <a:noFill/>
                </a:ln>
                <a:solidFill>
                  <a:srgbClr val="FFFFFF"/>
                </a:solidFill>
                <a:effectLst/>
                <a:uLnTx/>
                <a:uFillTx/>
                <a:latin typeface="+mj-lt"/>
              </a:rPr>
              <a:t>Medium +5</a:t>
            </a:r>
          </a:p>
        </p:txBody>
      </p:sp>
      <p:sp>
        <p:nvSpPr>
          <p:cNvPr id="3" name="Rectangle: Rounded Corners 2">
            <a:extLst>
              <a:ext uri="{FF2B5EF4-FFF2-40B4-BE49-F238E27FC236}">
                <a16:creationId xmlns:a16="http://schemas.microsoft.com/office/drawing/2014/main" id="{6E2C1492-89B9-E102-11DF-DA0E0D8C7217}"/>
              </a:ext>
            </a:extLst>
          </p:cNvPr>
          <p:cNvSpPr/>
          <p:nvPr/>
        </p:nvSpPr>
        <p:spPr>
          <a:xfrm>
            <a:off x="8967223" y="2222894"/>
            <a:ext cx="1025858" cy="324035"/>
          </a:xfrm>
          <a:prstGeom prst="roundRect">
            <a:avLst>
              <a:gd name="adj" fmla="val 4958"/>
            </a:avLst>
          </a:prstGeom>
          <a:solidFill>
            <a:srgbClr val="0070C0"/>
          </a:solidFill>
          <a:ln>
            <a:noFill/>
          </a:ln>
          <a:effectLst>
            <a:outerShdw blurRad="254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MY" sz="1100" b="0" i="0" u="none" strike="noStrike" kern="1200" cap="none" spc="0" normalizeH="0" baseline="0" noProof="0">
                <a:ln>
                  <a:noFill/>
                </a:ln>
                <a:solidFill>
                  <a:srgbClr val="FFFFFF"/>
                </a:solidFill>
                <a:effectLst/>
                <a:uLnTx/>
                <a:uFillTx/>
                <a:latin typeface="+mj-lt"/>
                <a:ea typeface="+mn-ea"/>
                <a:cs typeface="+mn-cs"/>
              </a:rPr>
              <a:t>Medium +6</a:t>
            </a:r>
          </a:p>
        </p:txBody>
      </p:sp>
      <p:sp>
        <p:nvSpPr>
          <p:cNvPr id="9" name="Rectangle: Rounded Corners 8">
            <a:extLst>
              <a:ext uri="{FF2B5EF4-FFF2-40B4-BE49-F238E27FC236}">
                <a16:creationId xmlns:a16="http://schemas.microsoft.com/office/drawing/2014/main" id="{582FF811-9578-D010-D2E8-F97A10B6F3F5}"/>
              </a:ext>
            </a:extLst>
          </p:cNvPr>
          <p:cNvSpPr/>
          <p:nvPr/>
        </p:nvSpPr>
        <p:spPr>
          <a:xfrm>
            <a:off x="6709871" y="2933903"/>
            <a:ext cx="841248" cy="324035"/>
          </a:xfrm>
          <a:prstGeom prst="roundRect">
            <a:avLst>
              <a:gd name="adj" fmla="val 4958"/>
            </a:avLst>
          </a:prstGeom>
          <a:solidFill>
            <a:srgbClr val="002060"/>
          </a:solidFill>
          <a:ln>
            <a:noFill/>
          </a:ln>
          <a:effectLst>
            <a:outerShdw blurRad="254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MY" sz="1100" b="0" i="0" u="none" strike="noStrike" kern="1200" cap="none" spc="0" normalizeH="0" baseline="0" noProof="0">
                <a:ln>
                  <a:noFill/>
                </a:ln>
                <a:solidFill>
                  <a:srgbClr val="FFFFFF"/>
                </a:solidFill>
                <a:effectLst/>
                <a:uLnTx/>
                <a:uFillTx/>
                <a:latin typeface="+mj-lt"/>
                <a:ea typeface="+mn-ea"/>
                <a:cs typeface="+mn-cs"/>
              </a:rPr>
              <a:t>Small</a:t>
            </a:r>
          </a:p>
        </p:txBody>
      </p:sp>
      <p:sp>
        <p:nvSpPr>
          <p:cNvPr id="10" name="Rectangle: Rounded Corners 9">
            <a:extLst>
              <a:ext uri="{FF2B5EF4-FFF2-40B4-BE49-F238E27FC236}">
                <a16:creationId xmlns:a16="http://schemas.microsoft.com/office/drawing/2014/main" id="{9E82E9D4-E6F5-4447-4F9E-A2429E75010F}"/>
              </a:ext>
            </a:extLst>
          </p:cNvPr>
          <p:cNvSpPr/>
          <p:nvPr/>
        </p:nvSpPr>
        <p:spPr>
          <a:xfrm>
            <a:off x="6431633" y="2222895"/>
            <a:ext cx="2089946" cy="324035"/>
          </a:xfrm>
          <a:prstGeom prst="roundRect">
            <a:avLst>
              <a:gd name="adj" fmla="val 4958"/>
            </a:avLst>
          </a:prstGeom>
          <a:solidFill>
            <a:srgbClr val="FFC000"/>
          </a:solidFill>
          <a:ln>
            <a:noFill/>
          </a:ln>
          <a:effectLst>
            <a:outerShdw blurRad="254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MY" sz="1100" b="0" i="0" u="none" strike="noStrike" kern="1200" cap="none" spc="0" normalizeH="0" baseline="0" noProof="0">
                <a:ln>
                  <a:noFill/>
                </a:ln>
                <a:solidFill>
                  <a:srgbClr val="FFFFFF"/>
                </a:solidFill>
                <a:effectLst/>
                <a:uLnTx/>
                <a:uFillTx/>
                <a:latin typeface="+mj-lt"/>
                <a:ea typeface="+mn-ea"/>
                <a:cs typeface="+mn-cs"/>
              </a:rPr>
              <a:t>Large +10</a:t>
            </a:r>
          </a:p>
        </p:txBody>
      </p:sp>
      <p:sp>
        <p:nvSpPr>
          <p:cNvPr id="11" name="Rectangle: Rounded Corners 10">
            <a:extLst>
              <a:ext uri="{FF2B5EF4-FFF2-40B4-BE49-F238E27FC236}">
                <a16:creationId xmlns:a16="http://schemas.microsoft.com/office/drawing/2014/main" id="{0ADBE60C-73C8-FFC6-3445-00853F7B4D4C}"/>
              </a:ext>
            </a:extLst>
          </p:cNvPr>
          <p:cNvSpPr/>
          <p:nvPr/>
        </p:nvSpPr>
        <p:spPr>
          <a:xfrm>
            <a:off x="8521579" y="2590959"/>
            <a:ext cx="3254813" cy="324035"/>
          </a:xfrm>
          <a:prstGeom prst="roundRect">
            <a:avLst>
              <a:gd name="adj" fmla="val 4958"/>
            </a:avLst>
          </a:prstGeom>
          <a:solidFill>
            <a:srgbClr val="FFC000"/>
          </a:solidFill>
          <a:ln>
            <a:noFill/>
          </a:ln>
          <a:effectLst>
            <a:outerShdw blurRad="254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MY" sz="1100" b="0" i="0" u="none" strike="noStrike" kern="1200" cap="none" spc="0" normalizeH="0" baseline="0" noProof="0">
                <a:ln>
                  <a:noFill/>
                </a:ln>
                <a:solidFill>
                  <a:srgbClr val="FFFFFF"/>
                </a:solidFill>
                <a:effectLst/>
                <a:uLnTx/>
                <a:uFillTx/>
                <a:latin typeface="+mj-lt"/>
                <a:ea typeface="+mn-ea"/>
                <a:cs typeface="+mn-cs"/>
              </a:rPr>
              <a:t>X-Large</a:t>
            </a:r>
          </a:p>
        </p:txBody>
      </p:sp>
      <p:sp>
        <p:nvSpPr>
          <p:cNvPr id="13" name="Rectangle: Rounded Corners 12">
            <a:extLst>
              <a:ext uri="{FF2B5EF4-FFF2-40B4-BE49-F238E27FC236}">
                <a16:creationId xmlns:a16="http://schemas.microsoft.com/office/drawing/2014/main" id="{B68CA7E5-2E83-B5F1-A408-9BDB71B6CBE3}"/>
              </a:ext>
            </a:extLst>
          </p:cNvPr>
          <p:cNvSpPr/>
          <p:nvPr/>
        </p:nvSpPr>
        <p:spPr>
          <a:xfrm>
            <a:off x="7994386" y="2933903"/>
            <a:ext cx="841248" cy="324035"/>
          </a:xfrm>
          <a:prstGeom prst="roundRect">
            <a:avLst>
              <a:gd name="adj" fmla="val 4958"/>
            </a:avLst>
          </a:prstGeom>
          <a:solidFill>
            <a:srgbClr val="002060"/>
          </a:solidFill>
          <a:ln>
            <a:noFill/>
          </a:ln>
          <a:effectLst>
            <a:outerShdw blurRad="254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MY" sz="1100" b="0" i="0" u="none" strike="noStrike" kern="1200" cap="none" spc="0" normalizeH="0" baseline="0" noProof="0" dirty="0">
                <a:ln>
                  <a:noFill/>
                </a:ln>
                <a:solidFill>
                  <a:srgbClr val="FFFFFF"/>
                </a:solidFill>
                <a:effectLst/>
                <a:uLnTx/>
                <a:uFillTx/>
                <a:latin typeface="+mj-lt"/>
                <a:ea typeface="+mn-ea"/>
                <a:cs typeface="+mn-cs"/>
              </a:rPr>
              <a:t>Small + 3</a:t>
            </a:r>
          </a:p>
        </p:txBody>
      </p:sp>
      <p:sp>
        <p:nvSpPr>
          <p:cNvPr id="14" name="Rectangle: Rounded Corners 13">
            <a:extLst>
              <a:ext uri="{FF2B5EF4-FFF2-40B4-BE49-F238E27FC236}">
                <a16:creationId xmlns:a16="http://schemas.microsoft.com/office/drawing/2014/main" id="{85F9B5B9-5012-77A3-711D-714B3B362652}"/>
              </a:ext>
            </a:extLst>
          </p:cNvPr>
          <p:cNvSpPr/>
          <p:nvPr/>
        </p:nvSpPr>
        <p:spPr>
          <a:xfrm>
            <a:off x="10465443" y="2933903"/>
            <a:ext cx="841248" cy="324035"/>
          </a:xfrm>
          <a:prstGeom prst="roundRect">
            <a:avLst>
              <a:gd name="adj" fmla="val 4958"/>
            </a:avLst>
          </a:prstGeom>
          <a:solidFill>
            <a:srgbClr val="002060"/>
          </a:solidFill>
          <a:ln>
            <a:noFill/>
          </a:ln>
          <a:effectLst>
            <a:outerShdw blurRad="254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MY" sz="1100" b="0" i="0" u="none" strike="noStrike" kern="1200" cap="none" spc="0" normalizeH="0" baseline="0" noProof="0">
                <a:ln>
                  <a:noFill/>
                </a:ln>
                <a:solidFill>
                  <a:srgbClr val="FFFFFF"/>
                </a:solidFill>
                <a:effectLst/>
                <a:uLnTx/>
                <a:uFillTx/>
                <a:latin typeface="+mj-lt"/>
                <a:ea typeface="+mn-ea"/>
                <a:cs typeface="+mn-cs"/>
              </a:rPr>
              <a:t>Small</a:t>
            </a:r>
          </a:p>
        </p:txBody>
      </p:sp>
      <p:sp>
        <p:nvSpPr>
          <p:cNvPr id="19" name="TextBox 18">
            <a:extLst>
              <a:ext uri="{FF2B5EF4-FFF2-40B4-BE49-F238E27FC236}">
                <a16:creationId xmlns:a16="http://schemas.microsoft.com/office/drawing/2014/main" id="{AC8DADD7-BC2E-B7C8-99DB-26BAC672DC70}"/>
              </a:ext>
            </a:extLst>
          </p:cNvPr>
          <p:cNvSpPr txBox="1"/>
          <p:nvPr/>
        </p:nvSpPr>
        <p:spPr>
          <a:xfrm>
            <a:off x="3417420" y="2609199"/>
            <a:ext cx="1194454" cy="307777"/>
          </a:xfrm>
          <a:prstGeom prst="rect">
            <a:avLst/>
          </a:prstGeom>
          <a:noFill/>
        </p:spPr>
        <p:txBody>
          <a:bodyPr wrap="square" rtlCol="0">
            <a:spAutoFit/>
          </a:bodyPr>
          <a:lstStyle/>
          <a:p>
            <a:pPr algn="ctr"/>
            <a:r>
              <a:rPr lang="en-US" sz="1400">
                <a:latin typeface="+mj-lt"/>
              </a:rPr>
              <a:t>Location 2</a:t>
            </a:r>
          </a:p>
        </p:txBody>
      </p:sp>
      <p:sp>
        <p:nvSpPr>
          <p:cNvPr id="20" name="TextBox 19">
            <a:extLst>
              <a:ext uri="{FF2B5EF4-FFF2-40B4-BE49-F238E27FC236}">
                <a16:creationId xmlns:a16="http://schemas.microsoft.com/office/drawing/2014/main" id="{C26B805F-BB97-8695-3139-08B37235541A}"/>
              </a:ext>
            </a:extLst>
          </p:cNvPr>
          <p:cNvSpPr txBox="1"/>
          <p:nvPr/>
        </p:nvSpPr>
        <p:spPr>
          <a:xfrm>
            <a:off x="3417420" y="2957053"/>
            <a:ext cx="1194454" cy="307777"/>
          </a:xfrm>
          <a:prstGeom prst="rect">
            <a:avLst/>
          </a:prstGeom>
          <a:noFill/>
        </p:spPr>
        <p:txBody>
          <a:bodyPr wrap="square" rtlCol="0">
            <a:spAutoFit/>
          </a:bodyPr>
          <a:lstStyle/>
          <a:p>
            <a:pPr algn="ctr"/>
            <a:r>
              <a:rPr lang="en-US" sz="1400">
                <a:latin typeface="+mj-lt"/>
              </a:rPr>
              <a:t>Location 3</a:t>
            </a:r>
          </a:p>
        </p:txBody>
      </p:sp>
      <p:grpSp>
        <p:nvGrpSpPr>
          <p:cNvPr id="24" name="Group 23">
            <a:extLst>
              <a:ext uri="{FF2B5EF4-FFF2-40B4-BE49-F238E27FC236}">
                <a16:creationId xmlns:a16="http://schemas.microsoft.com/office/drawing/2014/main" id="{AEAFDD62-A1A6-3E3C-D183-3D249D5D3F96}"/>
              </a:ext>
            </a:extLst>
          </p:cNvPr>
          <p:cNvGrpSpPr/>
          <p:nvPr/>
        </p:nvGrpSpPr>
        <p:grpSpPr>
          <a:xfrm>
            <a:off x="3384761" y="4925201"/>
            <a:ext cx="1194454" cy="1028399"/>
            <a:chOff x="3569820" y="2388831"/>
            <a:chExt cx="1194454" cy="1028399"/>
          </a:xfrm>
        </p:grpSpPr>
        <p:sp>
          <p:nvSpPr>
            <p:cNvPr id="21" name="TextBox 20">
              <a:extLst>
                <a:ext uri="{FF2B5EF4-FFF2-40B4-BE49-F238E27FC236}">
                  <a16:creationId xmlns:a16="http://schemas.microsoft.com/office/drawing/2014/main" id="{432D8A17-20BF-9CCD-D3C3-1FD720C0B153}"/>
                </a:ext>
              </a:extLst>
            </p:cNvPr>
            <p:cNvSpPr txBox="1"/>
            <p:nvPr/>
          </p:nvSpPr>
          <p:spPr>
            <a:xfrm>
              <a:off x="3569820" y="2388831"/>
              <a:ext cx="1194454" cy="307777"/>
            </a:xfrm>
            <a:prstGeom prst="rect">
              <a:avLst/>
            </a:prstGeom>
            <a:noFill/>
          </p:spPr>
          <p:txBody>
            <a:bodyPr wrap="square" rtlCol="0">
              <a:spAutoFit/>
            </a:bodyPr>
            <a:lstStyle/>
            <a:p>
              <a:pPr algn="ctr"/>
              <a:r>
                <a:rPr lang="en-US" sz="1400">
                  <a:latin typeface="+mj-lt"/>
                </a:rPr>
                <a:t>Location 1</a:t>
              </a:r>
            </a:p>
          </p:txBody>
        </p:sp>
        <p:sp>
          <p:nvSpPr>
            <p:cNvPr id="22" name="TextBox 21">
              <a:extLst>
                <a:ext uri="{FF2B5EF4-FFF2-40B4-BE49-F238E27FC236}">
                  <a16:creationId xmlns:a16="http://schemas.microsoft.com/office/drawing/2014/main" id="{49AE2F7A-712A-3DF0-D4FE-536D18293906}"/>
                </a:ext>
              </a:extLst>
            </p:cNvPr>
            <p:cNvSpPr txBox="1"/>
            <p:nvPr/>
          </p:nvSpPr>
          <p:spPr>
            <a:xfrm>
              <a:off x="3569820" y="2761599"/>
              <a:ext cx="1194454" cy="307777"/>
            </a:xfrm>
            <a:prstGeom prst="rect">
              <a:avLst/>
            </a:prstGeom>
            <a:noFill/>
          </p:spPr>
          <p:txBody>
            <a:bodyPr wrap="square" rtlCol="0">
              <a:spAutoFit/>
            </a:bodyPr>
            <a:lstStyle/>
            <a:p>
              <a:pPr algn="ctr"/>
              <a:r>
                <a:rPr lang="en-US" sz="1400">
                  <a:latin typeface="+mj-lt"/>
                </a:rPr>
                <a:t>Location 2</a:t>
              </a:r>
            </a:p>
          </p:txBody>
        </p:sp>
        <p:sp>
          <p:nvSpPr>
            <p:cNvPr id="23" name="TextBox 22">
              <a:extLst>
                <a:ext uri="{FF2B5EF4-FFF2-40B4-BE49-F238E27FC236}">
                  <a16:creationId xmlns:a16="http://schemas.microsoft.com/office/drawing/2014/main" id="{184C0078-37D9-AFDA-669E-51B117F75EAE}"/>
                </a:ext>
              </a:extLst>
            </p:cNvPr>
            <p:cNvSpPr txBox="1"/>
            <p:nvPr/>
          </p:nvSpPr>
          <p:spPr>
            <a:xfrm>
              <a:off x="3569820" y="3109453"/>
              <a:ext cx="1194454" cy="307777"/>
            </a:xfrm>
            <a:prstGeom prst="rect">
              <a:avLst/>
            </a:prstGeom>
            <a:noFill/>
          </p:spPr>
          <p:txBody>
            <a:bodyPr wrap="square" rtlCol="0">
              <a:spAutoFit/>
            </a:bodyPr>
            <a:lstStyle/>
            <a:p>
              <a:pPr algn="ctr"/>
              <a:r>
                <a:rPr lang="en-US" sz="1400">
                  <a:latin typeface="+mj-lt"/>
                </a:rPr>
                <a:t>Location 3</a:t>
              </a:r>
            </a:p>
          </p:txBody>
        </p:sp>
      </p:grpSp>
      <p:sp>
        <p:nvSpPr>
          <p:cNvPr id="25" name="TextBox 24">
            <a:extLst>
              <a:ext uri="{FF2B5EF4-FFF2-40B4-BE49-F238E27FC236}">
                <a16:creationId xmlns:a16="http://schemas.microsoft.com/office/drawing/2014/main" id="{AA5D2A48-F389-28CE-17C7-EB7D9E9DA87F}"/>
              </a:ext>
            </a:extLst>
          </p:cNvPr>
          <p:cNvSpPr txBox="1"/>
          <p:nvPr/>
        </p:nvSpPr>
        <p:spPr>
          <a:xfrm>
            <a:off x="316952" y="1646376"/>
            <a:ext cx="2700349" cy="5047536"/>
          </a:xfrm>
          <a:prstGeom prst="rect">
            <a:avLst/>
          </a:prstGeom>
          <a:solidFill>
            <a:schemeClr val="accent1"/>
          </a:solidFill>
        </p:spPr>
        <p:txBody>
          <a:bodyPr wrap="square" rtlCol="0">
            <a:spAutoFit/>
          </a:bodyPr>
          <a:lstStyle/>
          <a:p>
            <a:r>
              <a:rPr lang="en-US" sz="1400" dirty="0">
                <a:solidFill>
                  <a:schemeClr val="bg1"/>
                </a:solidFill>
                <a:latin typeface="+mj-lt"/>
                <a:cs typeface="Arial" panose="020B0604020202020204" pitchFamily="34" charset="0"/>
              </a:rPr>
              <a:t>High LOE tests are important </a:t>
            </a:r>
            <a:r>
              <a:rPr lang="en-US" sz="1400" b="1" dirty="0">
                <a:solidFill>
                  <a:schemeClr val="bg1"/>
                </a:solidFill>
                <a:latin typeface="+mj-lt"/>
                <a:cs typeface="Arial" panose="020B0604020202020204" pitchFamily="34" charset="0"/>
              </a:rPr>
              <a:t>BUT </a:t>
            </a:r>
            <a:r>
              <a:rPr lang="en-US" sz="1400" dirty="0">
                <a:solidFill>
                  <a:schemeClr val="bg1"/>
                </a:solidFill>
                <a:latin typeface="+mj-lt"/>
                <a:cs typeface="Arial" panose="020B0604020202020204" pitchFamily="34" charset="0"/>
              </a:rPr>
              <a:t>limiting yourself to them:</a:t>
            </a:r>
          </a:p>
          <a:p>
            <a:pPr marL="342900" indent="-342900">
              <a:buFont typeface="+mj-lt"/>
              <a:buAutoNum type="arabicPeriod"/>
            </a:pPr>
            <a:endParaRPr lang="en-US" sz="1400" dirty="0">
              <a:solidFill>
                <a:schemeClr val="bg1"/>
              </a:solidFill>
              <a:latin typeface="+mj-lt"/>
              <a:cs typeface="Arial" panose="020B0604020202020204" pitchFamily="34" charset="0"/>
            </a:endParaRPr>
          </a:p>
          <a:p>
            <a:pPr marL="342900" indent="-342900">
              <a:buFont typeface="+mj-lt"/>
              <a:buAutoNum type="arabicPeriod"/>
            </a:pPr>
            <a:r>
              <a:rPr lang="en-US" sz="1400" dirty="0">
                <a:solidFill>
                  <a:schemeClr val="bg1"/>
                </a:solidFill>
                <a:latin typeface="+mj-lt"/>
                <a:cs typeface="Arial" panose="020B0604020202020204" pitchFamily="34" charset="0"/>
              </a:rPr>
              <a:t>Limits testing locations and volume – less wholistic optimization approach </a:t>
            </a:r>
          </a:p>
          <a:p>
            <a:pPr marL="342900" indent="-342900">
              <a:buFont typeface="+mj-lt"/>
              <a:buAutoNum type="arabicPeriod"/>
            </a:pPr>
            <a:endParaRPr lang="en-US" sz="1400" dirty="0">
              <a:solidFill>
                <a:schemeClr val="bg1"/>
              </a:solidFill>
              <a:latin typeface="+mj-lt"/>
              <a:cs typeface="Arial" panose="020B0604020202020204" pitchFamily="34" charset="0"/>
            </a:endParaRPr>
          </a:p>
          <a:p>
            <a:pPr marL="342900" indent="-342900">
              <a:buFont typeface="+mj-lt"/>
              <a:buAutoNum type="arabicPeriod"/>
            </a:pPr>
            <a:r>
              <a:rPr lang="en-US" sz="1400" dirty="0">
                <a:solidFill>
                  <a:schemeClr val="bg1"/>
                </a:solidFill>
                <a:latin typeface="+mj-lt"/>
                <a:cs typeface="Arial" panose="020B0604020202020204" pitchFamily="34" charset="0"/>
              </a:rPr>
              <a:t>Creates ROI risk – a few bad tests in a row can ruin your year</a:t>
            </a:r>
          </a:p>
          <a:p>
            <a:pPr marL="342900" indent="-342900">
              <a:buFont typeface="+mj-lt"/>
              <a:buAutoNum type="arabicPeriod"/>
            </a:pPr>
            <a:endParaRPr lang="en-US" sz="1400" dirty="0">
              <a:solidFill>
                <a:schemeClr val="bg1"/>
              </a:solidFill>
              <a:latin typeface="+mj-lt"/>
              <a:cs typeface="Arial" panose="020B0604020202020204" pitchFamily="34" charset="0"/>
            </a:endParaRPr>
          </a:p>
          <a:p>
            <a:pPr marL="342900" indent="-342900">
              <a:buFont typeface="+mj-lt"/>
              <a:buAutoNum type="arabicPeriod"/>
            </a:pPr>
            <a:r>
              <a:rPr lang="en-US" sz="1400" dirty="0">
                <a:solidFill>
                  <a:schemeClr val="bg1"/>
                </a:solidFill>
                <a:latin typeface="+mj-lt"/>
                <a:cs typeface="Arial" panose="020B0604020202020204" pitchFamily="34" charset="0"/>
              </a:rPr>
              <a:t>Reduces impact potential – XL tests have high impact but also create opportunities for S and M sized tests to refine new experiences. In aggregate, these small tests can achieve equal, or even greater value</a:t>
            </a:r>
          </a:p>
        </p:txBody>
      </p:sp>
    </p:spTree>
    <p:extLst>
      <p:ext uri="{BB962C8B-B14F-4D97-AF65-F5344CB8AC3E}">
        <p14:creationId xmlns:p14="http://schemas.microsoft.com/office/powerpoint/2010/main" val="3754567824"/>
      </p:ext>
    </p:extLst>
  </p:cSld>
  <p:clrMapOvr>
    <a:masterClrMapping/>
  </p:clrMapOvr>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41749F-D36B-3911-7983-D0CA4CABDD8E}"/>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F6B6FE12-1187-C1BA-162D-CDD8523C98A7}"/>
              </a:ext>
            </a:extLst>
          </p:cNvPr>
          <p:cNvSpPr txBox="1"/>
          <p:nvPr/>
        </p:nvSpPr>
        <p:spPr>
          <a:xfrm>
            <a:off x="843490" y="1968569"/>
            <a:ext cx="4556535" cy="2857064"/>
          </a:xfrm>
          <a:prstGeom prst="rect">
            <a:avLst/>
          </a:prstGeom>
          <a:noFill/>
        </p:spPr>
        <p:txBody>
          <a:bodyPr wrap="square" rtlCol="0" anchor="ctr">
            <a:spAutoFit/>
          </a:bodyPr>
          <a:lstStyle/>
          <a:p>
            <a:pPr>
              <a:lnSpc>
                <a:spcPct val="95000"/>
              </a:lnSpc>
              <a:spcBef>
                <a:spcPct val="0"/>
              </a:spcBef>
              <a:defRPr/>
            </a:pPr>
            <a:r>
              <a:rPr lang="en-US" sz="3200" b="1" dirty="0">
                <a:solidFill>
                  <a:schemeClr val="accent1"/>
                </a:solidFill>
                <a:latin typeface="+mj-lt"/>
                <a:ea typeface="+mj-ea"/>
                <a:cs typeface="+mj-cs"/>
              </a:rPr>
              <a:t>How to maximize </a:t>
            </a:r>
          </a:p>
          <a:p>
            <a:pPr>
              <a:lnSpc>
                <a:spcPct val="95000"/>
              </a:lnSpc>
              <a:spcBef>
                <a:spcPct val="0"/>
              </a:spcBef>
              <a:defRPr/>
            </a:pPr>
            <a:r>
              <a:rPr lang="en-US" sz="3200" b="1" dirty="0">
                <a:solidFill>
                  <a:schemeClr val="accent1"/>
                </a:solidFill>
                <a:latin typeface="+mj-lt"/>
                <a:ea typeface="+mj-ea"/>
                <a:cs typeface="+mj-cs"/>
              </a:rPr>
              <a:t>X-small test ROI</a:t>
            </a:r>
          </a:p>
          <a:p>
            <a:pPr marL="342900" indent="-342900">
              <a:lnSpc>
                <a:spcPct val="112000"/>
              </a:lnSpc>
              <a:spcBef>
                <a:spcPts val="1200"/>
              </a:spcBef>
              <a:buAutoNum type="arabicPeriod"/>
              <a:defRPr/>
            </a:pPr>
            <a:r>
              <a:rPr lang="en-US" sz="1600" dirty="0">
                <a:latin typeface="+mj-lt"/>
              </a:rPr>
              <a:t>Reduce alignment &amp; execution steps to only QA link alignment</a:t>
            </a:r>
          </a:p>
          <a:p>
            <a:pPr marL="342900" indent="-342900">
              <a:lnSpc>
                <a:spcPct val="112000"/>
              </a:lnSpc>
              <a:spcBef>
                <a:spcPts val="1200"/>
              </a:spcBef>
              <a:buAutoNum type="arabicPeriod"/>
              <a:defRPr/>
            </a:pPr>
            <a:r>
              <a:rPr lang="en-US" sz="1600" dirty="0">
                <a:latin typeface="+mj-lt"/>
              </a:rPr>
              <a:t>Up front alignment on low-risk test parameters</a:t>
            </a:r>
          </a:p>
          <a:p>
            <a:pPr marL="342900" indent="-342900">
              <a:lnSpc>
                <a:spcPct val="112000"/>
              </a:lnSpc>
              <a:spcBef>
                <a:spcPts val="1200"/>
              </a:spcBef>
              <a:buAutoNum type="arabicPeriod"/>
              <a:defRPr/>
            </a:pPr>
            <a:endParaRPr lang="en-US" sz="1600" dirty="0">
              <a:latin typeface="+mj-lt"/>
            </a:endParaRPr>
          </a:p>
        </p:txBody>
      </p:sp>
      <p:graphicFrame>
        <p:nvGraphicFramePr>
          <p:cNvPr id="2" name="Chart 1">
            <a:extLst>
              <a:ext uri="{FF2B5EF4-FFF2-40B4-BE49-F238E27FC236}">
                <a16:creationId xmlns:a16="http://schemas.microsoft.com/office/drawing/2014/main" id="{48EBB8C6-B49E-5D1D-114E-CC4EDBB2D91D}"/>
              </a:ext>
            </a:extLst>
          </p:cNvPr>
          <p:cNvGraphicFramePr>
            <a:graphicFrameLocks/>
          </p:cNvGraphicFramePr>
          <p:nvPr>
            <p:extLst>
              <p:ext uri="{D42A27DB-BD31-4B8C-83A1-F6EECF244321}">
                <p14:modId xmlns:p14="http://schemas.microsoft.com/office/powerpoint/2010/main" val="2769313084"/>
              </p:ext>
            </p:extLst>
          </p:nvPr>
        </p:nvGraphicFramePr>
        <p:xfrm>
          <a:off x="6795867" y="1726440"/>
          <a:ext cx="4552643" cy="3405117"/>
        </p:xfrm>
        <a:graphic>
          <a:graphicData uri="http://schemas.openxmlformats.org/drawingml/2006/chart">
            <c:chart xmlns:c="http://schemas.openxmlformats.org/drawingml/2006/chart" xmlns:r="http://schemas.openxmlformats.org/officeDocument/2006/relationships" r:id="rId2"/>
          </a:graphicData>
        </a:graphic>
      </p:graphicFrame>
      <p:sp>
        <p:nvSpPr>
          <p:cNvPr id="4" name="Oval 3">
            <a:extLst>
              <a:ext uri="{FF2B5EF4-FFF2-40B4-BE49-F238E27FC236}">
                <a16:creationId xmlns:a16="http://schemas.microsoft.com/office/drawing/2014/main" id="{233C9E74-0C13-EC7D-3D93-23AD019AE861}"/>
              </a:ext>
            </a:extLst>
          </p:cNvPr>
          <p:cNvSpPr/>
          <p:nvPr/>
        </p:nvSpPr>
        <p:spPr>
          <a:xfrm>
            <a:off x="8829961" y="4254655"/>
            <a:ext cx="177557" cy="174529"/>
          </a:xfrm>
          <a:prstGeom prst="ellipse">
            <a:avLst/>
          </a:prstGeom>
          <a:solidFill>
            <a:srgbClr val="7030A0"/>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US" dirty="0" err="1"/>
          </a:p>
        </p:txBody>
      </p:sp>
      <p:sp>
        <p:nvSpPr>
          <p:cNvPr id="5" name="Oval 4">
            <a:extLst>
              <a:ext uri="{FF2B5EF4-FFF2-40B4-BE49-F238E27FC236}">
                <a16:creationId xmlns:a16="http://schemas.microsoft.com/office/drawing/2014/main" id="{AF03C3DB-DBF7-4039-8A1A-22A0F495946A}"/>
              </a:ext>
            </a:extLst>
          </p:cNvPr>
          <p:cNvSpPr/>
          <p:nvPr/>
        </p:nvSpPr>
        <p:spPr>
          <a:xfrm>
            <a:off x="7491092" y="4254655"/>
            <a:ext cx="177557" cy="174529"/>
          </a:xfrm>
          <a:prstGeom prst="ellipse">
            <a:avLst/>
          </a:prstGeom>
          <a:solidFill>
            <a:schemeClr val="accent2"/>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US" dirty="0" err="1"/>
          </a:p>
        </p:txBody>
      </p:sp>
      <p:cxnSp>
        <p:nvCxnSpPr>
          <p:cNvPr id="7" name="Straight Arrow Connector 6">
            <a:extLst>
              <a:ext uri="{FF2B5EF4-FFF2-40B4-BE49-F238E27FC236}">
                <a16:creationId xmlns:a16="http://schemas.microsoft.com/office/drawing/2014/main" id="{612A8BEE-F2D4-65DB-BB69-160B5D829524}"/>
              </a:ext>
            </a:extLst>
          </p:cNvPr>
          <p:cNvCxnSpPr>
            <a:cxnSpLocks/>
            <a:stCxn id="4" idx="2"/>
            <a:endCxn id="5" idx="6"/>
          </p:cNvCxnSpPr>
          <p:nvPr/>
        </p:nvCxnSpPr>
        <p:spPr>
          <a:xfrm flipH="1">
            <a:off x="7668649" y="4341920"/>
            <a:ext cx="1161312" cy="0"/>
          </a:xfrm>
          <a:prstGeom prst="straightConnector1">
            <a:avLst/>
          </a:prstGeom>
          <a:ln w="38100" cap="rnd">
            <a:solidFill>
              <a:schemeClr val="accent2"/>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FFDA258C-3E88-3AC9-3173-603F2D64F379}"/>
              </a:ext>
            </a:extLst>
          </p:cNvPr>
          <p:cNvSpPr/>
          <p:nvPr/>
        </p:nvSpPr>
        <p:spPr>
          <a:xfrm>
            <a:off x="8829960" y="3552282"/>
            <a:ext cx="177557" cy="174529"/>
          </a:xfrm>
          <a:prstGeom prst="ellipse">
            <a:avLst/>
          </a:prstGeom>
          <a:solidFill>
            <a:schemeClr val="accent2"/>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US" dirty="0" err="1"/>
          </a:p>
        </p:txBody>
      </p:sp>
    </p:spTree>
    <p:extLst>
      <p:ext uri="{BB962C8B-B14F-4D97-AF65-F5344CB8AC3E}">
        <p14:creationId xmlns:p14="http://schemas.microsoft.com/office/powerpoint/2010/main" val="14598206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C966BCE-E18F-2C08-E504-288A66F62C2E}"/>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EEEFA95B-1222-4EEA-2D07-94EC1234D79D}"/>
              </a:ext>
            </a:extLst>
          </p:cNvPr>
          <p:cNvSpPr txBox="1">
            <a:spLocks/>
          </p:cNvSpPr>
          <p:nvPr/>
        </p:nvSpPr>
        <p:spPr>
          <a:xfrm>
            <a:off x="699713" y="248038"/>
            <a:ext cx="7063721" cy="1159200"/>
          </a:xfrm>
          <a:prstGeom prst="rect">
            <a:avLst/>
          </a:prstGeom>
        </p:spPr>
        <p:txBody>
          <a:bodyPr vert="horz" lIns="91440" tIns="45720" rIns="91440" bIns="45720" rtlCol="0" anchor="ctr">
            <a:normAutofit/>
          </a:bodyPr>
          <a:lstStyle>
            <a:lvl1pPr algn="l" defTabSz="914377" rtl="0" eaLnBrk="1" latinLnBrk="0" hangingPunct="1">
              <a:lnSpc>
                <a:spcPct val="95000"/>
              </a:lnSpc>
              <a:spcBef>
                <a:spcPct val="0"/>
              </a:spcBef>
              <a:buNone/>
              <a:defRPr sz="3200" b="1" kern="1200">
                <a:solidFill>
                  <a:schemeClr val="accent4"/>
                </a:solidFill>
                <a:latin typeface="Poppins" panose="00000500000000000000" pitchFamily="2" charset="0"/>
                <a:ea typeface="+mj-ea"/>
                <a:cs typeface="Poppins" panose="00000500000000000000" pitchFamily="2" charset="0"/>
              </a:defRPr>
            </a:lvl1pPr>
          </a:lstStyle>
          <a:p>
            <a:pPr defTabSz="914400">
              <a:lnSpc>
                <a:spcPct val="90000"/>
              </a:lnSpc>
              <a:spcAft>
                <a:spcPts val="600"/>
              </a:spcAft>
            </a:pPr>
            <a:r>
              <a:rPr lang="en-US" sz="2200" b="0" kern="1200" dirty="0">
                <a:solidFill>
                  <a:srgbClr val="FFFFFF"/>
                </a:solidFill>
                <a:latin typeface="+mj-lt"/>
                <a:ea typeface="+mj-ea"/>
                <a:cs typeface="+mj-cs"/>
              </a:rPr>
              <a:t>Limiting alignment to only the QA link, enables </a:t>
            </a:r>
            <a:r>
              <a:rPr lang="en-US" sz="2200" kern="1200" dirty="0">
                <a:solidFill>
                  <a:srgbClr val="FFFFFF"/>
                </a:solidFill>
                <a:latin typeface="+mj-lt"/>
                <a:ea typeface="+mj-ea"/>
                <a:cs typeface="+mj-cs"/>
              </a:rPr>
              <a:t>fast delivery</a:t>
            </a:r>
            <a:r>
              <a:rPr lang="en-US" sz="2200" b="0" kern="1200" dirty="0">
                <a:solidFill>
                  <a:srgbClr val="FFFFFF"/>
                </a:solidFill>
                <a:latin typeface="+mj-lt"/>
                <a:ea typeface="+mj-ea"/>
                <a:cs typeface="+mj-cs"/>
              </a:rPr>
              <a:t> </a:t>
            </a:r>
            <a:r>
              <a:rPr lang="en-US" sz="2200" kern="1200" dirty="0">
                <a:solidFill>
                  <a:srgbClr val="FFFFFF"/>
                </a:solidFill>
                <a:latin typeface="+mj-lt"/>
                <a:ea typeface="+mj-ea"/>
                <a:cs typeface="+mj-cs"/>
              </a:rPr>
              <a:t>while maintaining [Client] control</a:t>
            </a:r>
            <a:r>
              <a:rPr lang="en-US" sz="2200" b="0" kern="1200" dirty="0">
                <a:solidFill>
                  <a:srgbClr val="FFFFFF"/>
                </a:solidFill>
                <a:latin typeface="+mj-lt"/>
                <a:ea typeface="+mj-ea"/>
                <a:cs typeface="+mj-cs"/>
              </a:rPr>
              <a:t> over all tests that reach consumers</a:t>
            </a:r>
          </a:p>
        </p:txBody>
      </p:sp>
      <p:graphicFrame>
        <p:nvGraphicFramePr>
          <p:cNvPr id="2" name="Table 1">
            <a:extLst>
              <a:ext uri="{FF2B5EF4-FFF2-40B4-BE49-F238E27FC236}">
                <a16:creationId xmlns:a16="http://schemas.microsoft.com/office/drawing/2014/main" id="{0C9E0FB6-B477-316F-6B64-05EF8FAEA08B}"/>
              </a:ext>
            </a:extLst>
          </p:cNvPr>
          <p:cNvGraphicFramePr>
            <a:graphicFrameLocks noGrp="1"/>
          </p:cNvGraphicFramePr>
          <p:nvPr>
            <p:extLst>
              <p:ext uri="{D42A27DB-BD31-4B8C-83A1-F6EECF244321}">
                <p14:modId xmlns:p14="http://schemas.microsoft.com/office/powerpoint/2010/main" val="1878357830"/>
              </p:ext>
            </p:extLst>
          </p:nvPr>
        </p:nvGraphicFramePr>
        <p:xfrm>
          <a:off x="731994" y="1966293"/>
          <a:ext cx="10728012" cy="4452164"/>
        </p:xfrm>
        <a:graphic>
          <a:graphicData uri="http://schemas.openxmlformats.org/drawingml/2006/table">
            <a:tbl>
              <a:tblPr firstRow="1" bandRow="1">
                <a:tableStyleId>{5C22544A-7EE6-4342-B048-85BDC9FD1C3A}</a:tableStyleId>
              </a:tblPr>
              <a:tblGrid>
                <a:gridCol w="5364006">
                  <a:extLst>
                    <a:ext uri="{9D8B030D-6E8A-4147-A177-3AD203B41FA5}">
                      <a16:colId xmlns:a16="http://schemas.microsoft.com/office/drawing/2014/main" val="1428976892"/>
                    </a:ext>
                  </a:extLst>
                </a:gridCol>
                <a:gridCol w="5364006">
                  <a:extLst>
                    <a:ext uri="{9D8B030D-6E8A-4147-A177-3AD203B41FA5}">
                      <a16:colId xmlns:a16="http://schemas.microsoft.com/office/drawing/2014/main" val="3566654997"/>
                    </a:ext>
                  </a:extLst>
                </a:gridCol>
              </a:tblGrid>
              <a:tr h="318314">
                <a:tc>
                  <a:txBody>
                    <a:bodyPr/>
                    <a:lstStyle/>
                    <a:p>
                      <a:pPr algn="ctr" fontAlgn="b">
                        <a:buNone/>
                      </a:pPr>
                      <a:r>
                        <a:rPr lang="en-US" sz="1700" u="none" strike="noStrike" dirty="0">
                          <a:effectLst/>
                        </a:rPr>
                        <a:t>Standard Delivery Process</a:t>
                      </a:r>
                      <a:endParaRPr lang="en-US" sz="1700" b="0" i="0" u="none" strike="noStrike" dirty="0">
                        <a:solidFill>
                          <a:srgbClr val="000000"/>
                        </a:solidFill>
                        <a:effectLst/>
                        <a:latin typeface="Calibri" panose="020F0502020204030204" pitchFamily="34" charset="0"/>
                      </a:endParaRPr>
                    </a:p>
                  </a:txBody>
                  <a:tcPr marL="9599" marR="9599" marT="9599" marB="0" anchor="b"/>
                </a:tc>
                <a:tc>
                  <a:txBody>
                    <a:bodyPr/>
                    <a:lstStyle/>
                    <a:p>
                      <a:pPr algn="ctr" fontAlgn="b">
                        <a:buNone/>
                      </a:pPr>
                      <a:r>
                        <a:rPr lang="en-US" sz="1700" u="none" strike="noStrike" dirty="0">
                          <a:effectLst/>
                        </a:rPr>
                        <a:t>Flash Delivery Process</a:t>
                      </a:r>
                      <a:endParaRPr lang="en-US" sz="1700" b="0" i="0" u="none" strike="noStrike" dirty="0">
                        <a:solidFill>
                          <a:srgbClr val="000000"/>
                        </a:solidFill>
                        <a:effectLst/>
                        <a:latin typeface="Calibri" panose="020F0502020204030204" pitchFamily="34" charset="0"/>
                      </a:endParaRPr>
                    </a:p>
                  </a:txBody>
                  <a:tcPr marL="9599" marR="9599" marT="9599" marB="0" anchor="b">
                    <a:solidFill>
                      <a:srgbClr val="00B050"/>
                    </a:solidFill>
                  </a:tcPr>
                </a:tc>
                <a:extLst>
                  <a:ext uri="{0D108BD9-81ED-4DB2-BD59-A6C34878D82A}">
                    <a16:rowId xmlns:a16="http://schemas.microsoft.com/office/drawing/2014/main" val="877627965"/>
                  </a:ext>
                </a:extLst>
              </a:tr>
              <a:tr h="295275">
                <a:tc>
                  <a:txBody>
                    <a:bodyPr/>
                    <a:lstStyle/>
                    <a:p>
                      <a:pPr algn="ctr" fontAlgn="ctr">
                        <a:buNone/>
                      </a:pPr>
                      <a:r>
                        <a:rPr lang="en-US" sz="1500" u="none" strike="noStrike" dirty="0">
                          <a:effectLst/>
                          <a:latin typeface="+mj-lt"/>
                        </a:rPr>
                        <a:t>Research</a:t>
                      </a:r>
                      <a:endParaRPr lang="en-US" sz="1500" b="0" i="0" u="none" strike="noStrike" dirty="0">
                        <a:solidFill>
                          <a:srgbClr val="000000"/>
                        </a:solidFill>
                        <a:effectLst/>
                        <a:latin typeface="+mj-lt"/>
                      </a:endParaRPr>
                    </a:p>
                  </a:txBody>
                  <a:tcPr marL="9599" marR="9599" marT="9599" marB="0" anchor="ctr"/>
                </a:tc>
                <a:tc>
                  <a:txBody>
                    <a:bodyPr/>
                    <a:lstStyle/>
                    <a:p>
                      <a:pPr algn="ctr" fontAlgn="ctr">
                        <a:buNone/>
                      </a:pPr>
                      <a:r>
                        <a:rPr lang="en-US" sz="1500" u="none" strike="noStrike" dirty="0">
                          <a:effectLst/>
                          <a:latin typeface="+mj-lt"/>
                        </a:rPr>
                        <a:t>Concepting</a:t>
                      </a:r>
                      <a:endParaRPr lang="en-US" sz="1500" b="0" i="0" u="none" strike="noStrike" dirty="0">
                        <a:solidFill>
                          <a:srgbClr val="000000"/>
                        </a:solidFill>
                        <a:effectLst/>
                        <a:latin typeface="+mj-lt"/>
                      </a:endParaRPr>
                    </a:p>
                  </a:txBody>
                  <a:tcPr marL="9599" marR="9599" marT="9599" marB="0" anchor="ctr">
                    <a:solidFill>
                      <a:schemeClr val="accent2">
                        <a:lumMod val="20000"/>
                        <a:lumOff val="80000"/>
                      </a:schemeClr>
                    </a:solidFill>
                  </a:tcPr>
                </a:tc>
                <a:extLst>
                  <a:ext uri="{0D108BD9-81ED-4DB2-BD59-A6C34878D82A}">
                    <a16:rowId xmlns:a16="http://schemas.microsoft.com/office/drawing/2014/main" val="139499405"/>
                  </a:ext>
                </a:extLst>
              </a:tr>
              <a:tr h="295275">
                <a:tc>
                  <a:txBody>
                    <a:bodyPr/>
                    <a:lstStyle/>
                    <a:p>
                      <a:pPr algn="ctr" fontAlgn="ctr">
                        <a:buNone/>
                      </a:pPr>
                      <a:r>
                        <a:rPr lang="en-US" sz="1500" u="none" strike="noStrike" dirty="0">
                          <a:effectLst/>
                          <a:latin typeface="+mj-lt"/>
                        </a:rPr>
                        <a:t>Alignment on Research</a:t>
                      </a:r>
                      <a:endParaRPr lang="en-US" sz="1500" b="0" i="0" u="none" strike="noStrike" dirty="0">
                        <a:solidFill>
                          <a:srgbClr val="000000"/>
                        </a:solidFill>
                        <a:effectLst/>
                        <a:latin typeface="+mj-lt"/>
                      </a:endParaRPr>
                    </a:p>
                  </a:txBody>
                  <a:tcPr marL="9599" marR="9599" marT="9599" marB="0" anchor="ctr"/>
                </a:tc>
                <a:tc>
                  <a:txBody>
                    <a:bodyPr/>
                    <a:lstStyle/>
                    <a:p>
                      <a:pPr algn="ctr" fontAlgn="ctr">
                        <a:buNone/>
                      </a:pPr>
                      <a:r>
                        <a:rPr lang="en-US" sz="1500" u="none" strike="noStrike" kern="1200" dirty="0">
                          <a:solidFill>
                            <a:schemeClr val="dk1"/>
                          </a:solidFill>
                          <a:effectLst/>
                          <a:latin typeface="+mn-lt"/>
                          <a:ea typeface="+mn-ea"/>
                          <a:cs typeface="+mn-cs"/>
                        </a:rPr>
                        <a:t>Alignment on Concepting</a:t>
                      </a:r>
                      <a:endParaRPr lang="en-US" sz="1500" b="0" i="0" u="none" strike="noStrike" dirty="0">
                        <a:solidFill>
                          <a:srgbClr val="000000"/>
                        </a:solidFill>
                        <a:effectLst/>
                        <a:latin typeface="+mj-lt"/>
                      </a:endParaRPr>
                    </a:p>
                  </a:txBody>
                  <a:tcPr marL="9599" marR="9599" marT="9599" marB="0" anchor="ctr">
                    <a:solidFill>
                      <a:srgbClr val="E5FFF8"/>
                    </a:solidFill>
                  </a:tcPr>
                </a:tc>
                <a:extLst>
                  <a:ext uri="{0D108BD9-81ED-4DB2-BD59-A6C34878D82A}">
                    <a16:rowId xmlns:a16="http://schemas.microsoft.com/office/drawing/2014/main" val="2875603519"/>
                  </a:ext>
                </a:extLst>
              </a:tr>
              <a:tr h="295275">
                <a:tc>
                  <a:txBody>
                    <a:bodyPr/>
                    <a:lstStyle/>
                    <a:p>
                      <a:pPr algn="ctr" fontAlgn="ctr">
                        <a:buNone/>
                      </a:pPr>
                      <a:r>
                        <a:rPr lang="en-US" sz="1500" u="none" strike="noStrike" dirty="0">
                          <a:effectLst/>
                          <a:latin typeface="+mj-lt"/>
                        </a:rPr>
                        <a:t>Concepting</a:t>
                      </a:r>
                      <a:endParaRPr lang="en-US" sz="1500" b="0" i="0" u="none" strike="noStrike" dirty="0">
                        <a:solidFill>
                          <a:srgbClr val="000000"/>
                        </a:solidFill>
                        <a:effectLst/>
                        <a:latin typeface="+mj-lt"/>
                      </a:endParaRPr>
                    </a:p>
                  </a:txBody>
                  <a:tcPr marL="9599" marR="9599" marT="9599" marB="0" anchor="ctr"/>
                </a:tc>
                <a:tc>
                  <a:txBody>
                    <a:bodyPr/>
                    <a:lstStyle/>
                    <a:p>
                      <a:pPr algn="ctr" fontAlgn="ctr">
                        <a:buNone/>
                      </a:pPr>
                      <a:r>
                        <a:rPr lang="en-US" sz="1500" u="none" strike="noStrike" dirty="0">
                          <a:effectLst/>
                          <a:latin typeface="+mj-lt"/>
                        </a:rPr>
                        <a:t>Briefing – Simplified</a:t>
                      </a:r>
                      <a:endParaRPr lang="en-US" sz="1500" b="0" i="0" u="none" strike="noStrike" dirty="0">
                        <a:solidFill>
                          <a:srgbClr val="000000"/>
                        </a:solidFill>
                        <a:effectLst/>
                        <a:latin typeface="+mj-lt"/>
                      </a:endParaRPr>
                    </a:p>
                  </a:txBody>
                  <a:tcPr marL="9599" marR="9599" marT="9599" marB="0" anchor="ctr">
                    <a:solidFill>
                      <a:schemeClr val="accent2">
                        <a:lumMod val="20000"/>
                        <a:lumOff val="80000"/>
                      </a:schemeClr>
                    </a:solidFill>
                  </a:tcPr>
                </a:tc>
                <a:extLst>
                  <a:ext uri="{0D108BD9-81ED-4DB2-BD59-A6C34878D82A}">
                    <a16:rowId xmlns:a16="http://schemas.microsoft.com/office/drawing/2014/main" val="756173161"/>
                  </a:ext>
                </a:extLst>
              </a:tr>
              <a:tr h="295275">
                <a:tc>
                  <a:txBody>
                    <a:bodyPr/>
                    <a:lstStyle/>
                    <a:p>
                      <a:pPr algn="ctr" fontAlgn="ctr">
                        <a:buNone/>
                      </a:pPr>
                      <a:r>
                        <a:rPr lang="en-US" sz="1500" u="none" strike="noStrike" dirty="0">
                          <a:effectLst/>
                          <a:latin typeface="+mj-lt"/>
                        </a:rPr>
                        <a:t>Alignment on Concepting</a:t>
                      </a:r>
                      <a:endParaRPr lang="en-US" sz="1500" b="0" i="0" u="none" strike="noStrike" dirty="0">
                        <a:solidFill>
                          <a:srgbClr val="000000"/>
                        </a:solidFill>
                        <a:effectLst/>
                        <a:latin typeface="+mj-lt"/>
                      </a:endParaRPr>
                    </a:p>
                  </a:txBody>
                  <a:tcPr marL="9599" marR="9599" marT="9599" marB="0" anchor="ctr"/>
                </a:tc>
                <a:tc>
                  <a:txBody>
                    <a:bodyPr/>
                    <a:lstStyle/>
                    <a:p>
                      <a:pPr algn="ctr" fontAlgn="ctr">
                        <a:buNone/>
                      </a:pPr>
                      <a:r>
                        <a:rPr lang="en-US" sz="1500" u="none" strike="noStrike" kern="1200" dirty="0">
                          <a:solidFill>
                            <a:schemeClr val="dk1"/>
                          </a:solidFill>
                          <a:effectLst/>
                          <a:latin typeface="+mj-lt"/>
                          <a:ea typeface="+mn-ea"/>
                          <a:cs typeface="+mn-cs"/>
                        </a:rPr>
                        <a:t>Creative</a:t>
                      </a:r>
                      <a:r>
                        <a:rPr lang="en-US" sz="1500" b="0" i="0" u="none" strike="noStrike" dirty="0">
                          <a:solidFill>
                            <a:srgbClr val="000000"/>
                          </a:solidFill>
                          <a:effectLst/>
                          <a:latin typeface="+mj-lt"/>
                        </a:rPr>
                        <a:t> Input</a:t>
                      </a:r>
                    </a:p>
                  </a:txBody>
                  <a:tcPr marL="9599" marR="9599" marT="9599" marB="0" anchor="ctr">
                    <a:solidFill>
                      <a:srgbClr val="E5FFF8"/>
                    </a:solidFill>
                  </a:tcPr>
                </a:tc>
                <a:extLst>
                  <a:ext uri="{0D108BD9-81ED-4DB2-BD59-A6C34878D82A}">
                    <a16:rowId xmlns:a16="http://schemas.microsoft.com/office/drawing/2014/main" val="2738900714"/>
                  </a:ext>
                </a:extLst>
              </a:tr>
              <a:tr h="295275">
                <a:tc>
                  <a:txBody>
                    <a:bodyPr/>
                    <a:lstStyle/>
                    <a:p>
                      <a:pPr algn="ctr" fontAlgn="ctr">
                        <a:buNone/>
                      </a:pPr>
                      <a:r>
                        <a:rPr lang="en-US" sz="1500" u="none" strike="noStrike" dirty="0">
                          <a:effectLst/>
                          <a:latin typeface="+mj-lt"/>
                        </a:rPr>
                        <a:t>Briefing</a:t>
                      </a:r>
                      <a:endParaRPr lang="en-US" sz="1500" b="0" i="0" u="none" strike="noStrike" dirty="0">
                        <a:solidFill>
                          <a:srgbClr val="000000"/>
                        </a:solidFill>
                        <a:effectLst/>
                        <a:latin typeface="+mj-lt"/>
                      </a:endParaRPr>
                    </a:p>
                  </a:txBody>
                  <a:tcPr marL="9599" marR="9599" marT="9599" marB="0" anchor="ctr"/>
                </a:tc>
                <a:tc>
                  <a:txBody>
                    <a:bodyPr/>
                    <a:lstStyle/>
                    <a:p>
                      <a:pPr algn="ctr" fontAlgn="ctr">
                        <a:buNone/>
                      </a:pPr>
                      <a:r>
                        <a:rPr lang="en-US" sz="1500" u="none" strike="noStrike" dirty="0">
                          <a:effectLst/>
                          <a:latin typeface="+mj-lt"/>
                        </a:rPr>
                        <a:t>WYSIWIG Development</a:t>
                      </a:r>
                      <a:endParaRPr lang="en-US" sz="1500" b="0" i="0" u="none" strike="noStrike" dirty="0">
                        <a:solidFill>
                          <a:srgbClr val="000000"/>
                        </a:solidFill>
                        <a:effectLst/>
                        <a:latin typeface="+mj-lt"/>
                      </a:endParaRPr>
                    </a:p>
                  </a:txBody>
                  <a:tcPr marL="9599" marR="9599" marT="9599" marB="0" anchor="ctr">
                    <a:solidFill>
                      <a:schemeClr val="accent2">
                        <a:lumMod val="20000"/>
                        <a:lumOff val="80000"/>
                      </a:schemeClr>
                    </a:solidFill>
                  </a:tcPr>
                </a:tc>
                <a:extLst>
                  <a:ext uri="{0D108BD9-81ED-4DB2-BD59-A6C34878D82A}">
                    <a16:rowId xmlns:a16="http://schemas.microsoft.com/office/drawing/2014/main" val="3464746124"/>
                  </a:ext>
                </a:extLst>
              </a:tr>
              <a:tr h="295275">
                <a:tc>
                  <a:txBody>
                    <a:bodyPr/>
                    <a:lstStyle/>
                    <a:p>
                      <a:pPr algn="ctr" fontAlgn="ctr">
                        <a:buNone/>
                      </a:pPr>
                      <a:r>
                        <a:rPr lang="en-US" sz="1500" u="none" strike="noStrike" dirty="0">
                          <a:effectLst/>
                          <a:latin typeface="+mj-lt"/>
                        </a:rPr>
                        <a:t>Alignment on Briefing</a:t>
                      </a:r>
                      <a:endParaRPr lang="en-US" sz="1500" b="0" i="0" u="none" strike="noStrike" dirty="0">
                        <a:solidFill>
                          <a:srgbClr val="000000"/>
                        </a:solidFill>
                        <a:effectLst/>
                        <a:latin typeface="+mj-lt"/>
                      </a:endParaRPr>
                    </a:p>
                  </a:txBody>
                  <a:tcPr marL="9599" marR="9599" marT="9599" marB="0" anchor="ctr"/>
                </a:tc>
                <a:tc>
                  <a:txBody>
                    <a:bodyPr/>
                    <a:lstStyle/>
                    <a:p>
                      <a:pPr algn="ctr" fontAlgn="ctr">
                        <a:buNone/>
                      </a:pPr>
                      <a:r>
                        <a:rPr lang="en-US" sz="1500" b="1" u="none" strike="noStrike" dirty="0">
                          <a:effectLst/>
                          <a:latin typeface="+mj-lt"/>
                        </a:rPr>
                        <a:t>QA Link Alignment</a:t>
                      </a:r>
                      <a:endParaRPr lang="en-US" sz="1500" b="1" i="0" u="none" strike="noStrike" dirty="0">
                        <a:solidFill>
                          <a:srgbClr val="000000"/>
                        </a:solidFill>
                        <a:effectLst/>
                        <a:latin typeface="+mj-lt"/>
                      </a:endParaRPr>
                    </a:p>
                  </a:txBody>
                  <a:tcPr marL="9599" marR="9599" marT="9599" marB="0" anchor="ctr">
                    <a:solidFill>
                      <a:srgbClr val="E5FFF8"/>
                    </a:solidFill>
                  </a:tcPr>
                </a:tc>
                <a:extLst>
                  <a:ext uri="{0D108BD9-81ED-4DB2-BD59-A6C34878D82A}">
                    <a16:rowId xmlns:a16="http://schemas.microsoft.com/office/drawing/2014/main" val="98295842"/>
                  </a:ext>
                </a:extLst>
              </a:tr>
              <a:tr h="295275">
                <a:tc>
                  <a:txBody>
                    <a:bodyPr/>
                    <a:lstStyle/>
                    <a:p>
                      <a:pPr algn="ctr" fontAlgn="ctr">
                        <a:buNone/>
                      </a:pPr>
                      <a:r>
                        <a:rPr lang="en-US" sz="1500" u="none" strike="noStrike" dirty="0">
                          <a:effectLst/>
                          <a:latin typeface="+mj-lt"/>
                        </a:rPr>
                        <a:t>Internally Approved Design Delivery</a:t>
                      </a:r>
                      <a:endParaRPr lang="en-US" sz="1500" b="0" i="0" u="none" strike="noStrike" dirty="0">
                        <a:solidFill>
                          <a:srgbClr val="000000"/>
                        </a:solidFill>
                        <a:effectLst/>
                        <a:latin typeface="+mj-lt"/>
                      </a:endParaRPr>
                    </a:p>
                  </a:txBody>
                  <a:tcPr marL="9599" marR="9599" marT="9599" marB="0" anchor="ctr"/>
                </a:tc>
                <a:tc>
                  <a:txBody>
                    <a:bodyPr/>
                    <a:lstStyle/>
                    <a:p>
                      <a:pPr algn="ctr" fontAlgn="ctr">
                        <a:buNone/>
                      </a:pPr>
                      <a:r>
                        <a:rPr lang="en-US" sz="1500" u="none" strike="noStrike" dirty="0">
                          <a:effectLst/>
                          <a:latin typeface="+mj-lt"/>
                        </a:rPr>
                        <a:t>Test Launch + Monitoring</a:t>
                      </a:r>
                      <a:endParaRPr lang="en-US" sz="1500" b="0" i="0" u="none" strike="noStrike" dirty="0">
                        <a:solidFill>
                          <a:srgbClr val="000000"/>
                        </a:solidFill>
                        <a:effectLst/>
                        <a:latin typeface="+mj-lt"/>
                      </a:endParaRPr>
                    </a:p>
                  </a:txBody>
                  <a:tcPr marL="9599" marR="9599" marT="9599" marB="0" anchor="ctr">
                    <a:solidFill>
                      <a:schemeClr val="accent2">
                        <a:lumMod val="20000"/>
                        <a:lumOff val="80000"/>
                      </a:schemeClr>
                    </a:solidFill>
                  </a:tcPr>
                </a:tc>
                <a:extLst>
                  <a:ext uri="{0D108BD9-81ED-4DB2-BD59-A6C34878D82A}">
                    <a16:rowId xmlns:a16="http://schemas.microsoft.com/office/drawing/2014/main" val="1353195599"/>
                  </a:ext>
                </a:extLst>
              </a:tr>
              <a:tr h="295275">
                <a:tc>
                  <a:txBody>
                    <a:bodyPr/>
                    <a:lstStyle/>
                    <a:p>
                      <a:pPr algn="ctr" fontAlgn="ctr">
                        <a:buNone/>
                      </a:pPr>
                      <a:r>
                        <a:rPr lang="en-US" sz="1500" u="none" strike="noStrike" dirty="0">
                          <a:effectLst/>
                          <a:latin typeface="+mj-lt"/>
                        </a:rPr>
                        <a:t>Alignment on Design + Revisions</a:t>
                      </a:r>
                      <a:endParaRPr lang="en-US" sz="1500" b="0" i="0" u="none" strike="noStrike" dirty="0">
                        <a:solidFill>
                          <a:srgbClr val="000000"/>
                        </a:solidFill>
                        <a:effectLst/>
                        <a:latin typeface="+mj-lt"/>
                      </a:endParaRPr>
                    </a:p>
                  </a:txBody>
                  <a:tcPr marL="9599" marR="9599" marT="9599" marB="0" anchor="ctr"/>
                </a:tc>
                <a:tc>
                  <a:txBody>
                    <a:bodyPr/>
                    <a:lstStyle/>
                    <a:p>
                      <a:pPr algn="ctr" fontAlgn="ctr">
                        <a:buNone/>
                      </a:pPr>
                      <a:r>
                        <a:rPr lang="en-US" sz="1500" u="none" strike="noStrike" dirty="0">
                          <a:effectLst/>
                          <a:latin typeface="+mj-lt"/>
                        </a:rPr>
                        <a:t>Analysis</a:t>
                      </a:r>
                      <a:endParaRPr lang="en-US" sz="1500" b="0" i="0" u="none" strike="noStrike" dirty="0">
                        <a:solidFill>
                          <a:srgbClr val="000000"/>
                        </a:solidFill>
                        <a:effectLst/>
                        <a:latin typeface="+mj-lt"/>
                      </a:endParaRPr>
                    </a:p>
                  </a:txBody>
                  <a:tcPr marL="9599" marR="9599" marT="9599" marB="0" anchor="ctr">
                    <a:solidFill>
                      <a:srgbClr val="E5FFF8"/>
                    </a:solidFill>
                  </a:tcPr>
                </a:tc>
                <a:extLst>
                  <a:ext uri="{0D108BD9-81ED-4DB2-BD59-A6C34878D82A}">
                    <a16:rowId xmlns:a16="http://schemas.microsoft.com/office/drawing/2014/main" val="522907157"/>
                  </a:ext>
                </a:extLst>
              </a:tr>
              <a:tr h="295275">
                <a:tc>
                  <a:txBody>
                    <a:bodyPr/>
                    <a:lstStyle/>
                    <a:p>
                      <a:pPr algn="ctr" fontAlgn="ctr">
                        <a:buNone/>
                      </a:pPr>
                      <a:r>
                        <a:rPr lang="en-US" sz="1500" u="none" strike="noStrike" dirty="0">
                          <a:effectLst/>
                          <a:latin typeface="+mj-lt"/>
                        </a:rPr>
                        <a:t>Compliance Alignment</a:t>
                      </a:r>
                      <a:endParaRPr lang="en-US" sz="1500" b="0" i="0" u="none" strike="noStrike" dirty="0">
                        <a:solidFill>
                          <a:srgbClr val="000000"/>
                        </a:solidFill>
                        <a:effectLst/>
                        <a:latin typeface="+mj-lt"/>
                      </a:endParaRPr>
                    </a:p>
                  </a:txBody>
                  <a:tcPr marL="9599" marR="9599" marT="9599" marB="0" anchor="ctr"/>
                </a:tc>
                <a:tc>
                  <a:txBody>
                    <a:bodyPr/>
                    <a:lstStyle/>
                    <a:p>
                      <a:pPr algn="ctr" fontAlgn="ctr">
                        <a:buNone/>
                      </a:pPr>
                      <a:r>
                        <a:rPr lang="en-US" sz="1500" u="none" strike="noStrike" dirty="0">
                          <a:effectLst/>
                          <a:latin typeface="+mj-lt"/>
                        </a:rPr>
                        <a:t>Maintaining Winning Experiences</a:t>
                      </a:r>
                      <a:endParaRPr lang="en-US" sz="1500" b="0" i="0" u="none" strike="noStrike" dirty="0">
                        <a:solidFill>
                          <a:srgbClr val="000000"/>
                        </a:solidFill>
                        <a:effectLst/>
                        <a:latin typeface="+mj-lt"/>
                      </a:endParaRPr>
                    </a:p>
                  </a:txBody>
                  <a:tcPr marL="9599" marR="9599" marT="9599" marB="0" anchor="ctr">
                    <a:solidFill>
                      <a:schemeClr val="accent2">
                        <a:lumMod val="20000"/>
                        <a:lumOff val="80000"/>
                      </a:schemeClr>
                    </a:solidFill>
                  </a:tcPr>
                </a:tc>
                <a:extLst>
                  <a:ext uri="{0D108BD9-81ED-4DB2-BD59-A6C34878D82A}">
                    <a16:rowId xmlns:a16="http://schemas.microsoft.com/office/drawing/2014/main" val="2592031991"/>
                  </a:ext>
                </a:extLst>
              </a:tr>
              <a:tr h="295275">
                <a:tc>
                  <a:txBody>
                    <a:bodyPr/>
                    <a:lstStyle/>
                    <a:p>
                      <a:pPr algn="ctr" fontAlgn="ctr">
                        <a:buNone/>
                      </a:pPr>
                      <a:r>
                        <a:rPr lang="en-US" sz="1500" u="none" strike="noStrike" dirty="0">
                          <a:effectLst/>
                          <a:latin typeface="+mj-lt"/>
                        </a:rPr>
                        <a:t>Development</a:t>
                      </a:r>
                      <a:endParaRPr lang="en-US" sz="1500" b="0" i="0" u="none" strike="noStrike" dirty="0">
                        <a:solidFill>
                          <a:srgbClr val="000000"/>
                        </a:solidFill>
                        <a:effectLst/>
                        <a:latin typeface="+mj-lt"/>
                      </a:endParaRPr>
                    </a:p>
                  </a:txBody>
                  <a:tcPr marL="9599" marR="9599" marT="9599" marB="0" anchor="ctr"/>
                </a:tc>
                <a:tc>
                  <a:txBody>
                    <a:bodyPr/>
                    <a:lstStyle/>
                    <a:p>
                      <a:pPr algn="l" fontAlgn="b">
                        <a:buNone/>
                      </a:pPr>
                      <a:endParaRPr lang="en-US" sz="1500" b="0" i="0" u="none" strike="noStrike" dirty="0">
                        <a:solidFill>
                          <a:srgbClr val="000000"/>
                        </a:solidFill>
                        <a:effectLst/>
                        <a:latin typeface="+mj-lt"/>
                      </a:endParaRPr>
                    </a:p>
                  </a:txBody>
                  <a:tcPr marL="9599" marR="9599" marT="9599" marB="0" anchor="b">
                    <a:solidFill>
                      <a:srgbClr val="E5FFF8"/>
                    </a:solidFill>
                  </a:tcPr>
                </a:tc>
                <a:extLst>
                  <a:ext uri="{0D108BD9-81ED-4DB2-BD59-A6C34878D82A}">
                    <a16:rowId xmlns:a16="http://schemas.microsoft.com/office/drawing/2014/main" val="3989580898"/>
                  </a:ext>
                </a:extLst>
              </a:tr>
              <a:tr h="295275">
                <a:tc>
                  <a:txBody>
                    <a:bodyPr/>
                    <a:lstStyle/>
                    <a:p>
                      <a:pPr algn="ctr" fontAlgn="ctr">
                        <a:buNone/>
                      </a:pPr>
                      <a:r>
                        <a:rPr lang="en-US" sz="1500" u="none" strike="noStrike" dirty="0">
                          <a:effectLst/>
                          <a:latin typeface="+mj-lt"/>
                        </a:rPr>
                        <a:t>Development Alignment</a:t>
                      </a:r>
                      <a:endParaRPr lang="en-US" sz="1500" b="0" i="0" u="none" strike="noStrike" dirty="0">
                        <a:solidFill>
                          <a:srgbClr val="000000"/>
                        </a:solidFill>
                        <a:effectLst/>
                        <a:latin typeface="+mj-lt"/>
                      </a:endParaRPr>
                    </a:p>
                  </a:txBody>
                  <a:tcPr marL="9599" marR="9599" marT="9599" marB="0" anchor="ctr"/>
                </a:tc>
                <a:tc>
                  <a:txBody>
                    <a:bodyPr/>
                    <a:lstStyle/>
                    <a:p>
                      <a:pPr algn="l" fontAlgn="b">
                        <a:buNone/>
                      </a:pPr>
                      <a:endParaRPr lang="en-US" sz="1500" b="0" i="0" u="none" strike="noStrike" dirty="0">
                        <a:solidFill>
                          <a:srgbClr val="000000"/>
                        </a:solidFill>
                        <a:effectLst/>
                        <a:latin typeface="+mj-lt"/>
                      </a:endParaRPr>
                    </a:p>
                  </a:txBody>
                  <a:tcPr marL="9599" marR="9599" marT="9599" marB="0" anchor="b">
                    <a:solidFill>
                      <a:schemeClr val="accent2">
                        <a:lumMod val="20000"/>
                        <a:lumOff val="80000"/>
                      </a:schemeClr>
                    </a:solidFill>
                  </a:tcPr>
                </a:tc>
                <a:extLst>
                  <a:ext uri="{0D108BD9-81ED-4DB2-BD59-A6C34878D82A}">
                    <a16:rowId xmlns:a16="http://schemas.microsoft.com/office/drawing/2014/main" val="3914484587"/>
                  </a:ext>
                </a:extLst>
              </a:tr>
              <a:tr h="295275">
                <a:tc>
                  <a:txBody>
                    <a:bodyPr/>
                    <a:lstStyle/>
                    <a:p>
                      <a:pPr algn="ctr" fontAlgn="ctr">
                        <a:buNone/>
                      </a:pPr>
                      <a:r>
                        <a:rPr lang="en-US" sz="1500" u="none" strike="noStrike" dirty="0">
                          <a:effectLst/>
                          <a:latin typeface="+mj-lt"/>
                        </a:rPr>
                        <a:t>Test Launch + Monitoring</a:t>
                      </a:r>
                      <a:endParaRPr lang="en-US" sz="1500" b="0" i="0" u="none" strike="noStrike" dirty="0">
                        <a:solidFill>
                          <a:srgbClr val="000000"/>
                        </a:solidFill>
                        <a:effectLst/>
                        <a:latin typeface="+mj-lt"/>
                      </a:endParaRPr>
                    </a:p>
                  </a:txBody>
                  <a:tcPr marL="9599" marR="9599" marT="9599" marB="0" anchor="ctr"/>
                </a:tc>
                <a:tc>
                  <a:txBody>
                    <a:bodyPr/>
                    <a:lstStyle/>
                    <a:p>
                      <a:pPr algn="l" fontAlgn="b">
                        <a:buNone/>
                      </a:pPr>
                      <a:endParaRPr lang="en-US" sz="1500" b="0" i="0" u="none" strike="noStrike" dirty="0">
                        <a:solidFill>
                          <a:srgbClr val="000000"/>
                        </a:solidFill>
                        <a:effectLst/>
                        <a:latin typeface="+mj-lt"/>
                      </a:endParaRPr>
                    </a:p>
                  </a:txBody>
                  <a:tcPr marL="9599" marR="9599" marT="9599" marB="0" anchor="b">
                    <a:solidFill>
                      <a:srgbClr val="E5FFF8"/>
                    </a:solidFill>
                  </a:tcPr>
                </a:tc>
                <a:extLst>
                  <a:ext uri="{0D108BD9-81ED-4DB2-BD59-A6C34878D82A}">
                    <a16:rowId xmlns:a16="http://schemas.microsoft.com/office/drawing/2014/main" val="940097673"/>
                  </a:ext>
                </a:extLst>
              </a:tr>
              <a:tr h="295275">
                <a:tc>
                  <a:txBody>
                    <a:bodyPr/>
                    <a:lstStyle/>
                    <a:p>
                      <a:pPr algn="ctr" fontAlgn="ctr">
                        <a:buNone/>
                      </a:pPr>
                      <a:r>
                        <a:rPr lang="en-US" sz="1500" u="none" strike="noStrike">
                          <a:effectLst/>
                          <a:latin typeface="+mj-lt"/>
                        </a:rPr>
                        <a:t>Analysis</a:t>
                      </a:r>
                      <a:endParaRPr lang="en-US" sz="1500" b="0" i="0" u="none" strike="noStrike">
                        <a:solidFill>
                          <a:srgbClr val="000000"/>
                        </a:solidFill>
                        <a:effectLst/>
                        <a:latin typeface="+mj-lt"/>
                      </a:endParaRPr>
                    </a:p>
                  </a:txBody>
                  <a:tcPr marL="9599" marR="9599" marT="9599" marB="0" anchor="ctr"/>
                </a:tc>
                <a:tc>
                  <a:txBody>
                    <a:bodyPr/>
                    <a:lstStyle/>
                    <a:p>
                      <a:pPr algn="l" fontAlgn="b">
                        <a:buNone/>
                      </a:pPr>
                      <a:endParaRPr lang="en-US" sz="1500" b="0" i="0" u="none" strike="noStrike" dirty="0">
                        <a:solidFill>
                          <a:srgbClr val="000000"/>
                        </a:solidFill>
                        <a:effectLst/>
                        <a:latin typeface="+mj-lt"/>
                      </a:endParaRPr>
                    </a:p>
                  </a:txBody>
                  <a:tcPr marL="9599" marR="9599" marT="9599" marB="0" anchor="b">
                    <a:solidFill>
                      <a:schemeClr val="accent2">
                        <a:lumMod val="20000"/>
                        <a:lumOff val="80000"/>
                      </a:schemeClr>
                    </a:solidFill>
                  </a:tcPr>
                </a:tc>
                <a:extLst>
                  <a:ext uri="{0D108BD9-81ED-4DB2-BD59-A6C34878D82A}">
                    <a16:rowId xmlns:a16="http://schemas.microsoft.com/office/drawing/2014/main" val="3643179302"/>
                  </a:ext>
                </a:extLst>
              </a:tr>
              <a:tr h="295275">
                <a:tc>
                  <a:txBody>
                    <a:bodyPr/>
                    <a:lstStyle/>
                    <a:p>
                      <a:pPr algn="ctr" fontAlgn="ctr">
                        <a:buNone/>
                      </a:pPr>
                      <a:r>
                        <a:rPr lang="en-US" sz="1500" u="none" strike="noStrike" dirty="0">
                          <a:effectLst/>
                          <a:latin typeface="+mj-lt"/>
                        </a:rPr>
                        <a:t>Maintaining Winning Experiences</a:t>
                      </a:r>
                      <a:endParaRPr lang="en-US" sz="1500" b="0" i="0" u="none" strike="noStrike" dirty="0">
                        <a:solidFill>
                          <a:srgbClr val="000000"/>
                        </a:solidFill>
                        <a:effectLst/>
                        <a:latin typeface="+mj-lt"/>
                      </a:endParaRPr>
                    </a:p>
                  </a:txBody>
                  <a:tcPr marL="9599" marR="9599" marT="9599" marB="0" anchor="ctr"/>
                </a:tc>
                <a:tc>
                  <a:txBody>
                    <a:bodyPr/>
                    <a:lstStyle/>
                    <a:p>
                      <a:pPr algn="l" fontAlgn="b">
                        <a:buNone/>
                      </a:pPr>
                      <a:endParaRPr lang="en-US" sz="1500" b="0" i="0" u="none" strike="noStrike" dirty="0">
                        <a:solidFill>
                          <a:srgbClr val="000000"/>
                        </a:solidFill>
                        <a:effectLst/>
                        <a:latin typeface="+mj-lt"/>
                      </a:endParaRPr>
                    </a:p>
                  </a:txBody>
                  <a:tcPr marL="9599" marR="9599" marT="9599" marB="0" anchor="b">
                    <a:solidFill>
                      <a:srgbClr val="E5FFF8"/>
                    </a:solidFill>
                  </a:tcPr>
                </a:tc>
                <a:extLst>
                  <a:ext uri="{0D108BD9-81ED-4DB2-BD59-A6C34878D82A}">
                    <a16:rowId xmlns:a16="http://schemas.microsoft.com/office/drawing/2014/main" val="2662264918"/>
                  </a:ext>
                </a:extLst>
              </a:tr>
            </a:tbl>
          </a:graphicData>
        </a:graphic>
      </p:graphicFrame>
    </p:spTree>
    <p:extLst>
      <p:ext uri="{BB962C8B-B14F-4D97-AF65-F5344CB8AC3E}">
        <p14:creationId xmlns:p14="http://schemas.microsoft.com/office/powerpoint/2010/main" val="2420814439"/>
      </p:ext>
    </p:extLst>
  </p:cSld>
  <p:clrMapOvr>
    <a:masterClrMapping/>
  </p:clrMapOvr>
  <p:extLst>
    <p:ext uri="{6950BFC3-D8DA-4A85-94F7-54DA5524770B}">
      <p188:commentRel xmlns:p188="http://schemas.microsoft.com/office/powerpoint/2018/8/main" r:id="rId2"/>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D7912EF-F352-439C-7A11-533DDE7A4F79}"/>
              </a:ext>
            </a:extLst>
          </p:cNvPr>
          <p:cNvSpPr/>
          <p:nvPr/>
        </p:nvSpPr>
        <p:spPr>
          <a:xfrm>
            <a:off x="0" y="470781"/>
            <a:ext cx="12191998" cy="6387220"/>
          </a:xfrm>
          <a:prstGeom prst="rect">
            <a:avLst/>
          </a:prstGeom>
          <a:solidFill>
            <a:srgbClr val="6699CC">
              <a:alpha val="12941"/>
            </a:srgb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j-lt"/>
              <a:ea typeface="+mn-ea"/>
              <a:cs typeface="+mn-cs"/>
            </a:endParaRPr>
          </a:p>
        </p:txBody>
      </p:sp>
      <p:pic>
        <p:nvPicPr>
          <p:cNvPr id="3" name="Picture 2">
            <a:extLst>
              <a:ext uri="{FF2B5EF4-FFF2-40B4-BE49-F238E27FC236}">
                <a16:creationId xmlns:a16="http://schemas.microsoft.com/office/drawing/2014/main" id="{D9649019-285D-B5EE-B61C-F832CC7D4068}"/>
              </a:ext>
            </a:extLst>
          </p:cNvPr>
          <p:cNvPicPr>
            <a:picLocks noChangeAspect="1"/>
          </p:cNvPicPr>
          <p:nvPr/>
        </p:nvPicPr>
        <p:blipFill>
          <a:blip r:embed="rId2"/>
          <a:stretch>
            <a:fillRect/>
          </a:stretch>
        </p:blipFill>
        <p:spPr>
          <a:xfrm>
            <a:off x="431221" y="6141617"/>
            <a:ext cx="5016677" cy="563652"/>
          </a:xfrm>
          <a:prstGeom prst="rect">
            <a:avLst/>
          </a:prstGeom>
        </p:spPr>
      </p:pic>
      <p:sp>
        <p:nvSpPr>
          <p:cNvPr id="5" name="Google Shape;1601;p96">
            <a:extLst>
              <a:ext uri="{FF2B5EF4-FFF2-40B4-BE49-F238E27FC236}">
                <a16:creationId xmlns:a16="http://schemas.microsoft.com/office/drawing/2014/main" id="{4D5229CD-A076-C433-A2D8-2CA29008F637}"/>
              </a:ext>
            </a:extLst>
          </p:cNvPr>
          <p:cNvSpPr/>
          <p:nvPr/>
        </p:nvSpPr>
        <p:spPr>
          <a:xfrm>
            <a:off x="855012" y="485594"/>
            <a:ext cx="10396500" cy="548640"/>
          </a:xfrm>
          <a:prstGeom prst="roundRect">
            <a:avLst>
              <a:gd name="adj" fmla="val 16667"/>
            </a:avLst>
          </a:prstGeom>
          <a:solidFill>
            <a:schemeClr val="accent1"/>
          </a:solidFill>
          <a:ln>
            <a:noFill/>
          </a:ln>
        </p:spPr>
        <p:txBody>
          <a:bodyPr spcFirstLastPara="1" wrap="square" lIns="77300" tIns="77300" rIns="77300" bIns="773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002477"/>
              </a:solidFill>
              <a:effectLst/>
              <a:uLnTx/>
              <a:uFillTx/>
              <a:latin typeface="+mj-lt"/>
              <a:ea typeface="Arial"/>
              <a:cs typeface="Arial"/>
              <a:sym typeface="Arial"/>
            </a:endParaRPr>
          </a:p>
        </p:txBody>
      </p:sp>
      <p:cxnSp>
        <p:nvCxnSpPr>
          <p:cNvPr id="6" name="Google Shape;1621;p96">
            <a:extLst>
              <a:ext uri="{FF2B5EF4-FFF2-40B4-BE49-F238E27FC236}">
                <a16:creationId xmlns:a16="http://schemas.microsoft.com/office/drawing/2014/main" id="{B7738AC3-7ECE-153E-A403-A11A66E33A24}"/>
              </a:ext>
            </a:extLst>
          </p:cNvPr>
          <p:cNvCxnSpPr>
            <a:cxnSpLocks/>
            <a:stCxn id="7" idx="3"/>
            <a:endCxn id="11" idx="1"/>
          </p:cNvCxnSpPr>
          <p:nvPr/>
        </p:nvCxnSpPr>
        <p:spPr>
          <a:xfrm>
            <a:off x="3888441" y="759914"/>
            <a:ext cx="1308764" cy="0"/>
          </a:xfrm>
          <a:prstGeom prst="straightConnector1">
            <a:avLst/>
          </a:prstGeom>
          <a:noFill/>
          <a:ln w="28575" cap="flat" cmpd="sng">
            <a:solidFill>
              <a:srgbClr val="FFFFFF"/>
            </a:solidFill>
            <a:prstDash val="solid"/>
            <a:round/>
            <a:headEnd type="none" w="sm" len="sm"/>
            <a:tailEnd type="triangle" w="med" len="med"/>
          </a:ln>
        </p:spPr>
      </p:cxnSp>
      <p:sp>
        <p:nvSpPr>
          <p:cNvPr id="7" name="Google Shape;1619;p96">
            <a:extLst>
              <a:ext uri="{FF2B5EF4-FFF2-40B4-BE49-F238E27FC236}">
                <a16:creationId xmlns:a16="http://schemas.microsoft.com/office/drawing/2014/main" id="{0DB38E2F-5556-2C0A-B07B-ABFD64920900}"/>
              </a:ext>
            </a:extLst>
          </p:cNvPr>
          <p:cNvSpPr/>
          <p:nvPr/>
        </p:nvSpPr>
        <p:spPr>
          <a:xfrm>
            <a:off x="2631030" y="592814"/>
            <a:ext cx="1257411" cy="334200"/>
          </a:xfrm>
          <a:prstGeom prst="rect">
            <a:avLst/>
          </a:prstGeom>
          <a:gradFill flip="none" rotWithShape="1">
            <a:gsLst>
              <a:gs pos="0">
                <a:schemeClr val="accent6">
                  <a:lumMod val="50000"/>
                  <a:lumOff val="50000"/>
                </a:schemeClr>
              </a:gs>
              <a:gs pos="33000">
                <a:schemeClr val="bg1"/>
              </a:gs>
              <a:gs pos="67000">
                <a:schemeClr val="accent5">
                  <a:lumMod val="40000"/>
                  <a:lumOff val="60000"/>
                </a:schemeClr>
              </a:gs>
              <a:gs pos="100000">
                <a:schemeClr val="accent2">
                  <a:lumMod val="40000"/>
                  <a:lumOff val="60000"/>
                </a:schemeClr>
              </a:gs>
            </a:gsLst>
            <a:lin ang="0" scaled="1"/>
            <a:tileRect/>
          </a:gradFill>
          <a:ln w="9525" cap="flat" cmpd="sng">
            <a:solidFill>
              <a:schemeClr val="tx1"/>
            </a:solidFill>
            <a:prstDash val="solid"/>
            <a:round/>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dirty="0">
                <a:ln>
                  <a:noFill/>
                </a:ln>
                <a:effectLst/>
                <a:uLnTx/>
                <a:uFillTx/>
                <a:latin typeface="+mj-lt"/>
                <a:ea typeface="Red Hat Display"/>
                <a:cs typeface="Red Hat Display"/>
                <a:sym typeface="Red Hat Display"/>
              </a:rPr>
              <a:t>Biz Insights / Data Gathering</a:t>
            </a:r>
            <a:endParaRPr kumimoji="0" sz="900" b="0" i="0" u="none" strike="noStrike" kern="1200" cap="none" spc="0" normalizeH="0" baseline="0" noProof="0" dirty="0">
              <a:ln>
                <a:noFill/>
              </a:ln>
              <a:effectLst/>
              <a:uLnTx/>
              <a:uFillTx/>
              <a:latin typeface="+mj-lt"/>
              <a:ea typeface="Red Hat Display"/>
              <a:cs typeface="Red Hat Display"/>
              <a:sym typeface="Red Hat Display"/>
            </a:endParaRPr>
          </a:p>
        </p:txBody>
      </p:sp>
      <p:sp>
        <p:nvSpPr>
          <p:cNvPr id="8" name="Google Shape;1620;p96">
            <a:extLst>
              <a:ext uri="{FF2B5EF4-FFF2-40B4-BE49-F238E27FC236}">
                <a16:creationId xmlns:a16="http://schemas.microsoft.com/office/drawing/2014/main" id="{640B0D8A-36E6-B265-1181-1906B6E1ED89}"/>
              </a:ext>
            </a:extLst>
          </p:cNvPr>
          <p:cNvSpPr/>
          <p:nvPr/>
        </p:nvSpPr>
        <p:spPr>
          <a:xfrm>
            <a:off x="7741632" y="592946"/>
            <a:ext cx="1258596" cy="333936"/>
          </a:xfrm>
          <a:prstGeom prst="flowChartDocument">
            <a:avLst/>
          </a:prstGeom>
          <a:solidFill>
            <a:srgbClr val="FFFFFF"/>
          </a:solidFill>
          <a:ln w="9525" cap="flat" cmpd="sng">
            <a:solidFill>
              <a:schemeClr val="tx1"/>
            </a:solidFill>
            <a:prstDash val="solid"/>
            <a:round/>
            <a:headEnd type="none" w="sm" len="sm"/>
            <a:tailEnd type="none" w="sm" len="sm"/>
          </a:ln>
        </p:spPr>
        <p:txBody>
          <a:bodyPr spcFirstLastPara="1" wrap="square" lIns="0" tIns="4572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dirty="0">
                <a:ln>
                  <a:noFill/>
                </a:ln>
                <a:solidFill>
                  <a:srgbClr val="0070C0"/>
                </a:solidFill>
                <a:effectLst/>
                <a:uLnTx/>
                <a:uFillTx/>
                <a:latin typeface="+mj-lt"/>
                <a:ea typeface="Red Hat Display"/>
                <a:cs typeface="Red Hat Display"/>
                <a:sym typeface="Red Hat Display"/>
                <a:hlinkClick r:id="rId3">
                  <a:extLst>
                    <a:ext uri="{A12FA001-AC4F-418D-AE19-62706E023703}">
                      <ahyp:hlinkClr xmlns:ahyp="http://schemas.microsoft.com/office/drawing/2018/hyperlinkcolor" val="tx"/>
                    </a:ext>
                  </a:extLst>
                </a:hlinkClick>
              </a:rPr>
              <a:t>Test Roadma</a:t>
            </a:r>
            <a:r>
              <a:rPr lang="en" sz="900" dirty="0">
                <a:solidFill>
                  <a:srgbClr val="0070C0"/>
                </a:solidFill>
                <a:latin typeface="+mj-lt"/>
                <a:ea typeface="Red Hat Display"/>
                <a:cs typeface="Red Hat Display"/>
                <a:sym typeface="Red Hat Display"/>
                <a:hlinkClick r:id="rId3">
                  <a:extLst>
                    <a:ext uri="{A12FA001-AC4F-418D-AE19-62706E023703}">
                      <ahyp:hlinkClr xmlns:ahyp="http://schemas.microsoft.com/office/drawing/2018/hyperlinkcolor" val="tx"/>
                    </a:ext>
                  </a:extLst>
                </a:hlinkClick>
              </a:rPr>
              <a:t>p</a:t>
            </a:r>
            <a:r>
              <a:rPr kumimoji="0" lang="en" sz="900" b="0" i="0" u="none" strike="noStrike" kern="1200" cap="none" spc="0" normalizeH="0" baseline="0" noProof="0" dirty="0">
                <a:ln>
                  <a:noFill/>
                </a:ln>
                <a:solidFill>
                  <a:srgbClr val="0070C0"/>
                </a:solidFill>
                <a:effectLst/>
                <a:uLnTx/>
                <a:uFillTx/>
                <a:latin typeface="+mj-lt"/>
                <a:ea typeface="Red Hat Display"/>
                <a:cs typeface="Red Hat Display"/>
                <a:sym typeface="Red Hat Display"/>
                <a:hlinkClick r:id="rId3">
                  <a:extLst>
                    <a:ext uri="{A12FA001-AC4F-418D-AE19-62706E023703}">
                      <ahyp:hlinkClr xmlns:ahyp="http://schemas.microsoft.com/office/drawing/2018/hyperlinkcolor" val="tx"/>
                    </a:ext>
                  </a:extLst>
                </a:hlinkClick>
              </a:rPr>
              <a:t> Delivered</a:t>
            </a:r>
            <a:endParaRPr kumimoji="0" sz="900" b="0" i="0" u="none" strike="noStrike" kern="1200" cap="none" spc="0" normalizeH="0" baseline="0" noProof="0" dirty="0">
              <a:ln>
                <a:noFill/>
              </a:ln>
              <a:solidFill>
                <a:srgbClr val="0070C0"/>
              </a:solidFill>
              <a:effectLst/>
              <a:uLnTx/>
              <a:uFillTx/>
              <a:latin typeface="+mj-lt"/>
              <a:ea typeface="Red Hat Display"/>
              <a:cs typeface="Red Hat Display"/>
              <a:sym typeface="Red Hat Display"/>
            </a:endParaRPr>
          </a:p>
        </p:txBody>
      </p:sp>
      <p:sp>
        <p:nvSpPr>
          <p:cNvPr id="9" name="Google Shape;1622;p96">
            <a:extLst>
              <a:ext uri="{FF2B5EF4-FFF2-40B4-BE49-F238E27FC236}">
                <a16:creationId xmlns:a16="http://schemas.microsoft.com/office/drawing/2014/main" id="{204A75B3-4692-6218-3173-2CE827BD36D9}"/>
              </a:ext>
            </a:extLst>
          </p:cNvPr>
          <p:cNvSpPr/>
          <p:nvPr/>
        </p:nvSpPr>
        <p:spPr>
          <a:xfrm>
            <a:off x="9550562" y="592951"/>
            <a:ext cx="1511896" cy="333926"/>
          </a:xfrm>
          <a:prstGeom prst="flowChartPredefinedProcess">
            <a:avLst/>
          </a:prstGeom>
          <a:solidFill>
            <a:schemeClr val="accent2">
              <a:lumMod val="40000"/>
              <a:lumOff val="60000"/>
            </a:schemeClr>
          </a:solidFill>
          <a:ln w="3175" cap="flat" cmpd="sng">
            <a:solidFill>
              <a:schemeClr val="tx2"/>
            </a:solidFill>
            <a:prstDash val="solid"/>
            <a:round/>
            <a:headEnd type="none" w="sm" len="sm"/>
            <a:tailEnd type="none" w="sm" len="sm"/>
          </a:ln>
        </p:spPr>
        <p:txBody>
          <a:bodyPr spcFirstLastPara="1" wrap="square" lIns="0" tIns="77300" rIns="0" bIns="773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a:ln>
                  <a:noFill/>
                </a:ln>
                <a:effectLst/>
                <a:uLnTx/>
                <a:uFillTx/>
                <a:latin typeface="+mj-lt"/>
                <a:ea typeface="Red Hat Display"/>
                <a:cs typeface="Red Hat Display"/>
                <a:sym typeface="Red Hat Display"/>
              </a:rPr>
              <a:t>Testing Direction Approved</a:t>
            </a:r>
            <a:endParaRPr kumimoji="0" sz="900" b="0" i="0" u="none" strike="noStrike" kern="1200" cap="none" spc="0" normalizeH="0" baseline="0" noProof="0">
              <a:ln>
                <a:noFill/>
              </a:ln>
              <a:effectLst/>
              <a:uLnTx/>
              <a:uFillTx/>
              <a:latin typeface="+mj-lt"/>
              <a:ea typeface="Red Hat Display"/>
              <a:cs typeface="Red Hat Display"/>
              <a:sym typeface="Red Hat Display"/>
            </a:endParaRPr>
          </a:p>
        </p:txBody>
      </p:sp>
      <p:sp>
        <p:nvSpPr>
          <p:cNvPr id="11" name="Google Shape;1619;p96">
            <a:extLst>
              <a:ext uri="{FF2B5EF4-FFF2-40B4-BE49-F238E27FC236}">
                <a16:creationId xmlns:a16="http://schemas.microsoft.com/office/drawing/2014/main" id="{D2E99177-54B3-4FDB-A8B0-D36C34455316}"/>
              </a:ext>
            </a:extLst>
          </p:cNvPr>
          <p:cNvSpPr/>
          <p:nvPr/>
        </p:nvSpPr>
        <p:spPr>
          <a:xfrm>
            <a:off x="5197205" y="592814"/>
            <a:ext cx="1058100" cy="334200"/>
          </a:xfrm>
          <a:prstGeom prst="rect">
            <a:avLst/>
          </a:prstGeom>
          <a:gradFill flip="none" rotWithShape="1">
            <a:gsLst>
              <a:gs pos="33000">
                <a:schemeClr val="accent1"/>
              </a:gs>
              <a:gs pos="0">
                <a:schemeClr val="accent6">
                  <a:lumMod val="50000"/>
                  <a:lumOff val="50000"/>
                </a:schemeClr>
              </a:gs>
              <a:gs pos="60000">
                <a:schemeClr val="bg1"/>
              </a:gs>
              <a:gs pos="100000">
                <a:schemeClr val="accent5">
                  <a:lumMod val="40000"/>
                  <a:lumOff val="60000"/>
                </a:schemeClr>
              </a:gs>
            </a:gsLst>
            <a:lin ang="0" scaled="1"/>
            <a:tileRect/>
          </a:gradFill>
          <a:ln w="9525" cap="flat" cmpd="sng">
            <a:solidFill>
              <a:schemeClr val="tx1"/>
            </a:solidFill>
            <a:prstDash val="solid"/>
            <a:round/>
            <a:headEnd type="none" w="sm" len="sm"/>
            <a:tailEnd type="none" w="sm" len="sm"/>
          </a:ln>
        </p:spPr>
        <p:txBody>
          <a:bodyPr spcFirstLastPara="1" wrap="square" lIns="0" tIns="0" rIns="0" bIns="0" anchor="ctr" anchorCtr="0">
            <a:noAutofit/>
          </a:bodyPr>
          <a:lstStyle/>
          <a:p>
            <a:pPr algn="ctr">
              <a:buClr>
                <a:srgbClr val="000000"/>
              </a:buClr>
              <a:buSzPts val="500"/>
            </a:pPr>
            <a:r>
              <a:rPr lang="en" sz="900" dirty="0">
                <a:latin typeface="+mj-lt"/>
                <a:sym typeface="Red Hat Display"/>
              </a:rPr>
              <a:t>Test Roadmap Developed</a:t>
            </a:r>
            <a:endParaRPr sz="900" dirty="0">
              <a:latin typeface="+mj-lt"/>
              <a:sym typeface="Red Hat Display"/>
            </a:endParaRPr>
          </a:p>
        </p:txBody>
      </p:sp>
      <p:cxnSp>
        <p:nvCxnSpPr>
          <p:cNvPr id="12" name="Google Shape;1621;p96">
            <a:extLst>
              <a:ext uri="{FF2B5EF4-FFF2-40B4-BE49-F238E27FC236}">
                <a16:creationId xmlns:a16="http://schemas.microsoft.com/office/drawing/2014/main" id="{75F2D5FD-F5EB-633F-0E10-5794B64EB518}"/>
              </a:ext>
            </a:extLst>
          </p:cNvPr>
          <p:cNvCxnSpPr>
            <a:cxnSpLocks/>
            <a:stCxn id="11" idx="3"/>
            <a:endCxn id="8" idx="1"/>
          </p:cNvCxnSpPr>
          <p:nvPr/>
        </p:nvCxnSpPr>
        <p:spPr>
          <a:xfrm>
            <a:off x="6255305" y="759914"/>
            <a:ext cx="1486327" cy="0"/>
          </a:xfrm>
          <a:prstGeom prst="straightConnector1">
            <a:avLst/>
          </a:prstGeom>
          <a:noFill/>
          <a:ln w="28575" cap="flat" cmpd="sng">
            <a:solidFill>
              <a:srgbClr val="FFFFFF"/>
            </a:solidFill>
            <a:prstDash val="solid"/>
            <a:round/>
            <a:headEnd type="none" w="sm" len="sm"/>
            <a:tailEnd type="triangle" w="med" len="med"/>
          </a:ln>
        </p:spPr>
      </p:cxnSp>
      <p:cxnSp>
        <p:nvCxnSpPr>
          <p:cNvPr id="13" name="Google Shape;1621;p96">
            <a:extLst>
              <a:ext uri="{FF2B5EF4-FFF2-40B4-BE49-F238E27FC236}">
                <a16:creationId xmlns:a16="http://schemas.microsoft.com/office/drawing/2014/main" id="{97D9402F-3396-076E-B6CF-663B69E7F655}"/>
              </a:ext>
            </a:extLst>
          </p:cNvPr>
          <p:cNvCxnSpPr>
            <a:cxnSpLocks/>
            <a:stCxn id="8" idx="3"/>
            <a:endCxn id="9" idx="1"/>
          </p:cNvCxnSpPr>
          <p:nvPr/>
        </p:nvCxnSpPr>
        <p:spPr>
          <a:xfrm>
            <a:off x="9000228" y="759914"/>
            <a:ext cx="550334" cy="0"/>
          </a:xfrm>
          <a:prstGeom prst="straightConnector1">
            <a:avLst/>
          </a:prstGeom>
          <a:noFill/>
          <a:ln w="28575" cap="flat" cmpd="sng">
            <a:solidFill>
              <a:srgbClr val="FFFFFF"/>
            </a:solidFill>
            <a:prstDash val="solid"/>
            <a:round/>
            <a:headEnd type="none" w="sm" len="sm"/>
            <a:tailEnd type="triangle" w="med" len="med"/>
          </a:ln>
        </p:spPr>
      </p:cxnSp>
      <p:sp>
        <p:nvSpPr>
          <p:cNvPr id="15" name="Google Shape;1607;p96">
            <a:extLst>
              <a:ext uri="{FF2B5EF4-FFF2-40B4-BE49-F238E27FC236}">
                <a16:creationId xmlns:a16="http://schemas.microsoft.com/office/drawing/2014/main" id="{A7B3195B-87C1-689D-1322-0EA5A84FEA6D}"/>
              </a:ext>
            </a:extLst>
          </p:cNvPr>
          <p:cNvSpPr/>
          <p:nvPr/>
        </p:nvSpPr>
        <p:spPr>
          <a:xfrm>
            <a:off x="855012" y="4648342"/>
            <a:ext cx="10422000" cy="548640"/>
          </a:xfrm>
          <a:prstGeom prst="roundRect">
            <a:avLst>
              <a:gd name="adj" fmla="val 16667"/>
            </a:avLst>
          </a:prstGeom>
          <a:solidFill>
            <a:schemeClr val="bg1">
              <a:lumMod val="65000"/>
            </a:schemeClr>
          </a:solidFill>
          <a:ln>
            <a:noFill/>
          </a:ln>
        </p:spPr>
        <p:txBody>
          <a:bodyPr spcFirstLastPara="1" wrap="square" lIns="77300" tIns="77300" rIns="77300" bIns="773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002477"/>
              </a:solidFill>
              <a:effectLst/>
              <a:uLnTx/>
              <a:uFillTx/>
              <a:latin typeface="+mj-lt"/>
              <a:ea typeface="Arial"/>
              <a:cs typeface="Arial"/>
              <a:sym typeface="Arial"/>
            </a:endParaRPr>
          </a:p>
        </p:txBody>
      </p:sp>
      <p:sp>
        <p:nvSpPr>
          <p:cNvPr id="16" name="Google Shape;1645;p96">
            <a:extLst>
              <a:ext uri="{FF2B5EF4-FFF2-40B4-BE49-F238E27FC236}">
                <a16:creationId xmlns:a16="http://schemas.microsoft.com/office/drawing/2014/main" id="{AD7F4DC9-0DC8-7530-B97E-4B57722F642A}"/>
              </a:ext>
            </a:extLst>
          </p:cNvPr>
          <p:cNvSpPr txBox="1"/>
          <p:nvPr/>
        </p:nvSpPr>
        <p:spPr>
          <a:xfrm>
            <a:off x="910328" y="4747612"/>
            <a:ext cx="1895400" cy="350100"/>
          </a:xfrm>
          <a:prstGeom prst="rect">
            <a:avLst/>
          </a:prstGeom>
          <a:noFill/>
          <a:ln>
            <a:noFill/>
          </a:ln>
        </p:spPr>
        <p:txBody>
          <a:bodyPr spcFirstLastPara="1" wrap="square" lIns="77300" tIns="77300" rIns="77300" bIns="773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 sz="1200" b="0" i="0" u="none" strike="noStrike" kern="1200" cap="none" spc="0" normalizeH="0" baseline="0" noProof="0">
                <a:ln>
                  <a:noFill/>
                </a:ln>
                <a:effectLst/>
                <a:uLnTx/>
                <a:uFillTx/>
                <a:latin typeface="+mj-lt"/>
                <a:ea typeface="Red Hat Display"/>
                <a:cs typeface="Red Hat Display"/>
                <a:sym typeface="Red Hat Display"/>
              </a:rPr>
              <a:t>Analysis</a:t>
            </a:r>
            <a:endParaRPr kumimoji="0" sz="1200" b="0" i="0" u="none" strike="noStrike" kern="1200" cap="none" spc="0" normalizeH="0" baseline="0" noProof="0">
              <a:ln>
                <a:noFill/>
              </a:ln>
              <a:effectLst/>
              <a:uLnTx/>
              <a:uFillTx/>
              <a:latin typeface="+mj-lt"/>
              <a:ea typeface="Red Hat Display"/>
              <a:cs typeface="Red Hat Display"/>
              <a:sym typeface="Red Hat Display"/>
            </a:endParaRPr>
          </a:p>
        </p:txBody>
      </p:sp>
      <p:sp>
        <p:nvSpPr>
          <p:cNvPr id="17" name="Google Shape;1654;p96">
            <a:extLst>
              <a:ext uri="{FF2B5EF4-FFF2-40B4-BE49-F238E27FC236}">
                <a16:creationId xmlns:a16="http://schemas.microsoft.com/office/drawing/2014/main" id="{7E99DED4-A580-4AAF-7307-009B928BE467}"/>
              </a:ext>
            </a:extLst>
          </p:cNvPr>
          <p:cNvSpPr/>
          <p:nvPr/>
        </p:nvSpPr>
        <p:spPr>
          <a:xfrm>
            <a:off x="4688724" y="4755562"/>
            <a:ext cx="761400" cy="334200"/>
          </a:xfrm>
          <a:prstGeom prst="rect">
            <a:avLst/>
          </a:prstGeom>
          <a:solidFill>
            <a:srgbClr val="FFFFFF"/>
          </a:solidFill>
          <a:ln w="9525" cap="flat" cmpd="sng">
            <a:solidFill>
              <a:schemeClr val="tx1"/>
            </a:solidFill>
            <a:prstDash val="dash"/>
            <a:round/>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a:ln>
                  <a:noFill/>
                </a:ln>
                <a:effectLst/>
                <a:uLnTx/>
                <a:uFillTx/>
                <a:latin typeface="+mj-lt"/>
                <a:ea typeface="Red Hat Display"/>
                <a:cs typeface="Red Hat Display"/>
                <a:sym typeface="Red Hat Display"/>
              </a:rPr>
              <a:t>Deep Dive</a:t>
            </a:r>
            <a:endParaRPr kumimoji="0" sz="900" b="0" i="0" u="none" strike="noStrike" kern="1200" cap="none" spc="0" normalizeH="0" baseline="0" noProof="0">
              <a:ln>
                <a:noFill/>
              </a:ln>
              <a:effectLst/>
              <a:uLnTx/>
              <a:uFillTx/>
              <a:latin typeface="+mj-lt"/>
              <a:ea typeface="Red Hat Display"/>
              <a:cs typeface="Red Hat Display"/>
              <a:sym typeface="Red Hat Display"/>
            </a:endParaRPr>
          </a:p>
        </p:txBody>
      </p:sp>
      <p:sp>
        <p:nvSpPr>
          <p:cNvPr id="18" name="Google Shape;1655;p96">
            <a:extLst>
              <a:ext uri="{FF2B5EF4-FFF2-40B4-BE49-F238E27FC236}">
                <a16:creationId xmlns:a16="http://schemas.microsoft.com/office/drawing/2014/main" id="{574D772D-A01D-853A-DD1F-61CC01870A55}"/>
              </a:ext>
            </a:extLst>
          </p:cNvPr>
          <p:cNvSpPr/>
          <p:nvPr/>
        </p:nvSpPr>
        <p:spPr>
          <a:xfrm>
            <a:off x="9780647" y="4755562"/>
            <a:ext cx="1281811" cy="334200"/>
          </a:xfrm>
          <a:prstGeom prst="rect">
            <a:avLst/>
          </a:prstGeom>
          <a:solidFill>
            <a:srgbClr val="FFFFFF"/>
          </a:solidFill>
          <a:ln w="9525" cap="flat" cmpd="sng">
            <a:solidFill>
              <a:schemeClr val="tx1"/>
            </a:solidFill>
            <a:prstDash val="solid"/>
            <a:round/>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dirty="0">
                <a:ln>
                  <a:noFill/>
                </a:ln>
                <a:effectLst/>
                <a:uLnTx/>
                <a:uFillTx/>
                <a:latin typeface="+mj-lt"/>
                <a:ea typeface="Red Hat Display"/>
                <a:cs typeface="Red Hat Display"/>
                <a:sym typeface="Red Hat Display"/>
              </a:rPr>
              <a:t>Learnings Captured To Inform Iteration</a:t>
            </a:r>
            <a:endParaRPr kumimoji="0" sz="900" b="0" i="0" u="none" strike="noStrike" kern="1200" cap="none" spc="0" normalizeH="0" baseline="0" noProof="0" dirty="0">
              <a:ln>
                <a:noFill/>
              </a:ln>
              <a:effectLst/>
              <a:uLnTx/>
              <a:uFillTx/>
              <a:latin typeface="+mj-lt"/>
              <a:ea typeface="Red Hat Display"/>
              <a:cs typeface="Red Hat Display"/>
              <a:sym typeface="Red Hat Display"/>
            </a:endParaRPr>
          </a:p>
        </p:txBody>
      </p:sp>
      <p:cxnSp>
        <p:nvCxnSpPr>
          <p:cNvPr id="19" name="Google Shape;1657;p96">
            <a:extLst>
              <a:ext uri="{FF2B5EF4-FFF2-40B4-BE49-F238E27FC236}">
                <a16:creationId xmlns:a16="http://schemas.microsoft.com/office/drawing/2014/main" id="{8021AE27-E23C-2644-9FC5-78E300EE976E}"/>
              </a:ext>
            </a:extLst>
          </p:cNvPr>
          <p:cNvCxnSpPr>
            <a:cxnSpLocks/>
          </p:cNvCxnSpPr>
          <p:nvPr/>
        </p:nvCxnSpPr>
        <p:spPr>
          <a:xfrm>
            <a:off x="3966489" y="4922662"/>
            <a:ext cx="722235" cy="0"/>
          </a:xfrm>
          <a:prstGeom prst="straightConnector1">
            <a:avLst/>
          </a:prstGeom>
          <a:noFill/>
          <a:ln w="28575" cap="flat" cmpd="sng">
            <a:solidFill>
              <a:srgbClr val="FFFFFF"/>
            </a:solidFill>
            <a:prstDash val="solid"/>
            <a:round/>
            <a:headEnd type="none" w="sm" len="sm"/>
            <a:tailEnd type="triangle" w="med" len="med"/>
          </a:ln>
        </p:spPr>
      </p:cxnSp>
      <p:cxnSp>
        <p:nvCxnSpPr>
          <p:cNvPr id="20" name="Google Shape;1661;p96">
            <a:extLst>
              <a:ext uri="{FF2B5EF4-FFF2-40B4-BE49-F238E27FC236}">
                <a16:creationId xmlns:a16="http://schemas.microsoft.com/office/drawing/2014/main" id="{994824EB-6121-D7A6-7D8C-21C6C632D2AA}"/>
              </a:ext>
            </a:extLst>
          </p:cNvPr>
          <p:cNvCxnSpPr>
            <a:cxnSpLocks/>
            <a:stCxn id="23" idx="3"/>
            <a:endCxn id="18" idx="1"/>
          </p:cNvCxnSpPr>
          <p:nvPr/>
        </p:nvCxnSpPr>
        <p:spPr>
          <a:xfrm>
            <a:off x="9216784" y="4922662"/>
            <a:ext cx="563863" cy="0"/>
          </a:xfrm>
          <a:prstGeom prst="straightConnector1">
            <a:avLst/>
          </a:prstGeom>
          <a:noFill/>
          <a:ln w="28575" cap="flat" cmpd="sng">
            <a:solidFill>
              <a:srgbClr val="FFFFFF"/>
            </a:solidFill>
            <a:prstDash val="solid"/>
            <a:round/>
            <a:headEnd type="none" w="sm" len="sm"/>
            <a:tailEnd type="triangle" w="med" len="med"/>
          </a:ln>
        </p:spPr>
      </p:cxnSp>
      <p:cxnSp>
        <p:nvCxnSpPr>
          <p:cNvPr id="21" name="Google Shape;1663;p96">
            <a:extLst>
              <a:ext uri="{FF2B5EF4-FFF2-40B4-BE49-F238E27FC236}">
                <a16:creationId xmlns:a16="http://schemas.microsoft.com/office/drawing/2014/main" id="{D11C7F7D-223C-E34E-37CC-C4184BE443DE}"/>
              </a:ext>
            </a:extLst>
          </p:cNvPr>
          <p:cNvCxnSpPr>
            <a:cxnSpLocks/>
            <a:endCxn id="25" idx="1"/>
          </p:cNvCxnSpPr>
          <p:nvPr/>
        </p:nvCxnSpPr>
        <p:spPr>
          <a:xfrm>
            <a:off x="5450124" y="4922662"/>
            <a:ext cx="722235" cy="0"/>
          </a:xfrm>
          <a:prstGeom prst="straightConnector1">
            <a:avLst/>
          </a:prstGeom>
          <a:noFill/>
          <a:ln w="28575" cap="flat" cmpd="sng">
            <a:solidFill>
              <a:srgbClr val="FFFFFF"/>
            </a:solidFill>
            <a:prstDash val="solid"/>
            <a:round/>
            <a:headEnd type="none" w="sm" len="sm"/>
            <a:tailEnd type="triangle" w="med" len="med"/>
          </a:ln>
        </p:spPr>
      </p:cxnSp>
      <p:sp>
        <p:nvSpPr>
          <p:cNvPr id="22" name="Google Shape;1658;p96">
            <a:extLst>
              <a:ext uri="{FF2B5EF4-FFF2-40B4-BE49-F238E27FC236}">
                <a16:creationId xmlns:a16="http://schemas.microsoft.com/office/drawing/2014/main" id="{95ED0C11-8AD1-E910-76F8-D290D5E15903}"/>
              </a:ext>
            </a:extLst>
          </p:cNvPr>
          <p:cNvSpPr/>
          <p:nvPr/>
        </p:nvSpPr>
        <p:spPr>
          <a:xfrm>
            <a:off x="2631031" y="4755699"/>
            <a:ext cx="1325064" cy="333926"/>
          </a:xfrm>
          <a:prstGeom prst="flowChartPredefinedProcess">
            <a:avLst/>
          </a:prstGeom>
          <a:solidFill>
            <a:srgbClr val="FFFFFF"/>
          </a:solidFill>
          <a:ln w="9525" cap="flat" cmpd="sng">
            <a:solidFill>
              <a:schemeClr val="tx1"/>
            </a:solidFill>
            <a:prstDash val="solid"/>
            <a:round/>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dirty="0">
                <a:ln>
                  <a:noFill/>
                </a:ln>
                <a:effectLst/>
                <a:uLnTx/>
                <a:uFillTx/>
                <a:latin typeface="+mj-lt"/>
                <a:ea typeface="Red Hat Display"/>
                <a:cs typeface="Red Hat Display"/>
                <a:sym typeface="Red Hat Display"/>
              </a:rPr>
              <a:t>Win/Loss Assessment</a:t>
            </a:r>
            <a:endParaRPr kumimoji="0" sz="900" b="0" i="0" u="none" strike="noStrike" kern="1200" cap="none" spc="0" normalizeH="0" baseline="0" noProof="0" dirty="0">
              <a:ln>
                <a:noFill/>
              </a:ln>
              <a:effectLst/>
              <a:uLnTx/>
              <a:uFillTx/>
              <a:latin typeface="+mj-lt"/>
              <a:ea typeface="Red Hat Display"/>
              <a:cs typeface="Red Hat Display"/>
              <a:sym typeface="Red Hat Display"/>
            </a:endParaRPr>
          </a:p>
        </p:txBody>
      </p:sp>
      <p:sp>
        <p:nvSpPr>
          <p:cNvPr id="23" name="Google Shape;1614;p96">
            <a:extLst>
              <a:ext uri="{FF2B5EF4-FFF2-40B4-BE49-F238E27FC236}">
                <a16:creationId xmlns:a16="http://schemas.microsoft.com/office/drawing/2014/main" id="{E53EF01A-EAEC-CBB9-49FA-79838D89703E}"/>
              </a:ext>
            </a:extLst>
          </p:cNvPr>
          <p:cNvSpPr/>
          <p:nvPr/>
        </p:nvSpPr>
        <p:spPr>
          <a:xfrm>
            <a:off x="7884090" y="4755704"/>
            <a:ext cx="1332694" cy="333916"/>
          </a:xfrm>
          <a:prstGeom prst="rect">
            <a:avLst/>
          </a:prstGeom>
          <a:solidFill>
            <a:schemeClr val="bg1"/>
          </a:solidFill>
          <a:ln w="9525" cap="flat" cmpd="sng">
            <a:solidFill>
              <a:schemeClr val="tx1"/>
            </a:solidFill>
            <a:prstDash val="solid"/>
            <a:round/>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Tx/>
              <a:buNone/>
              <a:tabLst/>
              <a:defRPr/>
            </a:pPr>
            <a:r>
              <a:rPr kumimoji="0" lang="en" sz="900" b="0" i="0" u="none" strike="noStrike" kern="1200" cap="none" spc="0" normalizeH="0" baseline="0" noProof="0">
                <a:ln>
                  <a:noFill/>
                </a:ln>
                <a:effectLst/>
                <a:uLnTx/>
                <a:uFillTx/>
                <a:latin typeface="+mj-lt"/>
                <a:ea typeface="+mn-ea"/>
                <a:cs typeface="+mn-cs"/>
                <a:sym typeface="Red Hat Display"/>
              </a:rPr>
              <a:t>Winning Experience Maintained on Site</a:t>
            </a:r>
            <a:endParaRPr kumimoji="0" sz="900" b="0" i="0" u="none" strike="noStrike" kern="1200" cap="none" spc="0" normalizeH="0" baseline="0" noProof="0">
              <a:ln>
                <a:noFill/>
              </a:ln>
              <a:effectLst/>
              <a:uLnTx/>
              <a:uFillTx/>
              <a:latin typeface="+mj-lt"/>
              <a:ea typeface="+mn-ea"/>
              <a:cs typeface="+mn-cs"/>
              <a:sym typeface="Red Hat Display"/>
            </a:endParaRPr>
          </a:p>
        </p:txBody>
      </p:sp>
      <p:cxnSp>
        <p:nvCxnSpPr>
          <p:cNvPr id="24" name="Google Shape;1663;p96">
            <a:extLst>
              <a:ext uri="{FF2B5EF4-FFF2-40B4-BE49-F238E27FC236}">
                <a16:creationId xmlns:a16="http://schemas.microsoft.com/office/drawing/2014/main" id="{14E9D1D5-4BB8-3806-B5E9-AD8E245E988B}"/>
              </a:ext>
            </a:extLst>
          </p:cNvPr>
          <p:cNvCxnSpPr>
            <a:cxnSpLocks/>
            <a:stCxn id="25" idx="3"/>
          </p:cNvCxnSpPr>
          <p:nvPr/>
        </p:nvCxnSpPr>
        <p:spPr>
          <a:xfrm>
            <a:off x="7161855" y="4922662"/>
            <a:ext cx="722235" cy="0"/>
          </a:xfrm>
          <a:prstGeom prst="straightConnector1">
            <a:avLst/>
          </a:prstGeom>
          <a:noFill/>
          <a:ln w="28575" cap="flat" cmpd="sng">
            <a:solidFill>
              <a:srgbClr val="FFFFFF"/>
            </a:solidFill>
            <a:prstDash val="solid"/>
            <a:round/>
            <a:headEnd type="none" w="sm" len="sm"/>
            <a:tailEnd type="triangle" w="med" len="med"/>
          </a:ln>
        </p:spPr>
      </p:cxnSp>
      <p:sp>
        <p:nvSpPr>
          <p:cNvPr id="25" name="Google Shape;1662;p96">
            <a:extLst>
              <a:ext uri="{FF2B5EF4-FFF2-40B4-BE49-F238E27FC236}">
                <a16:creationId xmlns:a16="http://schemas.microsoft.com/office/drawing/2014/main" id="{3A752AB3-E87D-4184-7A21-AC12E8A6FB0F}"/>
              </a:ext>
            </a:extLst>
          </p:cNvPr>
          <p:cNvSpPr/>
          <p:nvPr/>
        </p:nvSpPr>
        <p:spPr>
          <a:xfrm>
            <a:off x="6172359" y="4755694"/>
            <a:ext cx="989496" cy="333936"/>
          </a:xfrm>
          <a:prstGeom prst="flowChartDocument">
            <a:avLst/>
          </a:prstGeom>
          <a:solidFill>
            <a:srgbClr val="FFFFFF"/>
          </a:solidFill>
          <a:ln w="9525" cap="flat" cmpd="sng">
            <a:solidFill>
              <a:schemeClr val="tx1"/>
            </a:solidFill>
            <a:prstDash val="solid"/>
            <a:round/>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a:ln>
                  <a:noFill/>
                </a:ln>
                <a:solidFill>
                  <a:srgbClr val="0070C0"/>
                </a:solidFill>
                <a:effectLst/>
                <a:uLnTx/>
                <a:uFillTx/>
                <a:latin typeface="+mj-lt"/>
                <a:ea typeface="Red Hat Display"/>
                <a:cs typeface="Red Hat Display"/>
                <a:sym typeface="Red Hat Display"/>
                <a:hlinkClick r:id="rId4">
                  <a:extLst>
                    <a:ext uri="{A12FA001-AC4F-418D-AE19-62706E023703}">
                      <ahyp:hlinkClr xmlns:ahyp="http://schemas.microsoft.com/office/drawing/2018/hyperlinkcolor" val="tx"/>
                    </a:ext>
                  </a:extLst>
                </a:hlinkClick>
              </a:rPr>
              <a:t>Test Results Delivered</a:t>
            </a:r>
            <a:endParaRPr kumimoji="0" sz="900" b="0" i="0" u="none" strike="noStrike" kern="1200" cap="none" spc="0" normalizeH="0" baseline="0" noProof="0">
              <a:ln>
                <a:noFill/>
              </a:ln>
              <a:solidFill>
                <a:srgbClr val="0070C0"/>
              </a:solidFill>
              <a:effectLst/>
              <a:uLnTx/>
              <a:uFillTx/>
              <a:latin typeface="+mj-lt"/>
              <a:ea typeface="Red Hat Display"/>
              <a:cs typeface="Red Hat Display"/>
              <a:sym typeface="Red Hat Display"/>
            </a:endParaRPr>
          </a:p>
        </p:txBody>
      </p:sp>
      <p:sp>
        <p:nvSpPr>
          <p:cNvPr id="27" name="Google Shape;1608;p96">
            <a:extLst>
              <a:ext uri="{FF2B5EF4-FFF2-40B4-BE49-F238E27FC236}">
                <a16:creationId xmlns:a16="http://schemas.microsoft.com/office/drawing/2014/main" id="{00CE4E32-2CFD-A099-76AE-FBF8A1E18244}"/>
              </a:ext>
            </a:extLst>
          </p:cNvPr>
          <p:cNvSpPr/>
          <p:nvPr/>
        </p:nvSpPr>
        <p:spPr>
          <a:xfrm>
            <a:off x="855012" y="2857758"/>
            <a:ext cx="10396500" cy="548640"/>
          </a:xfrm>
          <a:prstGeom prst="roundRect">
            <a:avLst>
              <a:gd name="adj" fmla="val 16667"/>
            </a:avLst>
          </a:prstGeom>
          <a:solidFill>
            <a:schemeClr val="accent1"/>
          </a:solidFill>
          <a:ln>
            <a:noFill/>
          </a:ln>
        </p:spPr>
        <p:txBody>
          <a:bodyPr spcFirstLastPara="1" wrap="square" lIns="77300" tIns="77300" rIns="77300" bIns="773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sng" strike="noStrike" kern="1200" cap="none" spc="0" normalizeH="0" baseline="0" noProof="0">
              <a:ln>
                <a:noFill/>
              </a:ln>
              <a:solidFill>
                <a:srgbClr val="002477"/>
              </a:solidFill>
              <a:effectLst/>
              <a:uLnTx/>
              <a:uFillTx/>
              <a:latin typeface="+mj-lt"/>
              <a:ea typeface="Arial"/>
              <a:cs typeface="Arial"/>
              <a:sym typeface="Arial"/>
            </a:endParaRPr>
          </a:p>
        </p:txBody>
      </p:sp>
      <p:sp>
        <p:nvSpPr>
          <p:cNvPr id="28" name="Google Shape;1613;p96">
            <a:extLst>
              <a:ext uri="{FF2B5EF4-FFF2-40B4-BE49-F238E27FC236}">
                <a16:creationId xmlns:a16="http://schemas.microsoft.com/office/drawing/2014/main" id="{8468C1E3-7869-E8CE-51FE-EB5317F95EB0}"/>
              </a:ext>
            </a:extLst>
          </p:cNvPr>
          <p:cNvSpPr/>
          <p:nvPr/>
        </p:nvSpPr>
        <p:spPr>
          <a:xfrm>
            <a:off x="2631031" y="2965124"/>
            <a:ext cx="842413" cy="333909"/>
          </a:xfrm>
          <a:prstGeom prst="flowChartProcess">
            <a:avLst/>
          </a:prstGeom>
          <a:solidFill>
            <a:schemeClr val="accent3">
              <a:lumMod val="60000"/>
              <a:lumOff val="40000"/>
            </a:schemeClr>
          </a:solidFill>
          <a:ln w="9525" cap="flat" cmpd="sng">
            <a:solidFill>
              <a:schemeClr val="tx1"/>
            </a:solidFill>
            <a:prstDash val="solid"/>
            <a:round/>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dirty="0">
                <a:ln>
                  <a:noFill/>
                </a:ln>
                <a:solidFill>
                  <a:schemeClr val="bg1"/>
                </a:solidFill>
                <a:effectLst/>
                <a:uLnTx/>
                <a:uFillTx/>
                <a:latin typeface="+mj-lt"/>
                <a:ea typeface="Red Hat Display"/>
                <a:cs typeface="Red Hat Display"/>
                <a:sym typeface="Red Hat Display"/>
              </a:rPr>
              <a:t>Dev Intake</a:t>
            </a:r>
            <a:endParaRPr kumimoji="0" sz="900" b="0" i="0" u="none" strike="noStrike" kern="1200" cap="none" spc="0" normalizeH="0" baseline="0" noProof="0" dirty="0">
              <a:ln>
                <a:noFill/>
              </a:ln>
              <a:solidFill>
                <a:schemeClr val="bg1"/>
              </a:solidFill>
              <a:effectLst/>
              <a:uLnTx/>
              <a:uFillTx/>
              <a:latin typeface="+mj-lt"/>
              <a:ea typeface="Red Hat Display"/>
              <a:cs typeface="Red Hat Display"/>
              <a:sym typeface="Red Hat Display"/>
            </a:endParaRPr>
          </a:p>
        </p:txBody>
      </p:sp>
      <p:cxnSp>
        <p:nvCxnSpPr>
          <p:cNvPr id="29" name="Google Shape;1632;p96">
            <a:extLst>
              <a:ext uri="{FF2B5EF4-FFF2-40B4-BE49-F238E27FC236}">
                <a16:creationId xmlns:a16="http://schemas.microsoft.com/office/drawing/2014/main" id="{05215E76-EDB3-B479-8A54-C2128950C86F}"/>
              </a:ext>
            </a:extLst>
          </p:cNvPr>
          <p:cNvCxnSpPr>
            <a:cxnSpLocks/>
            <a:stCxn id="28" idx="3"/>
            <a:endCxn id="33" idx="1"/>
          </p:cNvCxnSpPr>
          <p:nvPr/>
        </p:nvCxnSpPr>
        <p:spPr>
          <a:xfrm flipV="1">
            <a:off x="3473444" y="3132078"/>
            <a:ext cx="447300" cy="1"/>
          </a:xfrm>
          <a:prstGeom prst="straightConnector1">
            <a:avLst/>
          </a:prstGeom>
          <a:noFill/>
          <a:ln w="28575" cap="flat" cmpd="sng">
            <a:solidFill>
              <a:srgbClr val="FFFFFF"/>
            </a:solidFill>
            <a:prstDash val="solid"/>
            <a:round/>
            <a:headEnd type="none" w="sm" len="sm"/>
            <a:tailEnd type="triangle" w="med" len="med"/>
          </a:ln>
        </p:spPr>
      </p:cxnSp>
      <p:sp>
        <p:nvSpPr>
          <p:cNvPr id="30" name="Google Shape;1643;p96">
            <a:extLst>
              <a:ext uri="{FF2B5EF4-FFF2-40B4-BE49-F238E27FC236}">
                <a16:creationId xmlns:a16="http://schemas.microsoft.com/office/drawing/2014/main" id="{46AF012E-25E6-20EF-CF24-A18C8E7B6961}"/>
              </a:ext>
            </a:extLst>
          </p:cNvPr>
          <p:cNvSpPr txBox="1"/>
          <p:nvPr/>
        </p:nvSpPr>
        <p:spPr>
          <a:xfrm>
            <a:off x="962260" y="2957028"/>
            <a:ext cx="1644300" cy="350100"/>
          </a:xfrm>
          <a:prstGeom prst="rect">
            <a:avLst/>
          </a:prstGeom>
          <a:noFill/>
          <a:ln>
            <a:noFill/>
          </a:ln>
        </p:spPr>
        <p:txBody>
          <a:bodyPr spcFirstLastPara="1" wrap="square" lIns="77300" tIns="77300" rIns="77300" bIns="773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 sz="1200" b="0" i="0" u="none" strike="noStrike" kern="1200" cap="none" spc="0" normalizeH="0" baseline="0" noProof="0">
                <a:ln>
                  <a:noFill/>
                </a:ln>
                <a:solidFill>
                  <a:schemeClr val="bg1"/>
                </a:solidFill>
                <a:effectLst/>
                <a:uLnTx/>
                <a:uFillTx/>
                <a:latin typeface="+mj-lt"/>
                <a:ea typeface="Red Hat Display"/>
                <a:cs typeface="Red Hat Display"/>
                <a:sym typeface="Red Hat Display"/>
              </a:rPr>
              <a:t>Dev Fulfillment</a:t>
            </a:r>
            <a:endParaRPr kumimoji="0" sz="1200" b="0" i="0" u="none" strike="noStrike" kern="1200" cap="none" spc="0" normalizeH="0" baseline="0" noProof="0">
              <a:ln>
                <a:noFill/>
              </a:ln>
              <a:solidFill>
                <a:schemeClr val="bg1"/>
              </a:solidFill>
              <a:effectLst/>
              <a:uLnTx/>
              <a:uFillTx/>
              <a:latin typeface="+mj-lt"/>
              <a:ea typeface="Red Hat Display"/>
              <a:cs typeface="Red Hat Display"/>
              <a:sym typeface="Red Hat Display"/>
            </a:endParaRPr>
          </a:p>
        </p:txBody>
      </p:sp>
      <p:sp>
        <p:nvSpPr>
          <p:cNvPr id="31" name="Google Shape;1615;p96">
            <a:extLst>
              <a:ext uri="{FF2B5EF4-FFF2-40B4-BE49-F238E27FC236}">
                <a16:creationId xmlns:a16="http://schemas.microsoft.com/office/drawing/2014/main" id="{8551B22F-0B14-BAF9-F851-717544F54CDC}"/>
              </a:ext>
            </a:extLst>
          </p:cNvPr>
          <p:cNvSpPr/>
          <p:nvPr/>
        </p:nvSpPr>
        <p:spPr>
          <a:xfrm>
            <a:off x="5383929" y="2965124"/>
            <a:ext cx="1254292" cy="333909"/>
          </a:xfrm>
          <a:prstGeom prst="flowChartProcess">
            <a:avLst/>
          </a:prstGeom>
          <a:solidFill>
            <a:schemeClr val="accent3">
              <a:lumMod val="60000"/>
              <a:lumOff val="40000"/>
            </a:schemeClr>
          </a:solidFill>
          <a:ln w="9525" cap="flat" cmpd="sng">
            <a:solidFill>
              <a:schemeClr val="tx1"/>
            </a:solidFill>
            <a:prstDash val="solid"/>
            <a:round/>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Tx/>
              <a:buNone/>
              <a:tabLst/>
              <a:defRPr/>
            </a:pPr>
            <a:r>
              <a:rPr kumimoji="0" lang="en" sz="900" b="0" i="0" u="none" strike="noStrike" kern="1200" cap="none" spc="0" normalizeH="0" baseline="0" noProof="0">
                <a:ln>
                  <a:noFill/>
                </a:ln>
                <a:solidFill>
                  <a:schemeClr val="bg1"/>
                </a:solidFill>
                <a:effectLst/>
                <a:uLnTx/>
                <a:uFillTx/>
                <a:latin typeface="+mj-lt"/>
                <a:ea typeface="+mn-ea"/>
                <a:cs typeface="+mn-cs"/>
                <a:sym typeface="Red Hat Display"/>
              </a:rPr>
              <a:t>QA / Troubleshoot</a:t>
            </a:r>
            <a:endParaRPr kumimoji="0" sz="900" b="0" i="0" u="none" strike="noStrike" kern="1200" cap="none" spc="0" normalizeH="0" baseline="0" noProof="0">
              <a:ln>
                <a:noFill/>
              </a:ln>
              <a:solidFill>
                <a:schemeClr val="bg1"/>
              </a:solidFill>
              <a:effectLst/>
              <a:uLnTx/>
              <a:uFillTx/>
              <a:latin typeface="+mj-lt"/>
              <a:ea typeface="+mn-ea"/>
              <a:cs typeface="+mn-cs"/>
              <a:sym typeface="Red Hat Display"/>
            </a:endParaRPr>
          </a:p>
        </p:txBody>
      </p:sp>
      <p:cxnSp>
        <p:nvCxnSpPr>
          <p:cNvPr id="32" name="Google Shape;1636;p96">
            <a:extLst>
              <a:ext uri="{FF2B5EF4-FFF2-40B4-BE49-F238E27FC236}">
                <a16:creationId xmlns:a16="http://schemas.microsoft.com/office/drawing/2014/main" id="{C40AF761-66EA-2825-424E-B29C90C119EE}"/>
              </a:ext>
            </a:extLst>
          </p:cNvPr>
          <p:cNvCxnSpPr>
            <a:cxnSpLocks/>
            <a:stCxn id="33" idx="3"/>
            <a:endCxn id="31" idx="1"/>
          </p:cNvCxnSpPr>
          <p:nvPr/>
        </p:nvCxnSpPr>
        <p:spPr>
          <a:xfrm>
            <a:off x="5081222" y="3132078"/>
            <a:ext cx="302707" cy="1"/>
          </a:xfrm>
          <a:prstGeom prst="straightConnector1">
            <a:avLst/>
          </a:prstGeom>
          <a:noFill/>
          <a:ln w="28575" cap="flat" cmpd="sng">
            <a:solidFill>
              <a:srgbClr val="FFFFFF"/>
            </a:solidFill>
            <a:prstDash val="solid"/>
            <a:round/>
            <a:headEnd type="none" w="sm" len="sm"/>
            <a:tailEnd type="triangle" w="med" len="med"/>
          </a:ln>
        </p:spPr>
      </p:cxnSp>
      <p:sp>
        <p:nvSpPr>
          <p:cNvPr id="33" name="Google Shape;1634;p96">
            <a:extLst>
              <a:ext uri="{FF2B5EF4-FFF2-40B4-BE49-F238E27FC236}">
                <a16:creationId xmlns:a16="http://schemas.microsoft.com/office/drawing/2014/main" id="{1FE1684D-8B61-0CB7-2648-1E0252CF4A6D}"/>
              </a:ext>
            </a:extLst>
          </p:cNvPr>
          <p:cNvSpPr/>
          <p:nvPr/>
        </p:nvSpPr>
        <p:spPr>
          <a:xfrm>
            <a:off x="3920744" y="2965120"/>
            <a:ext cx="1160478" cy="333916"/>
          </a:xfrm>
          <a:prstGeom prst="flowChartProcess">
            <a:avLst/>
          </a:prstGeom>
          <a:solidFill>
            <a:schemeClr val="accent3">
              <a:lumMod val="60000"/>
              <a:lumOff val="40000"/>
            </a:schemeClr>
          </a:solidFill>
          <a:ln w="9525" cap="flat" cmpd="sng">
            <a:solidFill>
              <a:schemeClr val="tx1"/>
            </a:solidFill>
            <a:prstDash val="solid"/>
            <a:round/>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a:ln>
                  <a:noFill/>
                </a:ln>
                <a:solidFill>
                  <a:schemeClr val="bg1"/>
                </a:solidFill>
                <a:effectLst/>
                <a:uLnTx/>
                <a:uFillTx/>
                <a:latin typeface="+mj-lt"/>
                <a:ea typeface="Red Hat Display"/>
                <a:cs typeface="Red Hat Display"/>
                <a:sym typeface="Red Hat Display"/>
              </a:rPr>
              <a:t>Test Builds</a:t>
            </a:r>
            <a:endParaRPr kumimoji="0" sz="900" b="0" i="0" u="none" strike="noStrike" kern="1200" cap="none" spc="0" normalizeH="0" baseline="0" noProof="0">
              <a:ln>
                <a:noFill/>
              </a:ln>
              <a:solidFill>
                <a:schemeClr val="bg1"/>
              </a:solidFill>
              <a:effectLst/>
              <a:uLnTx/>
              <a:uFillTx/>
              <a:latin typeface="+mj-lt"/>
              <a:ea typeface="Red Hat Display"/>
              <a:cs typeface="Red Hat Display"/>
              <a:sym typeface="Red Hat Display"/>
            </a:endParaRPr>
          </a:p>
        </p:txBody>
      </p:sp>
      <p:sp>
        <p:nvSpPr>
          <p:cNvPr id="34" name="Google Shape;1614;p96">
            <a:extLst>
              <a:ext uri="{FF2B5EF4-FFF2-40B4-BE49-F238E27FC236}">
                <a16:creationId xmlns:a16="http://schemas.microsoft.com/office/drawing/2014/main" id="{A43FC642-BBC0-B883-85AD-34E914B66659}"/>
              </a:ext>
            </a:extLst>
          </p:cNvPr>
          <p:cNvSpPr/>
          <p:nvPr/>
        </p:nvSpPr>
        <p:spPr>
          <a:xfrm>
            <a:off x="8500440" y="2965120"/>
            <a:ext cx="1317482" cy="333916"/>
          </a:xfrm>
          <a:prstGeom prst="flowChartPredefinedProcess">
            <a:avLst/>
          </a:prstGeom>
          <a:solidFill>
            <a:schemeClr val="accent2">
              <a:lumMod val="40000"/>
              <a:lumOff val="60000"/>
            </a:schemeClr>
          </a:solidFill>
          <a:ln w="3175" cap="flat" cmpd="sng">
            <a:solidFill>
              <a:schemeClr val="tx1"/>
            </a:solidFill>
            <a:prstDash val="solid"/>
            <a:round/>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a:ln>
                  <a:noFill/>
                </a:ln>
                <a:effectLst/>
                <a:uLnTx/>
                <a:uFillTx/>
                <a:latin typeface="+mj-lt"/>
                <a:ea typeface="Red Hat Display"/>
                <a:cs typeface="Red Hat Display"/>
                <a:sym typeface="Red Hat Display"/>
              </a:rPr>
              <a:t>Builds Approved</a:t>
            </a:r>
            <a:endParaRPr kumimoji="0" sz="900" b="0" i="0" u="none" strike="noStrike" kern="1200" cap="none" spc="0" normalizeH="0" baseline="0" noProof="0">
              <a:ln>
                <a:noFill/>
              </a:ln>
              <a:effectLst/>
              <a:uLnTx/>
              <a:uFillTx/>
              <a:latin typeface="+mj-lt"/>
              <a:ea typeface="Red Hat Display"/>
              <a:cs typeface="Red Hat Display"/>
              <a:sym typeface="Red Hat Display"/>
            </a:endParaRPr>
          </a:p>
        </p:txBody>
      </p:sp>
      <p:cxnSp>
        <p:nvCxnSpPr>
          <p:cNvPr id="35" name="Google Shape;1636;p96">
            <a:extLst>
              <a:ext uri="{FF2B5EF4-FFF2-40B4-BE49-F238E27FC236}">
                <a16:creationId xmlns:a16="http://schemas.microsoft.com/office/drawing/2014/main" id="{BE0BCD5A-6323-1B91-2211-D9D9820FCD4C}"/>
              </a:ext>
            </a:extLst>
          </p:cNvPr>
          <p:cNvCxnSpPr>
            <a:cxnSpLocks/>
            <a:stCxn id="31" idx="3"/>
            <a:endCxn id="121" idx="1"/>
          </p:cNvCxnSpPr>
          <p:nvPr/>
        </p:nvCxnSpPr>
        <p:spPr>
          <a:xfrm flipV="1">
            <a:off x="6638221" y="3130253"/>
            <a:ext cx="341317" cy="1826"/>
          </a:xfrm>
          <a:prstGeom prst="straightConnector1">
            <a:avLst/>
          </a:prstGeom>
          <a:noFill/>
          <a:ln w="28575" cap="flat" cmpd="sng">
            <a:solidFill>
              <a:srgbClr val="FFFFFF"/>
            </a:solidFill>
            <a:prstDash val="solid"/>
            <a:round/>
            <a:headEnd type="none" w="sm" len="sm"/>
            <a:tailEnd type="triangle" w="med" len="med"/>
          </a:ln>
        </p:spPr>
      </p:cxnSp>
      <p:sp>
        <p:nvSpPr>
          <p:cNvPr id="36" name="Title 1">
            <a:extLst>
              <a:ext uri="{FF2B5EF4-FFF2-40B4-BE49-F238E27FC236}">
                <a16:creationId xmlns:a16="http://schemas.microsoft.com/office/drawing/2014/main" id="{366D5BD4-62D7-84A2-A2DF-32BA3F14A83C}"/>
              </a:ext>
            </a:extLst>
          </p:cNvPr>
          <p:cNvSpPr txBox="1">
            <a:spLocks/>
          </p:cNvSpPr>
          <p:nvPr/>
        </p:nvSpPr>
        <p:spPr>
          <a:xfrm>
            <a:off x="0" y="12228"/>
            <a:ext cx="12192000" cy="540923"/>
          </a:xfrm>
          <a:prstGeom prst="rect">
            <a:avLst/>
          </a:prstGeom>
        </p:spPr>
        <p:txBody>
          <a:bodyPr lIns="91440" tIns="45720" rIns="91440" bIns="45720" anchor="t"/>
          <a:lstStyle>
            <a:lvl1pPr algn="l" defTabSz="914377" rtl="0" eaLnBrk="1" latinLnBrk="0" hangingPunct="1">
              <a:lnSpc>
                <a:spcPct val="100000"/>
              </a:lnSpc>
              <a:spcBef>
                <a:spcPct val="0"/>
              </a:spcBef>
              <a:buNone/>
              <a:defRPr sz="3200" b="1" i="0" kern="1200" spc="0" baseline="0">
                <a:solidFill>
                  <a:schemeClr val="accent1"/>
                </a:solidFill>
                <a:latin typeface="+mj-lt"/>
                <a:ea typeface="+mj-ea"/>
                <a:cs typeface="+mj-cs"/>
              </a:defRPr>
            </a:lvl1pPr>
          </a:lstStyle>
          <a:p>
            <a:pPr algn="ctr"/>
            <a:r>
              <a:rPr lang="en-MY" sz="2800"/>
              <a:t>CRO Workflow</a:t>
            </a:r>
          </a:p>
        </p:txBody>
      </p:sp>
      <p:sp>
        <p:nvSpPr>
          <p:cNvPr id="38" name="Google Shape;1602;p96">
            <a:extLst>
              <a:ext uri="{FF2B5EF4-FFF2-40B4-BE49-F238E27FC236}">
                <a16:creationId xmlns:a16="http://schemas.microsoft.com/office/drawing/2014/main" id="{3EA62908-3123-5AF1-F77A-A1A4F9610487}"/>
              </a:ext>
            </a:extLst>
          </p:cNvPr>
          <p:cNvSpPr/>
          <p:nvPr/>
        </p:nvSpPr>
        <p:spPr>
          <a:xfrm>
            <a:off x="855012" y="1676853"/>
            <a:ext cx="10396500" cy="548640"/>
          </a:xfrm>
          <a:prstGeom prst="roundRect">
            <a:avLst>
              <a:gd name="adj" fmla="val 16667"/>
            </a:avLst>
          </a:prstGeom>
          <a:solidFill>
            <a:schemeClr val="accent1"/>
          </a:solidFill>
          <a:ln>
            <a:noFill/>
          </a:ln>
        </p:spPr>
        <p:txBody>
          <a:bodyPr spcFirstLastPara="1" wrap="square" lIns="77300" tIns="77300" rIns="77300" bIns="773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002477"/>
              </a:solidFill>
              <a:effectLst/>
              <a:uLnTx/>
              <a:uFillTx/>
              <a:latin typeface="+mj-lt"/>
              <a:ea typeface="Arial"/>
              <a:cs typeface="Arial"/>
              <a:sym typeface="Arial"/>
            </a:endParaRPr>
          </a:p>
        </p:txBody>
      </p:sp>
      <p:sp>
        <p:nvSpPr>
          <p:cNvPr id="39" name="Google Shape;1605;p96">
            <a:extLst>
              <a:ext uri="{FF2B5EF4-FFF2-40B4-BE49-F238E27FC236}">
                <a16:creationId xmlns:a16="http://schemas.microsoft.com/office/drawing/2014/main" id="{1FBA37CF-6882-EF06-CA3B-C2176715414B}"/>
              </a:ext>
            </a:extLst>
          </p:cNvPr>
          <p:cNvSpPr/>
          <p:nvPr/>
        </p:nvSpPr>
        <p:spPr>
          <a:xfrm>
            <a:off x="8310149" y="1784073"/>
            <a:ext cx="1058100" cy="334200"/>
          </a:xfrm>
          <a:prstGeom prst="rect">
            <a:avLst/>
          </a:prstGeom>
          <a:solidFill>
            <a:schemeClr val="accent1"/>
          </a:solidFill>
          <a:ln w="9525" cap="flat" cmpd="sng">
            <a:solidFill>
              <a:schemeClr val="tx1"/>
            </a:solidFill>
            <a:prstDash val="solid"/>
            <a:round/>
            <a:headEnd type="none" w="sm" len="sm"/>
            <a:tailEnd type="none" w="sm" len="sm"/>
          </a:ln>
        </p:spPr>
        <p:txBody>
          <a:bodyPr spcFirstLastPara="1" wrap="square" lIns="77300" tIns="0" rIns="7730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dirty="0">
                <a:ln>
                  <a:noFill/>
                </a:ln>
                <a:solidFill>
                  <a:schemeClr val="bg1"/>
                </a:solidFill>
                <a:effectLst/>
                <a:uLnTx/>
                <a:uFillTx/>
                <a:latin typeface="+mj-lt"/>
                <a:ea typeface="Red Hat Display"/>
                <a:cs typeface="Red Hat Display"/>
                <a:sym typeface="Red Hat Display"/>
              </a:rPr>
              <a:t>Creative Development</a:t>
            </a:r>
            <a:endParaRPr kumimoji="0" sz="900" b="0" i="0" u="none" strike="noStrike" kern="1200" cap="none" spc="0" normalizeH="0" baseline="0" noProof="0" dirty="0">
              <a:ln>
                <a:noFill/>
              </a:ln>
              <a:solidFill>
                <a:schemeClr val="bg1"/>
              </a:solidFill>
              <a:effectLst/>
              <a:uLnTx/>
              <a:uFillTx/>
              <a:latin typeface="+mj-lt"/>
              <a:ea typeface="Red Hat Display"/>
              <a:cs typeface="Red Hat Display"/>
              <a:sym typeface="Red Hat Display"/>
            </a:endParaRPr>
          </a:p>
        </p:txBody>
      </p:sp>
      <p:sp>
        <p:nvSpPr>
          <p:cNvPr id="40" name="Google Shape;1606;p96">
            <a:extLst>
              <a:ext uri="{FF2B5EF4-FFF2-40B4-BE49-F238E27FC236}">
                <a16:creationId xmlns:a16="http://schemas.microsoft.com/office/drawing/2014/main" id="{F25129C2-6C39-BF3E-9AF4-4D52C59052AA}"/>
              </a:ext>
            </a:extLst>
          </p:cNvPr>
          <p:cNvSpPr txBox="1"/>
          <p:nvPr/>
        </p:nvSpPr>
        <p:spPr>
          <a:xfrm>
            <a:off x="910328" y="1776123"/>
            <a:ext cx="1644300" cy="350100"/>
          </a:xfrm>
          <a:prstGeom prst="rect">
            <a:avLst/>
          </a:prstGeom>
          <a:noFill/>
          <a:ln>
            <a:noFill/>
          </a:ln>
        </p:spPr>
        <p:txBody>
          <a:bodyPr spcFirstLastPara="1" wrap="square" lIns="77300" tIns="77300" rIns="77300" bIns="773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 sz="1200" b="0" i="0" u="none" strike="noStrike" kern="1200" cap="none" spc="0" normalizeH="0" baseline="0" noProof="0">
                <a:ln>
                  <a:noFill/>
                </a:ln>
                <a:solidFill>
                  <a:schemeClr val="bg1"/>
                </a:solidFill>
                <a:effectLst/>
                <a:uLnTx/>
                <a:uFillTx/>
                <a:latin typeface="+mj-lt"/>
                <a:ea typeface="Red Hat Display"/>
                <a:cs typeface="Red Hat Display"/>
                <a:sym typeface="Red Hat Display"/>
              </a:rPr>
              <a:t>Creative Fulfillment</a:t>
            </a:r>
            <a:endParaRPr kumimoji="0" sz="1200" b="0" i="0" u="none" strike="noStrike" kern="1200" cap="none" spc="0" normalizeH="0" baseline="0" noProof="0">
              <a:ln>
                <a:noFill/>
              </a:ln>
              <a:solidFill>
                <a:schemeClr val="bg1"/>
              </a:solidFill>
              <a:effectLst/>
              <a:uLnTx/>
              <a:uFillTx/>
              <a:latin typeface="+mj-lt"/>
              <a:ea typeface="Red Hat Display"/>
              <a:cs typeface="Red Hat Display"/>
              <a:sym typeface="Red Hat Display"/>
            </a:endParaRPr>
          </a:p>
        </p:txBody>
      </p:sp>
      <p:sp>
        <p:nvSpPr>
          <p:cNvPr id="41" name="Google Shape;1620;p96">
            <a:extLst>
              <a:ext uri="{FF2B5EF4-FFF2-40B4-BE49-F238E27FC236}">
                <a16:creationId xmlns:a16="http://schemas.microsoft.com/office/drawing/2014/main" id="{1681EE79-6CEE-C5E1-D58F-6F68C2338545}"/>
              </a:ext>
            </a:extLst>
          </p:cNvPr>
          <p:cNvSpPr/>
          <p:nvPr/>
        </p:nvSpPr>
        <p:spPr>
          <a:xfrm>
            <a:off x="5266877" y="1784205"/>
            <a:ext cx="1114992" cy="333936"/>
          </a:xfrm>
          <a:prstGeom prst="flowChartDocument">
            <a:avLst/>
          </a:prstGeom>
          <a:solidFill>
            <a:srgbClr val="FFFFFF"/>
          </a:solidFill>
          <a:ln w="9525" cap="flat" cmpd="sng">
            <a:solidFill>
              <a:schemeClr val="tx1"/>
            </a:solidFill>
            <a:prstDash val="solid"/>
            <a:round/>
            <a:headEnd type="none" w="sm" len="sm"/>
            <a:tailEnd type="none" w="sm" len="sm"/>
          </a:ln>
        </p:spPr>
        <p:txBody>
          <a:bodyPr spcFirstLastPara="1" wrap="square" lIns="77300" tIns="0" rIns="7730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dirty="0">
                <a:ln>
                  <a:noFill/>
                </a:ln>
                <a:solidFill>
                  <a:srgbClr val="0070C0"/>
                </a:solidFill>
                <a:effectLst/>
                <a:uLnTx/>
                <a:uFillTx/>
                <a:latin typeface="+mj-lt"/>
                <a:ea typeface="Red Hat Display"/>
                <a:cs typeface="Red Hat Display"/>
                <a:sym typeface="Red Hat Display"/>
                <a:hlinkClick r:id="" action="ppaction://noaction">
                  <a:extLst>
                    <a:ext uri="{A12FA001-AC4F-418D-AE19-62706E023703}">
                      <ahyp:hlinkClr xmlns:ahyp="http://schemas.microsoft.com/office/drawing/2018/hyperlinkcolor" val="tx"/>
                    </a:ext>
                  </a:extLst>
                </a:hlinkClick>
              </a:rPr>
              <a:t>Creative Brief</a:t>
            </a:r>
          </a:p>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dirty="0">
                <a:ln>
                  <a:noFill/>
                </a:ln>
                <a:solidFill>
                  <a:srgbClr val="0070C0"/>
                </a:solidFill>
                <a:effectLst/>
                <a:uLnTx/>
                <a:uFillTx/>
                <a:latin typeface="+mj-lt"/>
                <a:ea typeface="Red Hat Display"/>
                <a:cs typeface="Red Hat Display"/>
                <a:sym typeface="Red Hat Display"/>
                <a:hlinkClick r:id="" action="ppaction://noaction">
                  <a:extLst>
                    <a:ext uri="{A12FA001-AC4F-418D-AE19-62706E023703}">
                      <ahyp:hlinkClr xmlns:ahyp="http://schemas.microsoft.com/office/drawing/2018/hyperlinkcolor" val="tx"/>
                    </a:ext>
                  </a:extLst>
                </a:hlinkClick>
              </a:rPr>
              <a:t>Delivered</a:t>
            </a:r>
            <a:endParaRPr kumimoji="0" sz="900" b="0" i="0" u="none" strike="noStrike" kern="1200" cap="none" spc="0" normalizeH="0" baseline="0" noProof="0" dirty="0">
              <a:ln>
                <a:noFill/>
              </a:ln>
              <a:solidFill>
                <a:srgbClr val="0070C0"/>
              </a:solidFill>
              <a:effectLst/>
              <a:uLnTx/>
              <a:uFillTx/>
              <a:latin typeface="+mj-lt"/>
              <a:ea typeface="Red Hat Display"/>
              <a:cs typeface="Red Hat Display"/>
              <a:sym typeface="Red Hat Display"/>
            </a:endParaRPr>
          </a:p>
        </p:txBody>
      </p:sp>
      <p:sp>
        <p:nvSpPr>
          <p:cNvPr id="42" name="Google Shape;1620;p96">
            <a:extLst>
              <a:ext uri="{FF2B5EF4-FFF2-40B4-BE49-F238E27FC236}">
                <a16:creationId xmlns:a16="http://schemas.microsoft.com/office/drawing/2014/main" id="{E9681F80-563F-74D9-BEF6-2AC5F3803141}"/>
              </a:ext>
            </a:extLst>
          </p:cNvPr>
          <p:cNvSpPr/>
          <p:nvPr/>
        </p:nvSpPr>
        <p:spPr>
          <a:xfrm>
            <a:off x="10169349" y="1784205"/>
            <a:ext cx="878732" cy="333936"/>
          </a:xfrm>
          <a:prstGeom prst="flowChartDocument">
            <a:avLst/>
          </a:prstGeom>
          <a:solidFill>
            <a:schemeClr val="bg1"/>
          </a:solidFill>
          <a:ln w="9525" cap="flat" cmpd="sng">
            <a:solidFill>
              <a:schemeClr val="tx1"/>
            </a:solidFill>
            <a:prstDash val="solid"/>
            <a:round/>
            <a:headEnd type="none" w="sm" len="sm"/>
            <a:tailEnd type="none" w="sm" len="sm"/>
          </a:ln>
        </p:spPr>
        <p:txBody>
          <a:bodyPr spcFirstLastPara="1" wrap="square" lIns="77300" tIns="0" rIns="7730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a:ln>
                  <a:noFill/>
                </a:ln>
                <a:effectLst/>
                <a:uLnTx/>
                <a:uFillTx/>
                <a:latin typeface="+mj-lt"/>
                <a:ea typeface="Red Hat Display"/>
                <a:cs typeface="Red Hat Display"/>
                <a:sym typeface="Red Hat Display"/>
              </a:rPr>
              <a:t>Mockups</a:t>
            </a:r>
          </a:p>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a:ln>
                  <a:noFill/>
                </a:ln>
                <a:effectLst/>
                <a:uLnTx/>
                <a:uFillTx/>
                <a:latin typeface="+mj-lt"/>
                <a:ea typeface="Red Hat Display"/>
                <a:cs typeface="Red Hat Display"/>
                <a:sym typeface="Red Hat Display"/>
              </a:rPr>
              <a:t>Delivered</a:t>
            </a:r>
            <a:endParaRPr kumimoji="0" sz="900" b="0" i="0" u="none" strike="noStrike" kern="1200" cap="none" spc="0" normalizeH="0" baseline="0" noProof="0">
              <a:ln>
                <a:noFill/>
              </a:ln>
              <a:effectLst/>
              <a:uLnTx/>
              <a:uFillTx/>
              <a:latin typeface="+mj-lt"/>
              <a:ea typeface="Red Hat Display"/>
              <a:cs typeface="Red Hat Display"/>
              <a:sym typeface="Red Hat Display"/>
            </a:endParaRPr>
          </a:p>
        </p:txBody>
      </p:sp>
      <p:cxnSp>
        <p:nvCxnSpPr>
          <p:cNvPr id="43" name="Google Shape;1621;p96">
            <a:extLst>
              <a:ext uri="{FF2B5EF4-FFF2-40B4-BE49-F238E27FC236}">
                <a16:creationId xmlns:a16="http://schemas.microsoft.com/office/drawing/2014/main" id="{32B6C365-6FB0-ACDA-9133-AAC76C694F9C}"/>
              </a:ext>
            </a:extLst>
          </p:cNvPr>
          <p:cNvCxnSpPr>
            <a:cxnSpLocks/>
            <a:stCxn id="47" idx="3"/>
            <a:endCxn id="39" idx="1"/>
          </p:cNvCxnSpPr>
          <p:nvPr/>
        </p:nvCxnSpPr>
        <p:spPr>
          <a:xfrm>
            <a:off x="7831169" y="1951173"/>
            <a:ext cx="478980" cy="0"/>
          </a:xfrm>
          <a:prstGeom prst="straightConnector1">
            <a:avLst/>
          </a:prstGeom>
          <a:noFill/>
          <a:ln w="28575" cap="flat" cmpd="sng">
            <a:solidFill>
              <a:srgbClr val="FFFFFF"/>
            </a:solidFill>
            <a:prstDash val="solid"/>
            <a:round/>
            <a:headEnd type="none" w="sm" len="sm"/>
            <a:tailEnd type="triangle" w="med" len="med"/>
          </a:ln>
        </p:spPr>
      </p:cxnSp>
      <p:cxnSp>
        <p:nvCxnSpPr>
          <p:cNvPr id="44" name="Google Shape;1621;p96">
            <a:extLst>
              <a:ext uri="{FF2B5EF4-FFF2-40B4-BE49-F238E27FC236}">
                <a16:creationId xmlns:a16="http://schemas.microsoft.com/office/drawing/2014/main" id="{08B75237-D682-C06A-1CE4-2880E7C00BAE}"/>
              </a:ext>
            </a:extLst>
          </p:cNvPr>
          <p:cNvCxnSpPr>
            <a:cxnSpLocks/>
            <a:stCxn id="123" idx="3"/>
            <a:endCxn id="41" idx="1"/>
          </p:cNvCxnSpPr>
          <p:nvPr/>
        </p:nvCxnSpPr>
        <p:spPr>
          <a:xfrm>
            <a:off x="5030104" y="1948425"/>
            <a:ext cx="236773" cy="2748"/>
          </a:xfrm>
          <a:prstGeom prst="straightConnector1">
            <a:avLst/>
          </a:prstGeom>
          <a:noFill/>
          <a:ln w="28575" cap="flat" cmpd="sng">
            <a:solidFill>
              <a:srgbClr val="FFFFFF"/>
            </a:solidFill>
            <a:prstDash val="solid"/>
            <a:round/>
            <a:headEnd type="none" w="sm" len="sm"/>
            <a:tailEnd type="triangle" w="med" len="med"/>
          </a:ln>
        </p:spPr>
      </p:cxnSp>
      <p:sp>
        <p:nvSpPr>
          <p:cNvPr id="45" name="Google Shape;1619;p96">
            <a:extLst>
              <a:ext uri="{FF2B5EF4-FFF2-40B4-BE49-F238E27FC236}">
                <a16:creationId xmlns:a16="http://schemas.microsoft.com/office/drawing/2014/main" id="{4CEC771E-1F8A-842A-927B-BE2E81145874}"/>
              </a:ext>
            </a:extLst>
          </p:cNvPr>
          <p:cNvSpPr/>
          <p:nvPr/>
        </p:nvSpPr>
        <p:spPr>
          <a:xfrm>
            <a:off x="2632520" y="1784073"/>
            <a:ext cx="1058100" cy="334200"/>
          </a:xfrm>
          <a:prstGeom prst="rect">
            <a:avLst/>
          </a:prstGeom>
          <a:solidFill>
            <a:schemeClr val="accent5">
              <a:lumMod val="40000"/>
              <a:lumOff val="60000"/>
            </a:schemeClr>
          </a:solidFill>
          <a:ln w="9525" cap="flat" cmpd="sng">
            <a:solidFill>
              <a:schemeClr val="tx2">
                <a:lumMod val="60000"/>
                <a:lumOff val="40000"/>
              </a:schemeClr>
            </a:solidFill>
            <a:prstDash val="solid"/>
            <a:round/>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dirty="0">
                <a:ln>
                  <a:noFill/>
                </a:ln>
                <a:effectLst/>
                <a:uLnTx/>
                <a:uFillTx/>
                <a:latin typeface="+mj-lt"/>
                <a:ea typeface="Red Hat Display"/>
                <a:cs typeface="Red Hat Display"/>
                <a:sym typeface="Red Hat Display"/>
              </a:rPr>
              <a:t>Creative Brief Developed</a:t>
            </a:r>
            <a:endParaRPr kumimoji="0" sz="900" b="0" i="0" u="none" strike="noStrike" kern="1200" cap="none" spc="0" normalizeH="0" baseline="0" noProof="0" dirty="0">
              <a:ln>
                <a:noFill/>
              </a:ln>
              <a:effectLst/>
              <a:uLnTx/>
              <a:uFillTx/>
              <a:latin typeface="+mj-lt"/>
              <a:ea typeface="Red Hat Display"/>
              <a:cs typeface="Red Hat Display"/>
              <a:sym typeface="Red Hat Display"/>
            </a:endParaRPr>
          </a:p>
        </p:txBody>
      </p:sp>
      <p:cxnSp>
        <p:nvCxnSpPr>
          <p:cNvPr id="46" name="Google Shape;1621;p96">
            <a:extLst>
              <a:ext uri="{FF2B5EF4-FFF2-40B4-BE49-F238E27FC236}">
                <a16:creationId xmlns:a16="http://schemas.microsoft.com/office/drawing/2014/main" id="{26F34ABF-9BCB-7485-7B7A-BEA862DD8BE7}"/>
              </a:ext>
            </a:extLst>
          </p:cNvPr>
          <p:cNvCxnSpPr>
            <a:cxnSpLocks/>
            <a:stCxn id="39" idx="3"/>
            <a:endCxn id="42" idx="1"/>
          </p:cNvCxnSpPr>
          <p:nvPr/>
        </p:nvCxnSpPr>
        <p:spPr>
          <a:xfrm>
            <a:off x="9368249" y="1951173"/>
            <a:ext cx="801100" cy="0"/>
          </a:xfrm>
          <a:prstGeom prst="straightConnector1">
            <a:avLst/>
          </a:prstGeom>
          <a:noFill/>
          <a:ln w="28575" cap="flat" cmpd="sng">
            <a:solidFill>
              <a:srgbClr val="FFFFFF"/>
            </a:solidFill>
            <a:prstDash val="solid"/>
            <a:round/>
            <a:headEnd type="none" w="sm" len="sm"/>
            <a:tailEnd type="triangle" w="med" len="med"/>
          </a:ln>
        </p:spPr>
      </p:cxnSp>
      <p:sp>
        <p:nvSpPr>
          <p:cNvPr id="47" name="Google Shape;1622;p96">
            <a:extLst>
              <a:ext uri="{FF2B5EF4-FFF2-40B4-BE49-F238E27FC236}">
                <a16:creationId xmlns:a16="http://schemas.microsoft.com/office/drawing/2014/main" id="{C0598339-B4A5-2BF6-6634-596C1FD96BF4}"/>
              </a:ext>
            </a:extLst>
          </p:cNvPr>
          <p:cNvSpPr/>
          <p:nvPr/>
        </p:nvSpPr>
        <p:spPr>
          <a:xfrm>
            <a:off x="6773069" y="1784210"/>
            <a:ext cx="1058100" cy="333926"/>
          </a:xfrm>
          <a:prstGeom prst="flowChartPredefinedProcess">
            <a:avLst/>
          </a:prstGeom>
          <a:solidFill>
            <a:schemeClr val="accent2">
              <a:lumMod val="40000"/>
              <a:lumOff val="60000"/>
            </a:schemeClr>
          </a:solidFill>
          <a:ln w="3175" cap="flat" cmpd="sng">
            <a:solidFill>
              <a:schemeClr val="tx2"/>
            </a:solidFill>
            <a:prstDash val="solid"/>
            <a:round/>
            <a:headEnd type="none" w="sm" len="sm"/>
            <a:tailEnd type="none" w="sm" len="sm"/>
          </a:ln>
        </p:spPr>
        <p:txBody>
          <a:bodyPr spcFirstLastPara="1" wrap="square" lIns="0" tIns="77300" rIns="0" bIns="773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a:ln>
                  <a:noFill/>
                </a:ln>
                <a:effectLst/>
                <a:uLnTx/>
                <a:uFillTx/>
                <a:latin typeface="+mj-lt"/>
                <a:ea typeface="Red Hat Display"/>
                <a:cs typeface="Red Hat Display"/>
                <a:sym typeface="Red Hat Display"/>
              </a:rPr>
              <a:t>Creative Brief Approved</a:t>
            </a:r>
            <a:endParaRPr kumimoji="0" sz="900" b="0" i="0" u="none" strike="noStrike" kern="1200" cap="none" spc="0" normalizeH="0" baseline="0" noProof="0">
              <a:ln>
                <a:noFill/>
              </a:ln>
              <a:effectLst/>
              <a:uLnTx/>
              <a:uFillTx/>
              <a:latin typeface="+mj-lt"/>
              <a:ea typeface="Red Hat Display"/>
              <a:cs typeface="Red Hat Display"/>
              <a:sym typeface="Red Hat Display"/>
            </a:endParaRPr>
          </a:p>
        </p:txBody>
      </p:sp>
      <p:cxnSp>
        <p:nvCxnSpPr>
          <p:cNvPr id="48" name="Google Shape;1621;p96">
            <a:extLst>
              <a:ext uri="{FF2B5EF4-FFF2-40B4-BE49-F238E27FC236}">
                <a16:creationId xmlns:a16="http://schemas.microsoft.com/office/drawing/2014/main" id="{08966409-D6DA-3891-C3A2-85DFFE8A5730}"/>
              </a:ext>
            </a:extLst>
          </p:cNvPr>
          <p:cNvCxnSpPr>
            <a:cxnSpLocks/>
            <a:stCxn id="41" idx="3"/>
            <a:endCxn id="47" idx="1"/>
          </p:cNvCxnSpPr>
          <p:nvPr/>
        </p:nvCxnSpPr>
        <p:spPr>
          <a:xfrm>
            <a:off x="6381869" y="1951173"/>
            <a:ext cx="391200" cy="0"/>
          </a:xfrm>
          <a:prstGeom prst="straightConnector1">
            <a:avLst/>
          </a:prstGeom>
          <a:noFill/>
          <a:ln w="28575" cap="flat" cmpd="sng">
            <a:solidFill>
              <a:srgbClr val="FFFFFF"/>
            </a:solidFill>
            <a:prstDash val="solid"/>
            <a:round/>
            <a:headEnd type="none" w="sm" len="sm"/>
            <a:tailEnd type="triangle" w="med" len="med"/>
          </a:ln>
        </p:spPr>
      </p:cxnSp>
      <p:sp>
        <p:nvSpPr>
          <p:cNvPr id="50" name="Google Shape;1608;p96">
            <a:extLst>
              <a:ext uri="{FF2B5EF4-FFF2-40B4-BE49-F238E27FC236}">
                <a16:creationId xmlns:a16="http://schemas.microsoft.com/office/drawing/2014/main" id="{53C5B3B4-032E-1B82-5CEB-A4FF364442B0}"/>
              </a:ext>
            </a:extLst>
          </p:cNvPr>
          <p:cNvSpPr/>
          <p:nvPr/>
        </p:nvSpPr>
        <p:spPr>
          <a:xfrm>
            <a:off x="855012" y="2270967"/>
            <a:ext cx="10396500" cy="548640"/>
          </a:xfrm>
          <a:prstGeom prst="roundRect">
            <a:avLst>
              <a:gd name="adj" fmla="val 16667"/>
            </a:avLst>
          </a:prstGeom>
          <a:solidFill>
            <a:schemeClr val="bg1">
              <a:lumMod val="65000"/>
            </a:schemeClr>
          </a:solidFill>
          <a:ln>
            <a:noFill/>
          </a:ln>
        </p:spPr>
        <p:txBody>
          <a:bodyPr spcFirstLastPara="1" wrap="square" lIns="77300" tIns="77300" rIns="77300" bIns="773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002477"/>
              </a:solidFill>
              <a:effectLst/>
              <a:uLnTx/>
              <a:uFillTx/>
              <a:latin typeface="+mj-lt"/>
              <a:ea typeface="Arial"/>
              <a:cs typeface="Arial"/>
              <a:sym typeface="Arial"/>
            </a:endParaRPr>
          </a:p>
        </p:txBody>
      </p:sp>
      <p:cxnSp>
        <p:nvCxnSpPr>
          <p:cNvPr id="51" name="Google Shape;1632;p96">
            <a:extLst>
              <a:ext uri="{FF2B5EF4-FFF2-40B4-BE49-F238E27FC236}">
                <a16:creationId xmlns:a16="http://schemas.microsoft.com/office/drawing/2014/main" id="{5785A8BB-2F36-33FD-EA37-E04B54869427}"/>
              </a:ext>
            </a:extLst>
          </p:cNvPr>
          <p:cNvCxnSpPr>
            <a:cxnSpLocks/>
            <a:stCxn id="54" idx="3"/>
            <a:endCxn id="55" idx="1"/>
          </p:cNvCxnSpPr>
          <p:nvPr/>
        </p:nvCxnSpPr>
        <p:spPr>
          <a:xfrm>
            <a:off x="6985532" y="2535035"/>
            <a:ext cx="2382717" cy="0"/>
          </a:xfrm>
          <a:prstGeom prst="straightConnector1">
            <a:avLst/>
          </a:prstGeom>
          <a:noFill/>
          <a:ln w="28575" cap="flat" cmpd="sng">
            <a:solidFill>
              <a:srgbClr val="FFFFFF"/>
            </a:solidFill>
            <a:prstDash val="solid"/>
            <a:round/>
            <a:headEnd type="none" w="sm" len="sm"/>
            <a:tailEnd type="triangle" w="med" len="med"/>
          </a:ln>
        </p:spPr>
      </p:cxnSp>
      <p:sp>
        <p:nvSpPr>
          <p:cNvPr id="52" name="Google Shape;1643;p96">
            <a:extLst>
              <a:ext uri="{FF2B5EF4-FFF2-40B4-BE49-F238E27FC236}">
                <a16:creationId xmlns:a16="http://schemas.microsoft.com/office/drawing/2014/main" id="{EA0E6895-3DC8-C887-07DC-19703383B8B0}"/>
              </a:ext>
            </a:extLst>
          </p:cNvPr>
          <p:cNvSpPr txBox="1"/>
          <p:nvPr/>
        </p:nvSpPr>
        <p:spPr>
          <a:xfrm>
            <a:off x="940488" y="2370237"/>
            <a:ext cx="1644300" cy="350100"/>
          </a:xfrm>
          <a:prstGeom prst="rect">
            <a:avLst/>
          </a:prstGeom>
          <a:noFill/>
          <a:ln>
            <a:noFill/>
          </a:ln>
        </p:spPr>
        <p:txBody>
          <a:bodyPr spcFirstLastPara="1" wrap="square" lIns="77300" tIns="77300" rIns="77300" bIns="773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r>
              <a:rPr lang="en" sz="1200">
                <a:latin typeface="+mj-lt"/>
                <a:ea typeface="Red Hat Display"/>
                <a:cs typeface="Red Hat Display"/>
                <a:sym typeface="Red Hat Display"/>
              </a:rPr>
              <a:t>Creative Approvals</a:t>
            </a:r>
            <a:endParaRPr kumimoji="0" sz="1200" b="0" i="0" u="none" strike="noStrike" kern="1200" cap="none" spc="0" normalizeH="0" baseline="0" noProof="0">
              <a:ln>
                <a:noFill/>
              </a:ln>
              <a:effectLst/>
              <a:uLnTx/>
              <a:uFillTx/>
              <a:latin typeface="+mj-lt"/>
              <a:ea typeface="Red Hat Display"/>
              <a:cs typeface="Red Hat Display"/>
              <a:sym typeface="Red Hat Display"/>
            </a:endParaRPr>
          </a:p>
        </p:txBody>
      </p:sp>
      <p:sp>
        <p:nvSpPr>
          <p:cNvPr id="53" name="Google Shape;1628;p96">
            <a:extLst>
              <a:ext uri="{FF2B5EF4-FFF2-40B4-BE49-F238E27FC236}">
                <a16:creationId xmlns:a16="http://schemas.microsoft.com/office/drawing/2014/main" id="{468C4173-FFBA-FAA4-F710-D3778D687430}"/>
              </a:ext>
            </a:extLst>
          </p:cNvPr>
          <p:cNvSpPr/>
          <p:nvPr/>
        </p:nvSpPr>
        <p:spPr>
          <a:xfrm>
            <a:off x="2629950" y="2348523"/>
            <a:ext cx="1425519" cy="373024"/>
          </a:xfrm>
          <a:prstGeom prst="flowChartPredefinedProcess">
            <a:avLst/>
          </a:prstGeom>
          <a:solidFill>
            <a:schemeClr val="accent2">
              <a:lumMod val="40000"/>
              <a:lumOff val="60000"/>
            </a:schemeClr>
          </a:solidFill>
          <a:ln w="3175" cap="flat" cmpd="sng">
            <a:solidFill>
              <a:schemeClr val="tx2"/>
            </a:solidFill>
            <a:prstDash val="solid"/>
            <a:round/>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dirty="0">
                <a:ln>
                  <a:noFill/>
                </a:ln>
                <a:effectLst/>
                <a:uLnTx/>
                <a:uFillTx/>
                <a:latin typeface="+mj-lt"/>
                <a:ea typeface="Red Hat Display"/>
                <a:cs typeface="Red Hat Display"/>
                <a:sym typeface="Red Hat Display"/>
              </a:rPr>
              <a:t>CRO Approves Mockups</a:t>
            </a:r>
            <a:endParaRPr kumimoji="0" sz="900" b="0" i="0" u="none" strike="noStrike" kern="1200" cap="none" spc="0" normalizeH="0" baseline="0" noProof="0" dirty="0">
              <a:ln>
                <a:noFill/>
              </a:ln>
              <a:effectLst/>
              <a:uLnTx/>
              <a:uFillTx/>
              <a:latin typeface="+mj-lt"/>
              <a:ea typeface="Red Hat Display"/>
              <a:cs typeface="Red Hat Display"/>
              <a:sym typeface="Red Hat Display"/>
            </a:endParaRPr>
          </a:p>
        </p:txBody>
      </p:sp>
      <p:sp>
        <p:nvSpPr>
          <p:cNvPr id="54" name="Google Shape;1628;p96">
            <a:extLst>
              <a:ext uri="{FF2B5EF4-FFF2-40B4-BE49-F238E27FC236}">
                <a16:creationId xmlns:a16="http://schemas.microsoft.com/office/drawing/2014/main" id="{6C2E4E32-869F-7A1C-6829-C3B6E5E53346}"/>
              </a:ext>
            </a:extLst>
          </p:cNvPr>
          <p:cNvSpPr/>
          <p:nvPr/>
        </p:nvSpPr>
        <p:spPr>
          <a:xfrm>
            <a:off x="5738649" y="2348523"/>
            <a:ext cx="1246883" cy="373024"/>
          </a:xfrm>
          <a:prstGeom prst="flowChartPredefinedProcess">
            <a:avLst/>
          </a:prstGeom>
          <a:solidFill>
            <a:schemeClr val="accent2">
              <a:lumMod val="40000"/>
              <a:lumOff val="60000"/>
            </a:schemeClr>
          </a:solidFill>
          <a:ln w="3175" cap="flat" cmpd="sng">
            <a:solidFill>
              <a:schemeClr val="tx2"/>
            </a:solidFill>
            <a:prstDash val="solid"/>
            <a:round/>
            <a:headEnd type="none" w="sm" len="sm"/>
            <a:tailEnd type="none" w="sm" len="sm"/>
          </a:ln>
        </p:spPr>
        <p:txBody>
          <a:bodyPr spcFirstLastPara="1" wrap="square" lIns="0" tIns="0" rIns="0" bIns="0" anchor="ctr" anchorCtr="0">
            <a:noAutofit/>
          </a:bodyPr>
          <a:lstStyle/>
          <a:p>
            <a:pPr lvl="0" algn="ctr">
              <a:buClr>
                <a:srgbClr val="000000"/>
              </a:buClr>
              <a:buSzPts val="500"/>
              <a:defRPr/>
            </a:pPr>
            <a:r>
              <a:rPr kumimoji="0" lang="en" sz="900" b="0" i="0" u="none" strike="noStrike" kern="1200" cap="none" spc="0" normalizeH="0" baseline="0" noProof="0" dirty="0">
                <a:ln>
                  <a:noFill/>
                </a:ln>
                <a:effectLst/>
                <a:uLnTx/>
                <a:uFillTx/>
                <a:latin typeface="+mj-lt"/>
                <a:ea typeface="Red Hat Display"/>
                <a:cs typeface="Red Hat Display"/>
                <a:sym typeface="Red Hat Display"/>
              </a:rPr>
              <a:t>UX Approves Mockups</a:t>
            </a:r>
            <a:endParaRPr kumimoji="0" sz="900" b="0" i="0" u="none" strike="noStrike" kern="1200" cap="none" spc="0" normalizeH="0" baseline="0" noProof="0" dirty="0">
              <a:ln>
                <a:noFill/>
              </a:ln>
              <a:effectLst/>
              <a:uLnTx/>
              <a:uFillTx/>
              <a:latin typeface="+mj-lt"/>
              <a:ea typeface="Red Hat Display"/>
              <a:cs typeface="Red Hat Display"/>
              <a:sym typeface="Red Hat Display"/>
            </a:endParaRPr>
          </a:p>
        </p:txBody>
      </p:sp>
      <p:sp>
        <p:nvSpPr>
          <p:cNvPr id="55" name="Google Shape;1628;p96">
            <a:extLst>
              <a:ext uri="{FF2B5EF4-FFF2-40B4-BE49-F238E27FC236}">
                <a16:creationId xmlns:a16="http://schemas.microsoft.com/office/drawing/2014/main" id="{FD351D8E-80F6-972C-EC3D-CC530E2DC2A3}"/>
              </a:ext>
            </a:extLst>
          </p:cNvPr>
          <p:cNvSpPr/>
          <p:nvPr/>
        </p:nvSpPr>
        <p:spPr>
          <a:xfrm>
            <a:off x="9368249" y="2348523"/>
            <a:ext cx="1694209" cy="373024"/>
          </a:xfrm>
          <a:prstGeom prst="flowChartPredefinedProcess">
            <a:avLst/>
          </a:prstGeom>
          <a:solidFill>
            <a:schemeClr val="accent2">
              <a:lumMod val="40000"/>
              <a:lumOff val="60000"/>
            </a:schemeClr>
          </a:solidFill>
          <a:ln w="3175" cap="flat" cmpd="sng">
            <a:solidFill>
              <a:schemeClr val="tx2"/>
            </a:solidFill>
            <a:prstDash val="solid"/>
            <a:round/>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dirty="0">
                <a:ln>
                  <a:noFill/>
                </a:ln>
                <a:effectLst/>
                <a:uLnTx/>
                <a:uFillTx/>
                <a:latin typeface="+mj-lt"/>
                <a:ea typeface="Red Hat Display"/>
                <a:cs typeface="Red Hat Display"/>
                <a:sym typeface="Red Hat Display"/>
              </a:rPr>
              <a:t>Compliance/Brand Approves Mockups</a:t>
            </a:r>
            <a:endParaRPr kumimoji="0" sz="900" b="0" i="0" u="none" strike="noStrike" kern="1200" cap="none" spc="0" normalizeH="0" baseline="0" noProof="0" dirty="0">
              <a:ln>
                <a:noFill/>
              </a:ln>
              <a:effectLst/>
              <a:uLnTx/>
              <a:uFillTx/>
              <a:latin typeface="+mj-lt"/>
              <a:ea typeface="Red Hat Display"/>
              <a:cs typeface="Red Hat Display"/>
              <a:sym typeface="Red Hat Display"/>
            </a:endParaRPr>
          </a:p>
        </p:txBody>
      </p:sp>
      <p:cxnSp>
        <p:nvCxnSpPr>
          <p:cNvPr id="56" name="Google Shape;1636;p96">
            <a:extLst>
              <a:ext uri="{FF2B5EF4-FFF2-40B4-BE49-F238E27FC236}">
                <a16:creationId xmlns:a16="http://schemas.microsoft.com/office/drawing/2014/main" id="{261366E4-2317-50ED-3FB7-8D69FD1EB494}"/>
              </a:ext>
            </a:extLst>
          </p:cNvPr>
          <p:cNvCxnSpPr>
            <a:cxnSpLocks/>
            <a:stCxn id="53" idx="3"/>
            <a:endCxn id="54" idx="1"/>
          </p:cNvCxnSpPr>
          <p:nvPr/>
        </p:nvCxnSpPr>
        <p:spPr>
          <a:xfrm>
            <a:off x="4055469" y="2535035"/>
            <a:ext cx="1683180" cy="0"/>
          </a:xfrm>
          <a:prstGeom prst="straightConnector1">
            <a:avLst/>
          </a:prstGeom>
          <a:noFill/>
          <a:ln w="28575" cap="flat" cmpd="sng">
            <a:solidFill>
              <a:srgbClr val="FFFFFF"/>
            </a:solidFill>
            <a:prstDash val="solid"/>
            <a:round/>
            <a:headEnd type="none" w="sm" len="sm"/>
            <a:tailEnd type="triangle" w="med" len="med"/>
          </a:ln>
        </p:spPr>
      </p:cxnSp>
      <p:sp>
        <p:nvSpPr>
          <p:cNvPr id="58" name="Google Shape;1608;p96">
            <a:extLst>
              <a:ext uri="{FF2B5EF4-FFF2-40B4-BE49-F238E27FC236}">
                <a16:creationId xmlns:a16="http://schemas.microsoft.com/office/drawing/2014/main" id="{CED61C21-A40E-9F04-8060-6DAC78AD012B}"/>
              </a:ext>
            </a:extLst>
          </p:cNvPr>
          <p:cNvSpPr/>
          <p:nvPr/>
        </p:nvSpPr>
        <p:spPr>
          <a:xfrm>
            <a:off x="850574" y="3458956"/>
            <a:ext cx="10396500" cy="548640"/>
          </a:xfrm>
          <a:prstGeom prst="roundRect">
            <a:avLst>
              <a:gd name="adj" fmla="val 16667"/>
            </a:avLst>
          </a:prstGeom>
          <a:solidFill>
            <a:schemeClr val="bg1">
              <a:lumMod val="65000"/>
            </a:schemeClr>
          </a:solidFill>
          <a:ln>
            <a:noFill/>
          </a:ln>
        </p:spPr>
        <p:txBody>
          <a:bodyPr spcFirstLastPara="1" wrap="square" lIns="77300" tIns="77300" rIns="77300" bIns="773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002477"/>
              </a:solidFill>
              <a:effectLst/>
              <a:uLnTx/>
              <a:uFillTx/>
              <a:latin typeface="+mj-lt"/>
              <a:ea typeface="Arial"/>
              <a:cs typeface="Arial"/>
              <a:sym typeface="Arial"/>
            </a:endParaRPr>
          </a:p>
        </p:txBody>
      </p:sp>
      <p:sp>
        <p:nvSpPr>
          <p:cNvPr id="59" name="Google Shape;1643;p96">
            <a:extLst>
              <a:ext uri="{FF2B5EF4-FFF2-40B4-BE49-F238E27FC236}">
                <a16:creationId xmlns:a16="http://schemas.microsoft.com/office/drawing/2014/main" id="{6BBA2C6F-DBE1-0867-E5F1-D4EA0B1F7C63}"/>
              </a:ext>
            </a:extLst>
          </p:cNvPr>
          <p:cNvSpPr txBox="1"/>
          <p:nvPr/>
        </p:nvSpPr>
        <p:spPr>
          <a:xfrm>
            <a:off x="936050" y="3558226"/>
            <a:ext cx="1644300" cy="350100"/>
          </a:xfrm>
          <a:prstGeom prst="rect">
            <a:avLst/>
          </a:prstGeom>
          <a:noFill/>
          <a:ln>
            <a:noFill/>
          </a:ln>
        </p:spPr>
        <p:txBody>
          <a:bodyPr spcFirstLastPara="1" wrap="square" lIns="77300" tIns="77300" rIns="77300" bIns="773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r>
              <a:rPr lang="en" sz="1200">
                <a:latin typeface="+mj-lt"/>
                <a:ea typeface="Red Hat Display"/>
                <a:cs typeface="Red Hat Display"/>
                <a:sym typeface="Red Hat Display"/>
              </a:rPr>
              <a:t>Launch Approvals</a:t>
            </a:r>
            <a:endParaRPr kumimoji="0" sz="1200" b="0" i="0" u="none" strike="noStrike" kern="1200" cap="none" spc="0" normalizeH="0" baseline="0" noProof="0">
              <a:ln>
                <a:noFill/>
              </a:ln>
              <a:effectLst/>
              <a:uLnTx/>
              <a:uFillTx/>
              <a:latin typeface="+mj-lt"/>
              <a:ea typeface="Red Hat Display"/>
              <a:cs typeface="Red Hat Display"/>
              <a:sym typeface="Red Hat Display"/>
            </a:endParaRPr>
          </a:p>
        </p:txBody>
      </p:sp>
      <p:cxnSp>
        <p:nvCxnSpPr>
          <p:cNvPr id="60" name="Google Shape;1636;p96">
            <a:extLst>
              <a:ext uri="{FF2B5EF4-FFF2-40B4-BE49-F238E27FC236}">
                <a16:creationId xmlns:a16="http://schemas.microsoft.com/office/drawing/2014/main" id="{1FDC826E-D196-1C28-CC6F-ABA72EFF2FC0}"/>
              </a:ext>
            </a:extLst>
          </p:cNvPr>
          <p:cNvCxnSpPr>
            <a:cxnSpLocks/>
            <a:stCxn id="62" idx="3"/>
            <a:endCxn id="63" idx="1"/>
          </p:cNvCxnSpPr>
          <p:nvPr/>
        </p:nvCxnSpPr>
        <p:spPr>
          <a:xfrm>
            <a:off x="7244300" y="3738012"/>
            <a:ext cx="2418990" cy="0"/>
          </a:xfrm>
          <a:prstGeom prst="straightConnector1">
            <a:avLst/>
          </a:prstGeom>
          <a:noFill/>
          <a:ln w="28575" cap="flat" cmpd="sng">
            <a:solidFill>
              <a:srgbClr val="FFFFFF"/>
            </a:solidFill>
            <a:prstDash val="solid"/>
            <a:round/>
            <a:headEnd type="none" w="sm" len="sm"/>
            <a:tailEnd type="triangle" w="med" len="med"/>
          </a:ln>
        </p:spPr>
      </p:cxnSp>
      <p:sp>
        <p:nvSpPr>
          <p:cNvPr id="61" name="Google Shape;1628;p96">
            <a:extLst>
              <a:ext uri="{FF2B5EF4-FFF2-40B4-BE49-F238E27FC236}">
                <a16:creationId xmlns:a16="http://schemas.microsoft.com/office/drawing/2014/main" id="{BBE10269-E5FA-B22E-10F6-671F98D7CD52}"/>
              </a:ext>
            </a:extLst>
          </p:cNvPr>
          <p:cNvSpPr/>
          <p:nvPr/>
        </p:nvSpPr>
        <p:spPr>
          <a:xfrm>
            <a:off x="2625512" y="3551500"/>
            <a:ext cx="1246883" cy="373024"/>
          </a:xfrm>
          <a:prstGeom prst="flowChartPredefinedProcess">
            <a:avLst/>
          </a:prstGeom>
          <a:solidFill>
            <a:schemeClr val="accent2">
              <a:lumMod val="40000"/>
              <a:lumOff val="60000"/>
            </a:schemeClr>
          </a:solidFill>
          <a:ln w="3175" cap="flat" cmpd="sng">
            <a:solidFill>
              <a:schemeClr val="tx2"/>
            </a:solidFill>
            <a:prstDash val="solid"/>
            <a:round/>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dirty="0">
                <a:ln>
                  <a:noFill/>
                </a:ln>
                <a:effectLst/>
                <a:uLnTx/>
                <a:uFillTx/>
                <a:latin typeface="+mj-lt"/>
                <a:ea typeface="Red Hat Display"/>
                <a:cs typeface="Red Hat Display"/>
                <a:sym typeface="Red Hat Display"/>
              </a:rPr>
              <a:t>UX Approves QA Links</a:t>
            </a:r>
            <a:endParaRPr kumimoji="0" sz="900" b="0" i="0" u="none" strike="noStrike" kern="1200" cap="none" spc="0" normalizeH="0" baseline="0" noProof="0" dirty="0">
              <a:ln>
                <a:noFill/>
              </a:ln>
              <a:effectLst/>
              <a:uLnTx/>
              <a:uFillTx/>
              <a:latin typeface="+mj-lt"/>
              <a:ea typeface="Red Hat Display"/>
              <a:cs typeface="Red Hat Display"/>
              <a:sym typeface="Red Hat Display"/>
            </a:endParaRPr>
          </a:p>
        </p:txBody>
      </p:sp>
      <p:sp>
        <p:nvSpPr>
          <p:cNvPr id="62" name="Google Shape;1628;p96">
            <a:extLst>
              <a:ext uri="{FF2B5EF4-FFF2-40B4-BE49-F238E27FC236}">
                <a16:creationId xmlns:a16="http://schemas.microsoft.com/office/drawing/2014/main" id="{14F02357-6664-A841-395E-7167779B3D53}"/>
              </a:ext>
            </a:extLst>
          </p:cNvPr>
          <p:cNvSpPr/>
          <p:nvPr/>
        </p:nvSpPr>
        <p:spPr>
          <a:xfrm>
            <a:off x="5997417" y="3551500"/>
            <a:ext cx="1246883" cy="373024"/>
          </a:xfrm>
          <a:prstGeom prst="rect">
            <a:avLst/>
          </a:prstGeom>
          <a:solidFill>
            <a:schemeClr val="bg1"/>
          </a:solidFill>
          <a:ln w="3175" cap="flat" cmpd="sng">
            <a:solidFill>
              <a:schemeClr val="tx2"/>
            </a:solidFill>
            <a:prstDash val="solid"/>
            <a:round/>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dirty="0">
                <a:ln>
                  <a:noFill/>
                </a:ln>
                <a:effectLst/>
                <a:uLnTx/>
                <a:uFillTx/>
                <a:latin typeface="+mj-lt"/>
                <a:ea typeface="Red Hat Display"/>
                <a:cs typeface="Red Hat Display"/>
                <a:sym typeface="Red Hat Display"/>
              </a:rPr>
              <a:t>Launch Scheduled</a:t>
            </a:r>
            <a:endParaRPr kumimoji="0" sz="900" b="0" i="0" u="none" strike="noStrike" kern="1200" cap="none" spc="0" normalizeH="0" baseline="0" noProof="0" dirty="0">
              <a:ln>
                <a:noFill/>
              </a:ln>
              <a:effectLst/>
              <a:uLnTx/>
              <a:uFillTx/>
              <a:latin typeface="+mj-lt"/>
              <a:ea typeface="Red Hat Display"/>
              <a:cs typeface="Red Hat Display"/>
              <a:sym typeface="Red Hat Display"/>
            </a:endParaRPr>
          </a:p>
        </p:txBody>
      </p:sp>
      <p:sp>
        <p:nvSpPr>
          <p:cNvPr id="63" name="Google Shape;1628;p96">
            <a:extLst>
              <a:ext uri="{FF2B5EF4-FFF2-40B4-BE49-F238E27FC236}">
                <a16:creationId xmlns:a16="http://schemas.microsoft.com/office/drawing/2014/main" id="{C0F76E5F-BB1A-4B6A-5DBF-5B559CA566BC}"/>
              </a:ext>
            </a:extLst>
          </p:cNvPr>
          <p:cNvSpPr/>
          <p:nvPr/>
        </p:nvSpPr>
        <p:spPr>
          <a:xfrm>
            <a:off x="9663290" y="3551500"/>
            <a:ext cx="1405602" cy="373024"/>
          </a:xfrm>
          <a:prstGeom prst="flowChartPredefinedProcess">
            <a:avLst/>
          </a:prstGeom>
          <a:solidFill>
            <a:schemeClr val="accent2">
              <a:lumMod val="40000"/>
              <a:lumOff val="60000"/>
            </a:schemeClr>
          </a:solidFill>
          <a:ln w="3175" cap="flat" cmpd="sng">
            <a:solidFill>
              <a:schemeClr val="tx2"/>
            </a:solidFill>
            <a:prstDash val="solid"/>
            <a:round/>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a:ln>
                  <a:noFill/>
                </a:ln>
                <a:effectLst/>
                <a:uLnTx/>
                <a:uFillTx/>
                <a:latin typeface="+mj-lt"/>
                <a:ea typeface="Red Hat Display"/>
                <a:cs typeface="Red Hat Display"/>
                <a:sym typeface="Red Hat Display"/>
              </a:rPr>
              <a:t>Engineering Confirms Receipt</a:t>
            </a:r>
            <a:endParaRPr kumimoji="0" sz="900" b="0" i="0" u="none" strike="noStrike" kern="1200" cap="none" spc="0" normalizeH="0" baseline="0" noProof="0">
              <a:ln>
                <a:noFill/>
              </a:ln>
              <a:effectLst/>
              <a:uLnTx/>
              <a:uFillTx/>
              <a:latin typeface="+mj-lt"/>
              <a:ea typeface="Red Hat Display"/>
              <a:cs typeface="Red Hat Display"/>
              <a:sym typeface="Red Hat Display"/>
            </a:endParaRPr>
          </a:p>
        </p:txBody>
      </p:sp>
      <p:cxnSp>
        <p:nvCxnSpPr>
          <p:cNvPr id="64" name="Google Shape;1636;p96">
            <a:extLst>
              <a:ext uri="{FF2B5EF4-FFF2-40B4-BE49-F238E27FC236}">
                <a16:creationId xmlns:a16="http://schemas.microsoft.com/office/drawing/2014/main" id="{7517A9D5-D81D-20AB-E7DD-3BB2286E119F}"/>
              </a:ext>
            </a:extLst>
          </p:cNvPr>
          <p:cNvCxnSpPr>
            <a:cxnSpLocks/>
            <a:stCxn id="61" idx="3"/>
            <a:endCxn id="62" idx="1"/>
          </p:cNvCxnSpPr>
          <p:nvPr/>
        </p:nvCxnSpPr>
        <p:spPr>
          <a:xfrm>
            <a:off x="3872395" y="3738012"/>
            <a:ext cx="2125022" cy="0"/>
          </a:xfrm>
          <a:prstGeom prst="straightConnector1">
            <a:avLst/>
          </a:prstGeom>
          <a:noFill/>
          <a:ln w="28575" cap="flat" cmpd="sng">
            <a:solidFill>
              <a:srgbClr val="FFFFFF"/>
            </a:solidFill>
            <a:prstDash val="solid"/>
            <a:round/>
            <a:headEnd type="none" w="sm" len="sm"/>
            <a:tailEnd type="triangle" w="med" len="med"/>
          </a:ln>
        </p:spPr>
      </p:cxnSp>
      <p:sp>
        <p:nvSpPr>
          <p:cNvPr id="66" name="Google Shape;1608;p96">
            <a:extLst>
              <a:ext uri="{FF2B5EF4-FFF2-40B4-BE49-F238E27FC236}">
                <a16:creationId xmlns:a16="http://schemas.microsoft.com/office/drawing/2014/main" id="{45B19EEE-E939-B5EB-B734-120A251E8FEE}"/>
              </a:ext>
            </a:extLst>
          </p:cNvPr>
          <p:cNvSpPr/>
          <p:nvPr/>
        </p:nvSpPr>
        <p:spPr>
          <a:xfrm>
            <a:off x="855012" y="4046310"/>
            <a:ext cx="10396500" cy="548640"/>
          </a:xfrm>
          <a:prstGeom prst="roundRect">
            <a:avLst>
              <a:gd name="adj" fmla="val 16667"/>
            </a:avLst>
          </a:prstGeom>
          <a:solidFill>
            <a:schemeClr val="accent1"/>
          </a:solidFill>
          <a:ln>
            <a:noFill/>
          </a:ln>
        </p:spPr>
        <p:txBody>
          <a:bodyPr spcFirstLastPara="1" wrap="square" lIns="77300" tIns="77300" rIns="77300" bIns="773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sng" strike="noStrike" kern="1200" cap="none" spc="0" normalizeH="0" baseline="0" noProof="0">
              <a:ln>
                <a:noFill/>
              </a:ln>
              <a:solidFill>
                <a:srgbClr val="002477"/>
              </a:solidFill>
              <a:effectLst/>
              <a:uLnTx/>
              <a:uFillTx/>
              <a:latin typeface="+mj-lt"/>
              <a:ea typeface="Arial"/>
              <a:cs typeface="Arial"/>
              <a:sym typeface="Arial"/>
            </a:endParaRPr>
          </a:p>
        </p:txBody>
      </p:sp>
      <p:sp>
        <p:nvSpPr>
          <p:cNvPr id="67" name="Google Shape;1617;p96">
            <a:extLst>
              <a:ext uri="{FF2B5EF4-FFF2-40B4-BE49-F238E27FC236}">
                <a16:creationId xmlns:a16="http://schemas.microsoft.com/office/drawing/2014/main" id="{6FBE3FEE-E31B-2864-C653-4F6620E70FAC}"/>
              </a:ext>
            </a:extLst>
          </p:cNvPr>
          <p:cNvSpPr/>
          <p:nvPr/>
        </p:nvSpPr>
        <p:spPr>
          <a:xfrm>
            <a:off x="5251047" y="4153530"/>
            <a:ext cx="1065062" cy="334200"/>
          </a:xfrm>
          <a:prstGeom prst="rect">
            <a:avLst/>
          </a:prstGeom>
          <a:solidFill>
            <a:srgbClr val="FFFFFF"/>
          </a:solidFill>
          <a:ln w="9525" cap="flat" cmpd="sng">
            <a:solidFill>
              <a:schemeClr val="tx1"/>
            </a:solidFill>
            <a:prstDash val="solid"/>
            <a:round/>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US" sz="900" b="0" i="0" u="none" strike="noStrike" kern="1200" cap="none" spc="0" normalizeH="0" baseline="0" noProof="0">
                <a:ln>
                  <a:noFill/>
                </a:ln>
                <a:effectLst/>
                <a:uLnTx/>
                <a:uFillTx/>
                <a:latin typeface="+mj-lt"/>
                <a:ea typeface="Red Hat Display"/>
                <a:cs typeface="Red Hat Display"/>
                <a:sym typeface="Red Hat Display"/>
              </a:rPr>
              <a:t>Monitor Guardrail Metrics</a:t>
            </a:r>
          </a:p>
        </p:txBody>
      </p:sp>
      <p:cxnSp>
        <p:nvCxnSpPr>
          <p:cNvPr id="68" name="Google Shape;1639;p96">
            <a:extLst>
              <a:ext uri="{FF2B5EF4-FFF2-40B4-BE49-F238E27FC236}">
                <a16:creationId xmlns:a16="http://schemas.microsoft.com/office/drawing/2014/main" id="{FF787F0B-6FCA-7E9B-3328-19FA8B09F113}"/>
              </a:ext>
            </a:extLst>
          </p:cNvPr>
          <p:cNvCxnSpPr>
            <a:cxnSpLocks/>
            <a:stCxn id="67" idx="3"/>
            <a:endCxn id="70" idx="1"/>
          </p:cNvCxnSpPr>
          <p:nvPr/>
        </p:nvCxnSpPr>
        <p:spPr>
          <a:xfrm>
            <a:off x="6316109" y="4320630"/>
            <a:ext cx="1429270" cy="0"/>
          </a:xfrm>
          <a:prstGeom prst="straightConnector1">
            <a:avLst/>
          </a:prstGeom>
          <a:noFill/>
          <a:ln w="28575" cap="flat" cmpd="sng">
            <a:solidFill>
              <a:srgbClr val="FFFFFF"/>
            </a:solidFill>
            <a:prstDash val="solid"/>
            <a:round/>
            <a:headEnd type="none" w="sm" len="sm"/>
            <a:tailEnd type="triangle" w="med" len="med"/>
          </a:ln>
        </p:spPr>
      </p:cxnSp>
      <p:sp>
        <p:nvSpPr>
          <p:cNvPr id="69" name="Google Shape;1644;p96">
            <a:extLst>
              <a:ext uri="{FF2B5EF4-FFF2-40B4-BE49-F238E27FC236}">
                <a16:creationId xmlns:a16="http://schemas.microsoft.com/office/drawing/2014/main" id="{4D4F0E3E-1B60-EE21-66A2-F69AFA208E65}"/>
              </a:ext>
            </a:extLst>
          </p:cNvPr>
          <p:cNvSpPr txBox="1"/>
          <p:nvPr/>
        </p:nvSpPr>
        <p:spPr>
          <a:xfrm>
            <a:off x="910328" y="4145580"/>
            <a:ext cx="1895400" cy="350100"/>
          </a:xfrm>
          <a:prstGeom prst="rect">
            <a:avLst/>
          </a:prstGeom>
          <a:noFill/>
          <a:ln>
            <a:noFill/>
          </a:ln>
        </p:spPr>
        <p:txBody>
          <a:bodyPr spcFirstLastPara="1" wrap="square" lIns="77300" tIns="77300" rIns="77300" bIns="773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 sz="1200" b="0" i="0" u="none" strike="noStrike" kern="1200" cap="none" spc="0" normalizeH="0" baseline="0" noProof="0">
                <a:ln>
                  <a:noFill/>
                </a:ln>
                <a:solidFill>
                  <a:schemeClr val="bg1"/>
                </a:solidFill>
                <a:effectLst/>
                <a:uLnTx/>
                <a:uFillTx/>
                <a:latin typeface="+mj-lt"/>
                <a:ea typeface="Red Hat Display"/>
                <a:cs typeface="Red Hat Display"/>
                <a:sym typeface="Red Hat Display"/>
              </a:rPr>
              <a:t>Launch</a:t>
            </a:r>
            <a:endParaRPr kumimoji="0" sz="1200" b="0" i="0" u="none" strike="noStrike" kern="1200" cap="none" spc="0" normalizeH="0" baseline="0" noProof="0">
              <a:ln>
                <a:noFill/>
              </a:ln>
              <a:solidFill>
                <a:schemeClr val="bg1"/>
              </a:solidFill>
              <a:effectLst/>
              <a:uLnTx/>
              <a:uFillTx/>
              <a:latin typeface="+mj-lt"/>
              <a:ea typeface="Red Hat Display"/>
              <a:cs typeface="Red Hat Display"/>
              <a:sym typeface="Red Hat Display"/>
            </a:endParaRPr>
          </a:p>
        </p:txBody>
      </p:sp>
      <p:sp>
        <p:nvSpPr>
          <p:cNvPr id="70" name="Google Shape;1640;p96">
            <a:extLst>
              <a:ext uri="{FF2B5EF4-FFF2-40B4-BE49-F238E27FC236}">
                <a16:creationId xmlns:a16="http://schemas.microsoft.com/office/drawing/2014/main" id="{D586851A-0393-54E3-5B4B-C56621AC8564}"/>
              </a:ext>
            </a:extLst>
          </p:cNvPr>
          <p:cNvSpPr/>
          <p:nvPr/>
        </p:nvSpPr>
        <p:spPr>
          <a:xfrm>
            <a:off x="7745379" y="4153672"/>
            <a:ext cx="863342" cy="333916"/>
          </a:xfrm>
          <a:prstGeom prst="flowChartProcess">
            <a:avLst/>
          </a:prstGeom>
          <a:solidFill>
            <a:srgbClr val="FFFFFF"/>
          </a:solidFill>
          <a:ln w="9525" cap="flat" cmpd="sng">
            <a:solidFill>
              <a:schemeClr val="tx1"/>
            </a:solidFill>
            <a:prstDash val="solid"/>
            <a:round/>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a:ln>
                  <a:noFill/>
                </a:ln>
                <a:effectLst/>
                <a:uLnTx/>
                <a:uFillTx/>
                <a:latin typeface="+mj-lt"/>
                <a:ea typeface="Red Hat Display"/>
                <a:cs typeface="Red Hat Display"/>
                <a:sym typeface="Red Hat Display"/>
              </a:rPr>
              <a:t>Run Test</a:t>
            </a:r>
            <a:endParaRPr kumimoji="0" sz="900" b="0" i="0" u="none" strike="noStrike" kern="1200" cap="none" spc="0" normalizeH="0" baseline="0" noProof="0">
              <a:ln>
                <a:noFill/>
              </a:ln>
              <a:effectLst/>
              <a:uLnTx/>
              <a:uFillTx/>
              <a:latin typeface="+mj-lt"/>
              <a:ea typeface="Red Hat Display"/>
              <a:cs typeface="Red Hat Display"/>
              <a:sym typeface="Red Hat Display"/>
            </a:endParaRPr>
          </a:p>
        </p:txBody>
      </p:sp>
      <p:sp>
        <p:nvSpPr>
          <p:cNvPr id="71" name="Google Shape;1652;p96">
            <a:extLst>
              <a:ext uri="{FF2B5EF4-FFF2-40B4-BE49-F238E27FC236}">
                <a16:creationId xmlns:a16="http://schemas.microsoft.com/office/drawing/2014/main" id="{CCBA905C-D5AD-A194-313C-8A6180D60AC2}"/>
              </a:ext>
            </a:extLst>
          </p:cNvPr>
          <p:cNvSpPr/>
          <p:nvPr/>
        </p:nvSpPr>
        <p:spPr>
          <a:xfrm>
            <a:off x="9947438" y="4153672"/>
            <a:ext cx="1115020" cy="333916"/>
          </a:xfrm>
          <a:prstGeom prst="flowChartPredefinedProcess">
            <a:avLst/>
          </a:prstGeom>
          <a:solidFill>
            <a:srgbClr val="FFFFFF"/>
          </a:solidFill>
          <a:ln w="9525" cap="flat" cmpd="sng">
            <a:solidFill>
              <a:schemeClr val="tx1"/>
            </a:solidFill>
            <a:prstDash val="solid"/>
            <a:round/>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a:ln>
                  <a:noFill/>
                </a:ln>
                <a:effectLst/>
                <a:uLnTx/>
                <a:uFillTx/>
                <a:latin typeface="+mj-lt"/>
                <a:ea typeface="Red Hat Display"/>
                <a:cs typeface="Red Hat Display"/>
                <a:sym typeface="Red Hat Display"/>
              </a:rPr>
              <a:t>End Test</a:t>
            </a:r>
            <a:endParaRPr kumimoji="0" sz="900" b="0" i="0" u="none" strike="noStrike" kern="1200" cap="none" spc="0" normalizeH="0" baseline="0" noProof="0">
              <a:ln>
                <a:noFill/>
              </a:ln>
              <a:effectLst/>
              <a:uLnTx/>
              <a:uFillTx/>
              <a:latin typeface="+mj-lt"/>
              <a:ea typeface="Red Hat Display"/>
              <a:cs typeface="Red Hat Display"/>
              <a:sym typeface="Red Hat Display"/>
            </a:endParaRPr>
          </a:p>
        </p:txBody>
      </p:sp>
      <p:cxnSp>
        <p:nvCxnSpPr>
          <p:cNvPr id="72" name="Google Shape;1653;p96">
            <a:extLst>
              <a:ext uri="{FF2B5EF4-FFF2-40B4-BE49-F238E27FC236}">
                <a16:creationId xmlns:a16="http://schemas.microsoft.com/office/drawing/2014/main" id="{B514DB0D-A63C-9086-A75C-98E7B37CDD90}"/>
              </a:ext>
            </a:extLst>
          </p:cNvPr>
          <p:cNvCxnSpPr>
            <a:cxnSpLocks/>
            <a:stCxn id="70" idx="3"/>
            <a:endCxn id="71" idx="1"/>
          </p:cNvCxnSpPr>
          <p:nvPr/>
        </p:nvCxnSpPr>
        <p:spPr>
          <a:xfrm>
            <a:off x="8608721" y="4320630"/>
            <a:ext cx="1338717" cy="0"/>
          </a:xfrm>
          <a:prstGeom prst="straightConnector1">
            <a:avLst/>
          </a:prstGeom>
          <a:noFill/>
          <a:ln w="28575" cap="flat" cmpd="sng">
            <a:solidFill>
              <a:srgbClr val="FFFFFF"/>
            </a:solidFill>
            <a:prstDash val="solid"/>
            <a:round/>
            <a:headEnd type="none" w="sm" len="sm"/>
            <a:tailEnd type="triangle" w="med" len="med"/>
          </a:ln>
        </p:spPr>
      </p:cxnSp>
      <p:sp>
        <p:nvSpPr>
          <p:cNvPr id="73" name="Google Shape;1640;p96">
            <a:extLst>
              <a:ext uri="{FF2B5EF4-FFF2-40B4-BE49-F238E27FC236}">
                <a16:creationId xmlns:a16="http://schemas.microsoft.com/office/drawing/2014/main" id="{6D34CF74-8E31-98B5-C8AA-EC000BFC4BF0}"/>
              </a:ext>
            </a:extLst>
          </p:cNvPr>
          <p:cNvSpPr/>
          <p:nvPr/>
        </p:nvSpPr>
        <p:spPr>
          <a:xfrm>
            <a:off x="2649885" y="4153672"/>
            <a:ext cx="945565" cy="333916"/>
          </a:xfrm>
          <a:prstGeom prst="flowChartProcess">
            <a:avLst/>
          </a:prstGeom>
          <a:solidFill>
            <a:srgbClr val="FFFFFF"/>
          </a:solidFill>
          <a:ln w="9525" cap="flat" cmpd="sng">
            <a:solidFill>
              <a:schemeClr val="tx1"/>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500"/>
              <a:buFont typeface="Arial"/>
              <a:buNone/>
            </a:pPr>
            <a:r>
              <a:rPr lang="en" sz="900" b="0" i="0" u="none" strike="noStrike" cap="none">
                <a:latin typeface="+mj-lt"/>
                <a:ea typeface="Red Hat Display"/>
                <a:cs typeface="Red Hat Display"/>
                <a:sym typeface="Red Hat Display"/>
              </a:rPr>
              <a:t>Launch Test</a:t>
            </a:r>
            <a:endParaRPr sz="900" b="0" i="0" u="none" strike="noStrike" cap="none">
              <a:latin typeface="+mj-lt"/>
              <a:ea typeface="Red Hat Display"/>
              <a:cs typeface="Red Hat Display"/>
              <a:sym typeface="Red Hat Display"/>
            </a:endParaRPr>
          </a:p>
        </p:txBody>
      </p:sp>
      <p:cxnSp>
        <p:nvCxnSpPr>
          <p:cNvPr id="74" name="Google Shape;1639;p96">
            <a:extLst>
              <a:ext uri="{FF2B5EF4-FFF2-40B4-BE49-F238E27FC236}">
                <a16:creationId xmlns:a16="http://schemas.microsoft.com/office/drawing/2014/main" id="{629F5AEE-EC1D-0161-486A-2EAF2465AEAF}"/>
              </a:ext>
            </a:extLst>
          </p:cNvPr>
          <p:cNvCxnSpPr>
            <a:cxnSpLocks/>
            <a:stCxn id="73" idx="3"/>
            <a:endCxn id="67" idx="1"/>
          </p:cNvCxnSpPr>
          <p:nvPr/>
        </p:nvCxnSpPr>
        <p:spPr>
          <a:xfrm>
            <a:off x="3595450" y="4320630"/>
            <a:ext cx="1655597" cy="0"/>
          </a:xfrm>
          <a:prstGeom prst="straightConnector1">
            <a:avLst/>
          </a:prstGeom>
          <a:noFill/>
          <a:ln w="28575" cap="flat" cmpd="sng">
            <a:solidFill>
              <a:srgbClr val="FFFFFF"/>
            </a:solidFill>
            <a:prstDash val="solid"/>
            <a:round/>
            <a:headEnd type="none" w="sm" len="sm"/>
            <a:tailEnd type="triangle" w="med" len="med"/>
          </a:ln>
        </p:spPr>
      </p:cxnSp>
      <p:sp>
        <p:nvSpPr>
          <p:cNvPr id="76" name="Google Shape;1646;p96">
            <a:extLst>
              <a:ext uri="{FF2B5EF4-FFF2-40B4-BE49-F238E27FC236}">
                <a16:creationId xmlns:a16="http://schemas.microsoft.com/office/drawing/2014/main" id="{70BE9582-0B83-4EA1-BF31-942A5947F6A8}"/>
              </a:ext>
            </a:extLst>
          </p:cNvPr>
          <p:cNvSpPr/>
          <p:nvPr/>
        </p:nvSpPr>
        <p:spPr>
          <a:xfrm>
            <a:off x="3611622" y="6042105"/>
            <a:ext cx="887700" cy="250800"/>
          </a:xfrm>
          <a:prstGeom prst="rect">
            <a:avLst/>
          </a:prstGeom>
          <a:solidFill>
            <a:srgbClr val="FFFFFF"/>
          </a:solidFill>
          <a:ln w="9525" cap="flat" cmpd="sng">
            <a:solidFill>
              <a:schemeClr val="tx1"/>
            </a:solidFill>
            <a:prstDash val="solid"/>
            <a:round/>
            <a:headEnd type="none" w="sm" len="sm"/>
            <a:tailEnd type="none" w="sm" len="sm"/>
          </a:ln>
        </p:spPr>
        <p:txBody>
          <a:bodyPr spcFirstLastPara="1" wrap="square" lIns="77300" tIns="77300" rIns="77300" bIns="773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800" b="1" i="0" u="none" strike="noStrike" kern="1200" cap="none" spc="0" normalizeH="0" baseline="0" noProof="0" dirty="0">
                <a:ln>
                  <a:noFill/>
                </a:ln>
                <a:effectLst/>
                <a:uLnTx/>
                <a:uFillTx/>
                <a:latin typeface="+mj-lt"/>
                <a:ea typeface="Red Hat Display"/>
                <a:cs typeface="Red Hat Display"/>
                <a:sym typeface="Red Hat Display"/>
              </a:rPr>
              <a:t>Process Step</a:t>
            </a:r>
            <a:endParaRPr kumimoji="0" sz="800" b="1" i="0" u="none" strike="noStrike" kern="1200" cap="none" spc="0" normalizeH="0" baseline="0" noProof="0" dirty="0">
              <a:ln>
                <a:noFill/>
              </a:ln>
              <a:effectLst/>
              <a:uLnTx/>
              <a:uFillTx/>
              <a:latin typeface="+mj-lt"/>
              <a:ea typeface="Red Hat Display"/>
              <a:cs typeface="Red Hat Display"/>
              <a:sym typeface="Red Hat Display"/>
            </a:endParaRPr>
          </a:p>
        </p:txBody>
      </p:sp>
      <p:sp>
        <p:nvSpPr>
          <p:cNvPr id="77" name="Google Shape;1647;p96">
            <a:extLst>
              <a:ext uri="{FF2B5EF4-FFF2-40B4-BE49-F238E27FC236}">
                <a16:creationId xmlns:a16="http://schemas.microsoft.com/office/drawing/2014/main" id="{FF0A5B7D-4BA0-F109-EF91-D6954BFBEBA9}"/>
              </a:ext>
            </a:extLst>
          </p:cNvPr>
          <p:cNvSpPr/>
          <p:nvPr/>
        </p:nvSpPr>
        <p:spPr>
          <a:xfrm>
            <a:off x="4641121" y="6042105"/>
            <a:ext cx="732888" cy="250938"/>
          </a:xfrm>
          <a:prstGeom prst="flowChartDocument">
            <a:avLst/>
          </a:prstGeom>
          <a:solidFill>
            <a:srgbClr val="FFFFFF"/>
          </a:solidFill>
          <a:ln w="9525" cap="flat" cmpd="sng">
            <a:solidFill>
              <a:schemeClr val="tx1"/>
            </a:solidFill>
            <a:prstDash val="solid"/>
            <a:round/>
            <a:headEnd type="none" w="sm" len="sm"/>
            <a:tailEnd type="none" w="sm" len="sm"/>
          </a:ln>
        </p:spPr>
        <p:txBody>
          <a:bodyPr spcFirstLastPara="1" wrap="square" lIns="77300" tIns="77300" rIns="77300" bIns="773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800" b="1" i="0" u="none" strike="noStrike" kern="1200" cap="none" spc="0" normalizeH="0" baseline="0" noProof="0">
                <a:ln>
                  <a:noFill/>
                </a:ln>
                <a:effectLst/>
                <a:uLnTx/>
                <a:uFillTx/>
                <a:latin typeface="+mj-lt"/>
                <a:ea typeface="Red Hat Display"/>
                <a:cs typeface="Red Hat Display"/>
                <a:sym typeface="Red Hat Display"/>
              </a:rPr>
              <a:t>Document</a:t>
            </a:r>
            <a:endParaRPr kumimoji="0" sz="800" b="1" i="0" u="none" strike="noStrike" kern="1200" cap="none" spc="0" normalizeH="0" baseline="0" noProof="0">
              <a:ln>
                <a:noFill/>
              </a:ln>
              <a:effectLst/>
              <a:uLnTx/>
              <a:uFillTx/>
              <a:latin typeface="+mj-lt"/>
              <a:ea typeface="Red Hat Display"/>
              <a:cs typeface="Red Hat Display"/>
              <a:sym typeface="Red Hat Display"/>
            </a:endParaRPr>
          </a:p>
        </p:txBody>
      </p:sp>
      <p:sp>
        <p:nvSpPr>
          <p:cNvPr id="78" name="Google Shape;1648;p96">
            <a:extLst>
              <a:ext uri="{FF2B5EF4-FFF2-40B4-BE49-F238E27FC236}">
                <a16:creationId xmlns:a16="http://schemas.microsoft.com/office/drawing/2014/main" id="{265ED73F-1530-F506-7747-55CC453098DA}"/>
              </a:ext>
            </a:extLst>
          </p:cNvPr>
          <p:cNvSpPr/>
          <p:nvPr/>
        </p:nvSpPr>
        <p:spPr>
          <a:xfrm>
            <a:off x="5515808" y="6042104"/>
            <a:ext cx="1135972" cy="250949"/>
          </a:xfrm>
          <a:prstGeom prst="flowChartPredefinedProcess">
            <a:avLst/>
          </a:prstGeom>
          <a:solidFill>
            <a:srgbClr val="FFFFFF"/>
          </a:solidFill>
          <a:ln w="9525" cap="flat" cmpd="sng">
            <a:solidFill>
              <a:schemeClr val="tx1"/>
            </a:solidFill>
            <a:prstDash val="solid"/>
            <a:round/>
            <a:headEnd type="none" w="sm" len="sm"/>
            <a:tailEnd type="none" w="sm" len="sm"/>
          </a:ln>
        </p:spPr>
        <p:txBody>
          <a:bodyPr spcFirstLastPara="1" wrap="square" lIns="77300" tIns="77300" rIns="77300" bIns="773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800" b="1" i="0" u="none" strike="noStrike" kern="1200" cap="none" spc="0" normalizeH="0" baseline="0" noProof="0">
                <a:ln>
                  <a:noFill/>
                </a:ln>
                <a:effectLst/>
                <a:uLnTx/>
                <a:uFillTx/>
                <a:latin typeface="+mj-lt"/>
                <a:ea typeface="Red Hat Display"/>
                <a:cs typeface="Red Hat Display"/>
                <a:sym typeface="Red Hat Display"/>
              </a:rPr>
              <a:t>Decision</a:t>
            </a:r>
            <a:endParaRPr kumimoji="0" sz="800" b="1" i="0" u="none" strike="noStrike" kern="1200" cap="none" spc="0" normalizeH="0" baseline="0" noProof="0">
              <a:ln>
                <a:noFill/>
              </a:ln>
              <a:effectLst/>
              <a:uLnTx/>
              <a:uFillTx/>
              <a:latin typeface="+mj-lt"/>
              <a:ea typeface="Red Hat Display"/>
              <a:cs typeface="Red Hat Display"/>
              <a:sym typeface="Red Hat Display"/>
            </a:endParaRPr>
          </a:p>
        </p:txBody>
      </p:sp>
      <p:sp>
        <p:nvSpPr>
          <p:cNvPr id="79" name="Google Shape;1649;p96">
            <a:extLst>
              <a:ext uri="{FF2B5EF4-FFF2-40B4-BE49-F238E27FC236}">
                <a16:creationId xmlns:a16="http://schemas.microsoft.com/office/drawing/2014/main" id="{4AE5D152-B070-6B34-E0EB-A33DEB432E53}"/>
              </a:ext>
            </a:extLst>
          </p:cNvPr>
          <p:cNvSpPr/>
          <p:nvPr/>
        </p:nvSpPr>
        <p:spPr>
          <a:xfrm>
            <a:off x="6793579" y="6042103"/>
            <a:ext cx="923700" cy="250800"/>
          </a:xfrm>
          <a:prstGeom prst="rect">
            <a:avLst/>
          </a:prstGeom>
          <a:solidFill>
            <a:srgbClr val="FFFFFF"/>
          </a:solidFill>
          <a:ln w="9525" cap="flat" cmpd="sng">
            <a:solidFill>
              <a:schemeClr val="tx1"/>
            </a:solidFill>
            <a:prstDash val="dash"/>
            <a:round/>
            <a:headEnd type="none" w="sm" len="sm"/>
            <a:tailEnd type="none" w="sm" len="sm"/>
          </a:ln>
        </p:spPr>
        <p:txBody>
          <a:bodyPr spcFirstLastPara="1" wrap="square" lIns="77300" tIns="77300" rIns="77300" bIns="773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800" b="1" i="0" u="none" strike="noStrike" kern="1200" cap="none" spc="0" normalizeH="0" baseline="0" noProof="0" dirty="0">
                <a:ln>
                  <a:noFill/>
                </a:ln>
                <a:effectLst/>
                <a:uLnTx/>
                <a:uFillTx/>
                <a:latin typeface="+mj-lt"/>
                <a:ea typeface="Red Hat Display"/>
                <a:cs typeface="Red Hat Display"/>
                <a:sym typeface="Red Hat Display"/>
              </a:rPr>
              <a:t>Optional / as needed step</a:t>
            </a:r>
            <a:endParaRPr kumimoji="0" sz="800" b="1" i="0" u="none" strike="noStrike" kern="1200" cap="none" spc="0" normalizeH="0" baseline="0" noProof="0" dirty="0">
              <a:ln>
                <a:noFill/>
              </a:ln>
              <a:effectLst/>
              <a:uLnTx/>
              <a:uFillTx/>
              <a:latin typeface="+mj-lt"/>
              <a:ea typeface="Red Hat Display"/>
              <a:cs typeface="Red Hat Display"/>
              <a:sym typeface="Red Hat Display"/>
            </a:endParaRPr>
          </a:p>
        </p:txBody>
      </p:sp>
      <p:sp>
        <p:nvSpPr>
          <p:cNvPr id="80" name="Google Shape;1650;p96">
            <a:extLst>
              <a:ext uri="{FF2B5EF4-FFF2-40B4-BE49-F238E27FC236}">
                <a16:creationId xmlns:a16="http://schemas.microsoft.com/office/drawing/2014/main" id="{255D5265-5F0B-FB04-4930-84C75DFEE5A5}"/>
              </a:ext>
            </a:extLst>
          </p:cNvPr>
          <p:cNvSpPr txBox="1"/>
          <p:nvPr/>
        </p:nvSpPr>
        <p:spPr>
          <a:xfrm>
            <a:off x="2213894" y="6042819"/>
            <a:ext cx="1650300" cy="175200"/>
          </a:xfrm>
          <a:prstGeom prst="rect">
            <a:avLst/>
          </a:prstGeom>
          <a:noFill/>
          <a:ln>
            <a:noFill/>
          </a:ln>
        </p:spPr>
        <p:txBody>
          <a:bodyPr spcFirstLastPara="1" wrap="square" lIns="75575" tIns="75575" rIns="75575" bIns="7557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 sz="800" b="0" i="0" u="none" strike="noStrike" kern="1200" cap="none" spc="0" normalizeH="0" baseline="0" noProof="0" dirty="0">
                <a:ln>
                  <a:noFill/>
                </a:ln>
                <a:effectLst/>
                <a:uLnTx/>
                <a:uFillTx/>
                <a:latin typeface="+mj-lt"/>
                <a:ea typeface="Red Hat Display"/>
                <a:cs typeface="Red Hat Display"/>
                <a:sym typeface="Red Hat Display"/>
              </a:rPr>
              <a:t>Process flow shape key:</a:t>
            </a:r>
            <a:endParaRPr kumimoji="0" sz="800" b="0" i="0" u="none" strike="noStrike" kern="1200" cap="none" spc="0" normalizeH="0" baseline="0" noProof="0" dirty="0">
              <a:ln>
                <a:noFill/>
              </a:ln>
              <a:effectLst/>
              <a:uLnTx/>
              <a:uFillTx/>
              <a:latin typeface="+mj-lt"/>
              <a:ea typeface="Red Hat Display"/>
              <a:cs typeface="Red Hat Display"/>
              <a:sym typeface="Red Hat Display"/>
            </a:endParaRPr>
          </a:p>
        </p:txBody>
      </p:sp>
      <p:sp>
        <p:nvSpPr>
          <p:cNvPr id="82" name="Google Shape;1646;p96">
            <a:extLst>
              <a:ext uri="{FF2B5EF4-FFF2-40B4-BE49-F238E27FC236}">
                <a16:creationId xmlns:a16="http://schemas.microsoft.com/office/drawing/2014/main" id="{773C6345-5223-1595-F36C-582A3228864A}"/>
              </a:ext>
            </a:extLst>
          </p:cNvPr>
          <p:cNvSpPr/>
          <p:nvPr/>
        </p:nvSpPr>
        <p:spPr>
          <a:xfrm>
            <a:off x="6710086" y="6403511"/>
            <a:ext cx="887700" cy="250800"/>
          </a:xfrm>
          <a:prstGeom prst="rect">
            <a:avLst/>
          </a:prstGeom>
          <a:solidFill>
            <a:schemeClr val="accent2">
              <a:lumMod val="40000"/>
              <a:lumOff val="60000"/>
            </a:schemeClr>
          </a:solidFill>
          <a:ln w="3175" cap="flat" cmpd="sng">
            <a:solidFill>
              <a:schemeClr val="tx2"/>
            </a:solidFill>
            <a:prstDash val="solid"/>
            <a:round/>
            <a:headEnd type="none" w="sm" len="sm"/>
            <a:tailEnd type="none" w="sm" len="sm"/>
          </a:ln>
        </p:spPr>
        <p:txBody>
          <a:bodyPr spcFirstLastPara="1" wrap="square" lIns="77300" tIns="77300" rIns="77300" bIns="773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Tx/>
              <a:buNone/>
              <a:tabLst/>
              <a:defRPr/>
            </a:pPr>
            <a:r>
              <a:rPr kumimoji="0" lang="en-US" sz="700" b="1" i="0" u="none" strike="noStrike" kern="1200" cap="none" spc="0" normalizeH="0" baseline="0" noProof="0" dirty="0">
                <a:ln>
                  <a:noFill/>
                </a:ln>
                <a:effectLst/>
                <a:uLnTx/>
                <a:uFillTx/>
                <a:latin typeface="+mj-lt"/>
                <a:ea typeface="Red Hat Display"/>
                <a:cs typeface="Poppins"/>
                <a:sym typeface="Red Hat Display"/>
              </a:rPr>
              <a:t>Client</a:t>
            </a:r>
            <a:endParaRPr kumimoji="0" lang="en-US" sz="700" b="1" i="0" u="none" strike="noStrike" kern="1200" cap="none" spc="0" normalizeH="0" baseline="0" noProof="0" dirty="0">
              <a:ln>
                <a:noFill/>
              </a:ln>
              <a:effectLst/>
              <a:uLnTx/>
              <a:uFillTx/>
              <a:latin typeface="+mj-lt"/>
              <a:ea typeface="Red Hat Display"/>
              <a:cs typeface="Poppins" panose="00000500000000000000" pitchFamily="2" charset="0"/>
              <a:sym typeface="Red Hat Display"/>
            </a:endParaRPr>
          </a:p>
        </p:txBody>
      </p:sp>
      <p:sp>
        <p:nvSpPr>
          <p:cNvPr id="83" name="Google Shape;1646;p96">
            <a:extLst>
              <a:ext uri="{FF2B5EF4-FFF2-40B4-BE49-F238E27FC236}">
                <a16:creationId xmlns:a16="http://schemas.microsoft.com/office/drawing/2014/main" id="{D9A49974-8355-2D96-EC80-74ABDD236903}"/>
              </a:ext>
            </a:extLst>
          </p:cNvPr>
          <p:cNvSpPr/>
          <p:nvPr/>
        </p:nvSpPr>
        <p:spPr>
          <a:xfrm>
            <a:off x="5677493" y="6403511"/>
            <a:ext cx="887700" cy="250800"/>
          </a:xfrm>
          <a:prstGeom prst="rect">
            <a:avLst/>
          </a:prstGeom>
          <a:solidFill>
            <a:schemeClr val="accent3">
              <a:lumMod val="60000"/>
              <a:lumOff val="40000"/>
            </a:schemeClr>
          </a:solidFill>
          <a:ln w="3175" cap="flat" cmpd="sng">
            <a:solidFill>
              <a:schemeClr val="tx2"/>
            </a:solidFill>
            <a:prstDash val="solid"/>
            <a:round/>
            <a:headEnd type="none" w="sm" len="sm"/>
            <a:tailEnd type="none" w="sm" len="sm"/>
          </a:ln>
        </p:spPr>
        <p:txBody>
          <a:bodyPr spcFirstLastPara="1" wrap="square" lIns="77300" tIns="77300" rIns="77300" bIns="773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Tx/>
              <a:buNone/>
              <a:tabLst/>
              <a:defRPr/>
            </a:pPr>
            <a:r>
              <a:rPr kumimoji="0" lang="en" sz="700" b="1" i="0" u="none" strike="noStrike" kern="1200" cap="none" spc="0" normalizeH="0" baseline="0" noProof="0" dirty="0">
                <a:ln>
                  <a:noFill/>
                </a:ln>
                <a:solidFill>
                  <a:schemeClr val="bg1"/>
                </a:solidFill>
                <a:effectLst/>
                <a:uLnTx/>
                <a:uFillTx/>
                <a:latin typeface="+mj-lt"/>
                <a:ea typeface="Red Hat Display"/>
                <a:cs typeface="Poppins"/>
                <a:sym typeface="Red Hat Display"/>
              </a:rPr>
              <a:t>HC Dev</a:t>
            </a:r>
            <a:endParaRPr kumimoji="0" sz="700" b="1" i="0" u="none" strike="noStrike" kern="1200" cap="none" spc="0" normalizeH="0" baseline="0" noProof="0" dirty="0">
              <a:ln>
                <a:noFill/>
              </a:ln>
              <a:solidFill>
                <a:schemeClr val="bg1"/>
              </a:solidFill>
              <a:effectLst/>
              <a:uLnTx/>
              <a:uFillTx/>
              <a:latin typeface="+mj-lt"/>
              <a:ea typeface="Red Hat Display"/>
              <a:cs typeface="Poppins"/>
              <a:sym typeface="Red Hat Display"/>
            </a:endParaRPr>
          </a:p>
        </p:txBody>
      </p:sp>
      <p:sp>
        <p:nvSpPr>
          <p:cNvPr id="84" name="Google Shape;1646;p96">
            <a:extLst>
              <a:ext uri="{FF2B5EF4-FFF2-40B4-BE49-F238E27FC236}">
                <a16:creationId xmlns:a16="http://schemas.microsoft.com/office/drawing/2014/main" id="{3DDC26A1-3E0B-9EE5-2116-A8D69E474A4E}"/>
              </a:ext>
            </a:extLst>
          </p:cNvPr>
          <p:cNvSpPr/>
          <p:nvPr/>
        </p:nvSpPr>
        <p:spPr>
          <a:xfrm>
            <a:off x="4644899" y="6403511"/>
            <a:ext cx="887700" cy="250800"/>
          </a:xfrm>
          <a:prstGeom prst="rect">
            <a:avLst/>
          </a:prstGeom>
          <a:solidFill>
            <a:schemeClr val="accent1"/>
          </a:solidFill>
          <a:ln w="3175" cap="flat" cmpd="sng">
            <a:solidFill>
              <a:schemeClr val="tx2"/>
            </a:solidFill>
            <a:prstDash val="solid"/>
            <a:round/>
            <a:headEnd type="none" w="sm" len="sm"/>
            <a:tailEnd type="none" w="sm" len="sm"/>
          </a:ln>
        </p:spPr>
        <p:txBody>
          <a:bodyPr spcFirstLastPara="1" wrap="square" lIns="77300" tIns="77300" rIns="77300" bIns="773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Tx/>
              <a:buNone/>
              <a:tabLst/>
              <a:defRPr/>
            </a:pPr>
            <a:r>
              <a:rPr kumimoji="0" lang="en" sz="700" b="1" i="0" u="none" strike="noStrike" kern="1200" cap="none" spc="0" normalizeH="0" baseline="0" noProof="0" dirty="0">
                <a:ln>
                  <a:noFill/>
                </a:ln>
                <a:solidFill>
                  <a:schemeClr val="bg1"/>
                </a:solidFill>
                <a:effectLst/>
                <a:uLnTx/>
                <a:uFillTx/>
                <a:latin typeface="+mj-lt"/>
                <a:ea typeface="Red Hat Display"/>
                <a:cs typeface="Poppins"/>
                <a:sym typeface="Red Hat Display"/>
              </a:rPr>
              <a:t>HC Design</a:t>
            </a:r>
            <a:endParaRPr kumimoji="0" sz="700" b="1" i="0" u="none" strike="noStrike" kern="1200" cap="none" spc="0" normalizeH="0" baseline="0" noProof="0" dirty="0">
              <a:ln>
                <a:noFill/>
              </a:ln>
              <a:solidFill>
                <a:schemeClr val="bg1"/>
              </a:solidFill>
              <a:effectLst/>
              <a:uLnTx/>
              <a:uFillTx/>
              <a:latin typeface="+mj-lt"/>
              <a:ea typeface="Red Hat Display"/>
              <a:cs typeface="Poppins"/>
              <a:sym typeface="Red Hat Display"/>
            </a:endParaRPr>
          </a:p>
        </p:txBody>
      </p:sp>
      <p:sp>
        <p:nvSpPr>
          <p:cNvPr id="85" name="Google Shape;1646;p96">
            <a:extLst>
              <a:ext uri="{FF2B5EF4-FFF2-40B4-BE49-F238E27FC236}">
                <a16:creationId xmlns:a16="http://schemas.microsoft.com/office/drawing/2014/main" id="{5FD3244A-9AE8-A5A6-53C7-8C9C49C88026}"/>
              </a:ext>
            </a:extLst>
          </p:cNvPr>
          <p:cNvSpPr/>
          <p:nvPr/>
        </p:nvSpPr>
        <p:spPr>
          <a:xfrm>
            <a:off x="3612305" y="6403511"/>
            <a:ext cx="887700" cy="250800"/>
          </a:xfrm>
          <a:prstGeom prst="rect">
            <a:avLst/>
          </a:prstGeom>
          <a:solidFill>
            <a:schemeClr val="bg1"/>
          </a:solidFill>
          <a:ln w="3175" cap="flat" cmpd="sng">
            <a:solidFill>
              <a:schemeClr val="tx2"/>
            </a:solidFill>
            <a:prstDash val="solid"/>
            <a:round/>
            <a:headEnd type="none" w="sm" len="sm"/>
            <a:tailEnd type="none" w="sm" len="sm"/>
          </a:ln>
        </p:spPr>
        <p:txBody>
          <a:bodyPr spcFirstLastPara="1" wrap="square" lIns="77300" tIns="77300" rIns="77300" bIns="773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Tx/>
              <a:buNone/>
              <a:tabLst/>
              <a:defRPr/>
            </a:pPr>
            <a:r>
              <a:rPr kumimoji="0" lang="en" sz="700" b="1" i="0" u="none" strike="noStrike" kern="1200" cap="none" spc="0" normalizeH="0" baseline="0" noProof="0" dirty="0">
                <a:ln>
                  <a:noFill/>
                </a:ln>
                <a:effectLst/>
                <a:uLnTx/>
                <a:uFillTx/>
                <a:latin typeface="+mj-lt"/>
                <a:ea typeface="Red Hat Display"/>
                <a:cs typeface="Poppins"/>
                <a:sym typeface="Red Hat Display"/>
              </a:rPr>
              <a:t>HC CRO</a:t>
            </a:r>
            <a:endParaRPr kumimoji="0" sz="700" b="1" i="0" u="none" strike="noStrike" kern="1200" cap="none" spc="0" normalizeH="0" baseline="0" noProof="0" dirty="0">
              <a:ln>
                <a:noFill/>
              </a:ln>
              <a:effectLst/>
              <a:uLnTx/>
              <a:uFillTx/>
              <a:latin typeface="+mj-lt"/>
              <a:ea typeface="Red Hat Display"/>
              <a:cs typeface="Poppins"/>
              <a:sym typeface="Red Hat Display"/>
            </a:endParaRPr>
          </a:p>
        </p:txBody>
      </p:sp>
      <p:sp>
        <p:nvSpPr>
          <p:cNvPr id="86" name="Google Shape;1650;p96">
            <a:extLst>
              <a:ext uri="{FF2B5EF4-FFF2-40B4-BE49-F238E27FC236}">
                <a16:creationId xmlns:a16="http://schemas.microsoft.com/office/drawing/2014/main" id="{9CA9E22A-B912-620C-6A82-64B8ECD3C9B3}"/>
              </a:ext>
            </a:extLst>
          </p:cNvPr>
          <p:cNvSpPr txBox="1"/>
          <p:nvPr/>
        </p:nvSpPr>
        <p:spPr>
          <a:xfrm>
            <a:off x="2203007" y="6418939"/>
            <a:ext cx="1650300" cy="175200"/>
          </a:xfrm>
          <a:prstGeom prst="rect">
            <a:avLst/>
          </a:prstGeom>
          <a:noFill/>
          <a:ln>
            <a:noFill/>
          </a:ln>
        </p:spPr>
        <p:txBody>
          <a:bodyPr spcFirstLastPara="1" wrap="square" lIns="75575" tIns="75575" rIns="75575" bIns="7557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 sz="800" b="0" i="0" u="none" strike="noStrike" kern="1200" cap="none" spc="0" normalizeH="0" baseline="0" noProof="0" dirty="0">
                <a:ln>
                  <a:noFill/>
                </a:ln>
                <a:effectLst/>
                <a:uLnTx/>
                <a:uFillTx/>
                <a:latin typeface="+mj-lt"/>
                <a:ea typeface="Red Hat Display"/>
                <a:cs typeface="Red Hat Display"/>
                <a:sym typeface="Red Hat Display"/>
              </a:rPr>
              <a:t>Process step owner key:</a:t>
            </a:r>
            <a:endParaRPr kumimoji="0" sz="800" b="0" i="0" u="none" strike="noStrike" kern="1200" cap="none" spc="0" normalizeH="0" baseline="0" noProof="0" dirty="0">
              <a:ln>
                <a:noFill/>
              </a:ln>
              <a:effectLst/>
              <a:uLnTx/>
              <a:uFillTx/>
              <a:latin typeface="+mj-lt"/>
              <a:ea typeface="Red Hat Display"/>
              <a:cs typeface="Red Hat Display"/>
              <a:sym typeface="Red Hat Display"/>
            </a:endParaRPr>
          </a:p>
        </p:txBody>
      </p:sp>
      <p:sp>
        <p:nvSpPr>
          <p:cNvPr id="87" name="Google Shape;1620;p96">
            <a:extLst>
              <a:ext uri="{FF2B5EF4-FFF2-40B4-BE49-F238E27FC236}">
                <a16:creationId xmlns:a16="http://schemas.microsoft.com/office/drawing/2014/main" id="{1F8E8249-C6A3-8290-3892-E11091047682}"/>
              </a:ext>
            </a:extLst>
          </p:cNvPr>
          <p:cNvSpPr/>
          <p:nvPr/>
        </p:nvSpPr>
        <p:spPr>
          <a:xfrm>
            <a:off x="10131626" y="2963271"/>
            <a:ext cx="878732" cy="333936"/>
          </a:xfrm>
          <a:prstGeom prst="flowChartDocument">
            <a:avLst/>
          </a:prstGeom>
          <a:solidFill>
            <a:schemeClr val="bg1"/>
          </a:solidFill>
          <a:ln w="9525" cap="flat" cmpd="sng">
            <a:solidFill>
              <a:schemeClr val="tx1"/>
            </a:solidFill>
            <a:prstDash val="solid"/>
            <a:round/>
            <a:headEnd type="none" w="sm" len="sm"/>
            <a:tailEnd type="none" w="sm" len="sm"/>
          </a:ln>
        </p:spPr>
        <p:txBody>
          <a:bodyPr spcFirstLastPara="1" wrap="square" lIns="77300" tIns="0" rIns="7730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a:ln>
                  <a:noFill/>
                </a:ln>
                <a:effectLst/>
                <a:uLnTx/>
                <a:uFillTx/>
                <a:latin typeface="+mj-lt"/>
                <a:ea typeface="Red Hat Display"/>
                <a:cs typeface="Red Hat Display"/>
                <a:sym typeface="Red Hat Display"/>
              </a:rPr>
              <a:t>QA Links</a:t>
            </a:r>
          </a:p>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a:ln>
                  <a:noFill/>
                </a:ln>
                <a:effectLst/>
                <a:uLnTx/>
                <a:uFillTx/>
                <a:latin typeface="+mj-lt"/>
                <a:ea typeface="Red Hat Display"/>
                <a:cs typeface="Red Hat Display"/>
                <a:sym typeface="Red Hat Display"/>
              </a:rPr>
              <a:t>Delivered</a:t>
            </a:r>
            <a:endParaRPr kumimoji="0" sz="900" b="0" i="0" u="none" strike="noStrike" kern="1200" cap="none" spc="0" normalizeH="0" baseline="0" noProof="0">
              <a:ln>
                <a:noFill/>
              </a:ln>
              <a:effectLst/>
              <a:uLnTx/>
              <a:uFillTx/>
              <a:latin typeface="+mj-lt"/>
              <a:ea typeface="Red Hat Display"/>
              <a:cs typeface="Red Hat Display"/>
              <a:sym typeface="Red Hat Display"/>
            </a:endParaRPr>
          </a:p>
        </p:txBody>
      </p:sp>
      <p:cxnSp>
        <p:nvCxnSpPr>
          <p:cNvPr id="88" name="Google Shape;1621;p96">
            <a:extLst>
              <a:ext uri="{FF2B5EF4-FFF2-40B4-BE49-F238E27FC236}">
                <a16:creationId xmlns:a16="http://schemas.microsoft.com/office/drawing/2014/main" id="{CAC19DE9-4ADC-85ED-855A-388AFC9DC875}"/>
              </a:ext>
            </a:extLst>
          </p:cNvPr>
          <p:cNvCxnSpPr>
            <a:cxnSpLocks/>
            <a:stCxn id="34" idx="3"/>
            <a:endCxn id="87" idx="1"/>
          </p:cNvCxnSpPr>
          <p:nvPr/>
        </p:nvCxnSpPr>
        <p:spPr>
          <a:xfrm flipV="1">
            <a:off x="9817922" y="3130239"/>
            <a:ext cx="313704" cy="1839"/>
          </a:xfrm>
          <a:prstGeom prst="straightConnector1">
            <a:avLst/>
          </a:prstGeom>
          <a:noFill/>
          <a:ln w="28575" cap="flat" cmpd="sng">
            <a:solidFill>
              <a:srgbClr val="FFFFFF"/>
            </a:solidFill>
            <a:prstDash val="solid"/>
            <a:round/>
            <a:headEnd type="none" w="sm" len="sm"/>
            <a:tailEnd type="triangle" w="med" len="med"/>
          </a:ln>
        </p:spPr>
      </p:cxnSp>
      <p:sp>
        <p:nvSpPr>
          <p:cNvPr id="95" name="Google Shape;1601;p96">
            <a:extLst>
              <a:ext uri="{FF2B5EF4-FFF2-40B4-BE49-F238E27FC236}">
                <a16:creationId xmlns:a16="http://schemas.microsoft.com/office/drawing/2014/main" id="{60C16D4D-08C7-405F-87EB-E56830AE3A83}"/>
              </a:ext>
            </a:extLst>
          </p:cNvPr>
          <p:cNvSpPr/>
          <p:nvPr/>
        </p:nvSpPr>
        <p:spPr>
          <a:xfrm>
            <a:off x="0" y="1084288"/>
            <a:ext cx="12191997" cy="548640"/>
          </a:xfrm>
          <a:prstGeom prst="roundRect">
            <a:avLst>
              <a:gd name="adj" fmla="val 16667"/>
            </a:avLst>
          </a:prstGeom>
          <a:solidFill>
            <a:schemeClr val="bg1">
              <a:lumMod val="65000"/>
            </a:schemeClr>
          </a:solidFill>
          <a:ln>
            <a:noFill/>
          </a:ln>
        </p:spPr>
        <p:txBody>
          <a:bodyPr spcFirstLastPara="1" wrap="square" lIns="77300" tIns="77300" rIns="77300" bIns="773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002477"/>
              </a:solidFill>
              <a:effectLst/>
              <a:uLnTx/>
              <a:uFillTx/>
              <a:latin typeface="+mj-lt"/>
              <a:ea typeface="Arial"/>
              <a:cs typeface="Arial"/>
              <a:sym typeface="Arial"/>
            </a:endParaRPr>
          </a:p>
        </p:txBody>
      </p:sp>
      <p:cxnSp>
        <p:nvCxnSpPr>
          <p:cNvPr id="96" name="Google Shape;1621;p96">
            <a:extLst>
              <a:ext uri="{FF2B5EF4-FFF2-40B4-BE49-F238E27FC236}">
                <a16:creationId xmlns:a16="http://schemas.microsoft.com/office/drawing/2014/main" id="{CFC19BDC-6239-2862-8E03-BA932997BB03}"/>
              </a:ext>
            </a:extLst>
          </p:cNvPr>
          <p:cNvCxnSpPr>
            <a:cxnSpLocks/>
            <a:stCxn id="97" idx="3"/>
            <a:endCxn id="118" idx="1"/>
          </p:cNvCxnSpPr>
          <p:nvPr/>
        </p:nvCxnSpPr>
        <p:spPr>
          <a:xfrm>
            <a:off x="1900439" y="1358608"/>
            <a:ext cx="200566" cy="1621"/>
          </a:xfrm>
          <a:prstGeom prst="straightConnector1">
            <a:avLst/>
          </a:prstGeom>
          <a:noFill/>
          <a:ln w="28575" cap="flat" cmpd="sng">
            <a:solidFill>
              <a:srgbClr val="FFFFFF"/>
            </a:solidFill>
            <a:prstDash val="solid"/>
            <a:round/>
            <a:headEnd type="none" w="sm" len="sm"/>
            <a:tailEnd type="triangle" w="med" len="med"/>
          </a:ln>
        </p:spPr>
      </p:cxnSp>
      <p:sp>
        <p:nvSpPr>
          <p:cNvPr id="97" name="Google Shape;1619;p96">
            <a:extLst>
              <a:ext uri="{FF2B5EF4-FFF2-40B4-BE49-F238E27FC236}">
                <a16:creationId xmlns:a16="http://schemas.microsoft.com/office/drawing/2014/main" id="{B0F74D1B-D4ED-AFE2-E778-112CDB48495F}"/>
              </a:ext>
            </a:extLst>
          </p:cNvPr>
          <p:cNvSpPr/>
          <p:nvPr/>
        </p:nvSpPr>
        <p:spPr>
          <a:xfrm>
            <a:off x="1027287" y="1191508"/>
            <a:ext cx="873152" cy="334200"/>
          </a:xfrm>
          <a:prstGeom prst="rect">
            <a:avLst/>
          </a:prstGeom>
          <a:solidFill>
            <a:schemeClr val="accent6">
              <a:lumMod val="50000"/>
              <a:lumOff val="50000"/>
            </a:schemeClr>
          </a:solidFill>
          <a:ln w="9525" cap="flat" cmpd="sng">
            <a:solidFill>
              <a:schemeClr val="tx1"/>
            </a:solidFill>
            <a:prstDash val="solid"/>
            <a:round/>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dirty="0">
                <a:ln>
                  <a:noFill/>
                </a:ln>
                <a:solidFill>
                  <a:schemeClr val="bg1"/>
                </a:solidFill>
                <a:effectLst/>
                <a:uLnTx/>
                <a:uFillTx/>
                <a:latin typeface="+mj-lt"/>
                <a:ea typeface="Red Hat Display"/>
                <a:cs typeface="Red Hat Display"/>
                <a:sym typeface="Red Hat Display"/>
              </a:rPr>
              <a:t>Data Analysis / Deep Dive</a:t>
            </a:r>
            <a:endParaRPr kumimoji="0" sz="900" b="0" i="0" u="none" strike="noStrike" kern="1200" cap="none" spc="0" normalizeH="0" baseline="0" noProof="0" dirty="0">
              <a:ln>
                <a:noFill/>
              </a:ln>
              <a:solidFill>
                <a:schemeClr val="bg1"/>
              </a:solidFill>
              <a:effectLst/>
              <a:uLnTx/>
              <a:uFillTx/>
              <a:latin typeface="+mj-lt"/>
              <a:ea typeface="Red Hat Display"/>
              <a:cs typeface="Red Hat Display"/>
              <a:sym typeface="Red Hat Display"/>
            </a:endParaRPr>
          </a:p>
        </p:txBody>
      </p:sp>
      <p:sp>
        <p:nvSpPr>
          <p:cNvPr id="98" name="Google Shape;1620;p96">
            <a:extLst>
              <a:ext uri="{FF2B5EF4-FFF2-40B4-BE49-F238E27FC236}">
                <a16:creationId xmlns:a16="http://schemas.microsoft.com/office/drawing/2014/main" id="{0C2F2D0F-F99F-0549-EAA5-9E9FCFA3B479}"/>
              </a:ext>
            </a:extLst>
          </p:cNvPr>
          <p:cNvSpPr/>
          <p:nvPr/>
        </p:nvSpPr>
        <p:spPr>
          <a:xfrm>
            <a:off x="7333460" y="1191640"/>
            <a:ext cx="887700" cy="333936"/>
          </a:xfrm>
          <a:prstGeom prst="flowChartDocument">
            <a:avLst/>
          </a:prstGeom>
          <a:solidFill>
            <a:srgbClr val="FFFFFF"/>
          </a:solidFill>
          <a:ln w="9525" cap="flat" cmpd="sng">
            <a:solidFill>
              <a:schemeClr val="tx1"/>
            </a:solidFill>
            <a:prstDash val="solid"/>
            <a:round/>
            <a:headEnd type="none" w="sm" len="sm"/>
            <a:tailEnd type="none" w="sm" len="sm"/>
          </a:ln>
        </p:spPr>
        <p:txBody>
          <a:bodyPr spcFirstLastPara="1" wrap="square" lIns="0" tIns="4572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a:ln>
                  <a:noFill/>
                </a:ln>
                <a:solidFill>
                  <a:srgbClr val="0070C0"/>
                </a:solidFill>
                <a:effectLst/>
                <a:uLnTx/>
                <a:uFillTx/>
                <a:latin typeface="+mj-lt"/>
                <a:ea typeface="Red Hat Display"/>
                <a:cs typeface="Red Hat Display"/>
                <a:sym typeface="Red Hat Display"/>
                <a:hlinkClick r:id="rId5">
                  <a:extLst>
                    <a:ext uri="{A12FA001-AC4F-418D-AE19-62706E023703}">
                      <ahyp:hlinkClr xmlns:ahyp="http://schemas.microsoft.com/office/drawing/2018/hyperlinkcolor" val="tx"/>
                    </a:ext>
                  </a:extLst>
                </a:hlinkClick>
              </a:rPr>
              <a:t>Test Concepts Delivered</a:t>
            </a:r>
            <a:endParaRPr kumimoji="0" sz="900" b="0" i="0" u="none" strike="noStrike" kern="1200" cap="none" spc="0" normalizeH="0" baseline="0" noProof="0">
              <a:ln>
                <a:noFill/>
              </a:ln>
              <a:solidFill>
                <a:srgbClr val="0070C0"/>
              </a:solidFill>
              <a:effectLst/>
              <a:uLnTx/>
              <a:uFillTx/>
              <a:latin typeface="+mj-lt"/>
              <a:ea typeface="Red Hat Display"/>
              <a:cs typeface="Red Hat Display"/>
              <a:sym typeface="Red Hat Display"/>
            </a:endParaRPr>
          </a:p>
        </p:txBody>
      </p:sp>
      <p:sp>
        <p:nvSpPr>
          <p:cNvPr id="99" name="Google Shape;1622;p96">
            <a:extLst>
              <a:ext uri="{FF2B5EF4-FFF2-40B4-BE49-F238E27FC236}">
                <a16:creationId xmlns:a16="http://schemas.microsoft.com/office/drawing/2014/main" id="{8C1A08E3-F7F6-8117-48EC-5D886F8D610C}"/>
              </a:ext>
            </a:extLst>
          </p:cNvPr>
          <p:cNvSpPr/>
          <p:nvPr/>
        </p:nvSpPr>
        <p:spPr>
          <a:xfrm>
            <a:off x="8401147" y="1191645"/>
            <a:ext cx="1475106" cy="333926"/>
          </a:xfrm>
          <a:prstGeom prst="flowChartPredefinedProcess">
            <a:avLst/>
          </a:prstGeom>
          <a:solidFill>
            <a:schemeClr val="accent2">
              <a:lumMod val="40000"/>
              <a:lumOff val="60000"/>
            </a:schemeClr>
          </a:solidFill>
          <a:ln w="3175" cap="flat" cmpd="sng">
            <a:solidFill>
              <a:schemeClr val="tx2"/>
            </a:solidFill>
            <a:prstDash val="solid"/>
            <a:round/>
            <a:headEnd type="none" w="sm" len="sm"/>
            <a:tailEnd type="none" w="sm" len="sm"/>
          </a:ln>
        </p:spPr>
        <p:txBody>
          <a:bodyPr spcFirstLastPara="1" wrap="square" lIns="0" tIns="77300" rIns="0" bIns="773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dirty="0">
                <a:ln>
                  <a:noFill/>
                </a:ln>
                <a:effectLst/>
                <a:uLnTx/>
                <a:uFillTx/>
                <a:latin typeface="+mj-lt"/>
                <a:ea typeface="Red Hat Display"/>
                <a:cs typeface="Red Hat Display"/>
                <a:sym typeface="Red Hat Display"/>
              </a:rPr>
              <a:t>Selected Concepts Approved</a:t>
            </a:r>
            <a:endParaRPr kumimoji="0" sz="900" b="0" i="0" u="none" strike="noStrike" kern="1200" cap="none" spc="0" normalizeH="0" baseline="0" noProof="0" dirty="0">
              <a:ln>
                <a:noFill/>
              </a:ln>
              <a:effectLst/>
              <a:uLnTx/>
              <a:uFillTx/>
              <a:latin typeface="+mj-lt"/>
              <a:ea typeface="Red Hat Display"/>
              <a:cs typeface="Red Hat Display"/>
              <a:sym typeface="Red Hat Display"/>
            </a:endParaRPr>
          </a:p>
        </p:txBody>
      </p:sp>
      <p:sp>
        <p:nvSpPr>
          <p:cNvPr id="100" name="Google Shape;1642;p96">
            <a:extLst>
              <a:ext uri="{FF2B5EF4-FFF2-40B4-BE49-F238E27FC236}">
                <a16:creationId xmlns:a16="http://schemas.microsoft.com/office/drawing/2014/main" id="{3FAAC731-E69F-FF54-5326-3512E21C5C0C}"/>
              </a:ext>
            </a:extLst>
          </p:cNvPr>
          <p:cNvSpPr txBox="1"/>
          <p:nvPr/>
        </p:nvSpPr>
        <p:spPr>
          <a:xfrm>
            <a:off x="56443" y="1183558"/>
            <a:ext cx="1090058" cy="350100"/>
          </a:xfrm>
          <a:prstGeom prst="rect">
            <a:avLst/>
          </a:prstGeom>
          <a:noFill/>
          <a:ln>
            <a:noFill/>
          </a:ln>
        </p:spPr>
        <p:txBody>
          <a:bodyPr spcFirstLastPara="1" wrap="square" lIns="77300" tIns="77300" rIns="77300" bIns="773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 sz="1200" b="0" i="0" u="none" strike="noStrike" kern="1200" cap="none" spc="0" normalizeH="0" baseline="0" noProof="0" dirty="0">
                <a:ln>
                  <a:noFill/>
                </a:ln>
                <a:effectLst/>
                <a:uLnTx/>
                <a:uFillTx/>
                <a:latin typeface="+mj-lt"/>
                <a:ea typeface="Red Hat Display"/>
                <a:cs typeface="Red Hat Display"/>
                <a:sym typeface="Red Hat Display"/>
              </a:rPr>
              <a:t>Ideation</a:t>
            </a:r>
            <a:endParaRPr kumimoji="0" sz="1200" b="0" i="0" u="none" strike="noStrike" kern="1200" cap="none" spc="0" normalizeH="0" baseline="0" noProof="0" dirty="0">
              <a:ln>
                <a:noFill/>
              </a:ln>
              <a:effectLst/>
              <a:uLnTx/>
              <a:uFillTx/>
              <a:latin typeface="+mj-lt"/>
              <a:ea typeface="Red Hat Display"/>
              <a:cs typeface="Red Hat Display"/>
              <a:sym typeface="Red Hat Display"/>
            </a:endParaRPr>
          </a:p>
        </p:txBody>
      </p:sp>
      <p:sp>
        <p:nvSpPr>
          <p:cNvPr id="101" name="Google Shape;1619;p96">
            <a:extLst>
              <a:ext uri="{FF2B5EF4-FFF2-40B4-BE49-F238E27FC236}">
                <a16:creationId xmlns:a16="http://schemas.microsoft.com/office/drawing/2014/main" id="{A796B2D4-9CC0-6103-29A6-70FF1EC90064}"/>
              </a:ext>
            </a:extLst>
          </p:cNvPr>
          <p:cNvSpPr/>
          <p:nvPr/>
        </p:nvSpPr>
        <p:spPr>
          <a:xfrm>
            <a:off x="6268331" y="1191508"/>
            <a:ext cx="886496" cy="334200"/>
          </a:xfrm>
          <a:prstGeom prst="rect">
            <a:avLst/>
          </a:prstGeom>
          <a:solidFill>
            <a:srgbClr val="FFFFFF"/>
          </a:solidFill>
          <a:ln w="9525" cap="flat" cmpd="sng">
            <a:solidFill>
              <a:schemeClr val="tx1"/>
            </a:solidFill>
            <a:prstDash val="solid"/>
            <a:round/>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dirty="0">
                <a:ln>
                  <a:noFill/>
                </a:ln>
                <a:solidFill>
                  <a:srgbClr val="0070C0"/>
                </a:solidFill>
                <a:effectLst/>
                <a:uLnTx/>
                <a:uFillTx/>
                <a:latin typeface="+mj-lt"/>
                <a:ea typeface="Red Hat Display"/>
                <a:cs typeface="Red Hat Display"/>
                <a:sym typeface="Red Hat Display"/>
                <a:hlinkClick r:id="rId6">
                  <a:extLst>
                    <a:ext uri="{A12FA001-AC4F-418D-AE19-62706E023703}">
                      <ahyp:hlinkClr xmlns:ahyp="http://schemas.microsoft.com/office/drawing/2018/hyperlinkcolor" val="tx"/>
                    </a:ext>
                  </a:extLst>
                </a:hlinkClick>
              </a:rPr>
              <a:t>Test Concept Development</a:t>
            </a:r>
            <a:endParaRPr kumimoji="0" sz="900" b="0" i="0" u="none" strike="noStrike" kern="1200" cap="none" spc="0" normalizeH="0" baseline="0" noProof="0" dirty="0">
              <a:ln>
                <a:noFill/>
              </a:ln>
              <a:solidFill>
                <a:srgbClr val="0070C0"/>
              </a:solidFill>
              <a:effectLst/>
              <a:uLnTx/>
              <a:uFillTx/>
              <a:latin typeface="+mj-lt"/>
              <a:ea typeface="Red Hat Display"/>
              <a:cs typeface="Red Hat Display"/>
              <a:sym typeface="Red Hat Display"/>
            </a:endParaRPr>
          </a:p>
        </p:txBody>
      </p:sp>
      <p:cxnSp>
        <p:nvCxnSpPr>
          <p:cNvPr id="102" name="Google Shape;1621;p96">
            <a:extLst>
              <a:ext uri="{FF2B5EF4-FFF2-40B4-BE49-F238E27FC236}">
                <a16:creationId xmlns:a16="http://schemas.microsoft.com/office/drawing/2014/main" id="{C70CC66F-C09A-A1A7-0959-0F7B294C5CCD}"/>
              </a:ext>
            </a:extLst>
          </p:cNvPr>
          <p:cNvCxnSpPr>
            <a:cxnSpLocks/>
            <a:stCxn id="98" idx="3"/>
            <a:endCxn id="99" idx="1"/>
          </p:cNvCxnSpPr>
          <p:nvPr/>
        </p:nvCxnSpPr>
        <p:spPr>
          <a:xfrm>
            <a:off x="8221160" y="1358608"/>
            <a:ext cx="179987" cy="0"/>
          </a:xfrm>
          <a:prstGeom prst="straightConnector1">
            <a:avLst/>
          </a:prstGeom>
          <a:noFill/>
          <a:ln w="28575" cap="flat" cmpd="sng">
            <a:solidFill>
              <a:srgbClr val="FFFFFF"/>
            </a:solidFill>
            <a:prstDash val="solid"/>
            <a:round/>
            <a:headEnd type="none" w="sm" len="sm"/>
            <a:tailEnd type="triangle" w="med" len="med"/>
          </a:ln>
        </p:spPr>
      </p:cxnSp>
      <p:sp>
        <p:nvSpPr>
          <p:cNvPr id="91" name="Google Shape;1620;p96">
            <a:extLst>
              <a:ext uri="{FF2B5EF4-FFF2-40B4-BE49-F238E27FC236}">
                <a16:creationId xmlns:a16="http://schemas.microsoft.com/office/drawing/2014/main" id="{05A39217-3CD3-D593-37A8-9447457D0F79}"/>
              </a:ext>
            </a:extLst>
          </p:cNvPr>
          <p:cNvSpPr/>
          <p:nvPr/>
        </p:nvSpPr>
        <p:spPr>
          <a:xfrm>
            <a:off x="10074743" y="1196055"/>
            <a:ext cx="1098148" cy="333936"/>
          </a:xfrm>
          <a:prstGeom prst="flowChartDocument">
            <a:avLst/>
          </a:prstGeom>
          <a:solidFill>
            <a:srgbClr val="FFFFFF"/>
          </a:solidFill>
          <a:ln w="9525" cap="flat" cmpd="sng">
            <a:solidFill>
              <a:schemeClr val="tx1"/>
            </a:solidFill>
            <a:prstDash val="solid"/>
            <a:round/>
            <a:headEnd type="none" w="sm" len="sm"/>
            <a:tailEnd type="none" w="sm" len="sm"/>
          </a:ln>
        </p:spPr>
        <p:txBody>
          <a:bodyPr spcFirstLastPara="1" wrap="square" lIns="0" tIns="4572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dirty="0">
                <a:ln>
                  <a:noFill/>
                </a:ln>
                <a:solidFill>
                  <a:srgbClr val="0070C0"/>
                </a:solidFill>
                <a:effectLst/>
                <a:uLnTx/>
                <a:uFillTx/>
                <a:latin typeface="+mj-lt"/>
                <a:ea typeface="Red Hat Display"/>
                <a:cs typeface="Red Hat Display"/>
                <a:sym typeface="Red Hat Display"/>
                <a:hlinkClick r:id="rId7">
                  <a:extLst>
                    <a:ext uri="{A12FA001-AC4F-418D-AE19-62706E023703}">
                      <ahyp:hlinkClr xmlns:ahyp="http://schemas.microsoft.com/office/drawing/2018/hyperlinkcolor" val="tx"/>
                    </a:ext>
                  </a:extLst>
                </a:hlinkClick>
              </a:rPr>
              <a:t>Prioritized Pipeline Delivered</a:t>
            </a:r>
            <a:endParaRPr kumimoji="0" sz="900" b="0" i="0" u="none" strike="noStrike" kern="1200" cap="none" spc="0" normalizeH="0" baseline="0" noProof="0" dirty="0">
              <a:ln>
                <a:noFill/>
              </a:ln>
              <a:solidFill>
                <a:srgbClr val="0070C0"/>
              </a:solidFill>
              <a:effectLst/>
              <a:uLnTx/>
              <a:uFillTx/>
              <a:latin typeface="+mj-lt"/>
              <a:ea typeface="Red Hat Display"/>
              <a:cs typeface="Red Hat Display"/>
              <a:sym typeface="Red Hat Display"/>
            </a:endParaRPr>
          </a:p>
        </p:txBody>
      </p:sp>
      <p:cxnSp>
        <p:nvCxnSpPr>
          <p:cNvPr id="92" name="Google Shape;1621;p96">
            <a:extLst>
              <a:ext uri="{FF2B5EF4-FFF2-40B4-BE49-F238E27FC236}">
                <a16:creationId xmlns:a16="http://schemas.microsoft.com/office/drawing/2014/main" id="{56ED19E2-9512-CFF7-1074-FB2325A81AAD}"/>
              </a:ext>
            </a:extLst>
          </p:cNvPr>
          <p:cNvCxnSpPr>
            <a:cxnSpLocks/>
            <a:stCxn id="99" idx="3"/>
            <a:endCxn id="91" idx="1"/>
          </p:cNvCxnSpPr>
          <p:nvPr/>
        </p:nvCxnSpPr>
        <p:spPr>
          <a:xfrm>
            <a:off x="9876253" y="1358608"/>
            <a:ext cx="198490" cy="4415"/>
          </a:xfrm>
          <a:prstGeom prst="straightConnector1">
            <a:avLst/>
          </a:prstGeom>
          <a:noFill/>
          <a:ln w="28575" cap="flat" cmpd="sng">
            <a:solidFill>
              <a:srgbClr val="FFFFFF"/>
            </a:solidFill>
            <a:prstDash val="solid"/>
            <a:round/>
            <a:headEnd type="none" w="sm" len="sm"/>
            <a:tailEnd type="triangle" w="med" len="med"/>
          </a:ln>
        </p:spPr>
      </p:cxnSp>
      <p:sp>
        <p:nvSpPr>
          <p:cNvPr id="93" name="Google Shape;1622;p96">
            <a:extLst>
              <a:ext uri="{FF2B5EF4-FFF2-40B4-BE49-F238E27FC236}">
                <a16:creationId xmlns:a16="http://schemas.microsoft.com/office/drawing/2014/main" id="{E2C603B4-AD98-287C-440B-779F39B9E1A9}"/>
              </a:ext>
            </a:extLst>
          </p:cNvPr>
          <p:cNvSpPr/>
          <p:nvPr/>
        </p:nvSpPr>
        <p:spPr>
          <a:xfrm>
            <a:off x="11355950" y="1196055"/>
            <a:ext cx="753004" cy="333926"/>
          </a:xfrm>
          <a:prstGeom prst="flowChartPredefinedProcess">
            <a:avLst/>
          </a:prstGeom>
          <a:solidFill>
            <a:schemeClr val="accent2">
              <a:lumMod val="40000"/>
              <a:lumOff val="60000"/>
            </a:schemeClr>
          </a:solidFill>
          <a:ln w="3175" cap="flat" cmpd="sng">
            <a:solidFill>
              <a:schemeClr val="tx2"/>
            </a:solidFill>
            <a:prstDash val="solid"/>
            <a:round/>
            <a:headEnd type="none" w="sm" len="sm"/>
            <a:tailEnd type="none" w="sm" len="sm"/>
          </a:ln>
        </p:spPr>
        <p:txBody>
          <a:bodyPr spcFirstLastPara="1" wrap="square" lIns="0" tIns="77300" rIns="0" bIns="773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dirty="0">
                <a:ln>
                  <a:noFill/>
                </a:ln>
                <a:effectLst/>
                <a:uLnTx/>
                <a:uFillTx/>
                <a:latin typeface="+mj-lt"/>
                <a:ea typeface="Red Hat Display"/>
                <a:cs typeface="Red Hat Display"/>
                <a:sym typeface="Red Hat Display"/>
              </a:rPr>
              <a:t>Pipeline Approved</a:t>
            </a:r>
            <a:endParaRPr kumimoji="0" sz="900" b="0" i="0" u="none" strike="noStrike" kern="1200" cap="none" spc="0" normalizeH="0" baseline="0" noProof="0" dirty="0">
              <a:ln>
                <a:noFill/>
              </a:ln>
              <a:effectLst/>
              <a:uLnTx/>
              <a:uFillTx/>
              <a:latin typeface="+mj-lt"/>
              <a:ea typeface="Red Hat Display"/>
              <a:cs typeface="Red Hat Display"/>
              <a:sym typeface="Red Hat Display"/>
            </a:endParaRPr>
          </a:p>
        </p:txBody>
      </p:sp>
      <p:cxnSp>
        <p:nvCxnSpPr>
          <p:cNvPr id="94" name="Google Shape;1621;p96">
            <a:extLst>
              <a:ext uri="{FF2B5EF4-FFF2-40B4-BE49-F238E27FC236}">
                <a16:creationId xmlns:a16="http://schemas.microsoft.com/office/drawing/2014/main" id="{02F2655A-639A-EDD8-CD0B-4B951F37557C}"/>
              </a:ext>
            </a:extLst>
          </p:cNvPr>
          <p:cNvCxnSpPr>
            <a:cxnSpLocks/>
            <a:stCxn id="91" idx="3"/>
            <a:endCxn id="93" idx="1"/>
          </p:cNvCxnSpPr>
          <p:nvPr/>
        </p:nvCxnSpPr>
        <p:spPr>
          <a:xfrm flipV="1">
            <a:off x="11172891" y="1363018"/>
            <a:ext cx="183059" cy="5"/>
          </a:xfrm>
          <a:prstGeom prst="straightConnector1">
            <a:avLst/>
          </a:prstGeom>
          <a:noFill/>
          <a:ln w="28575" cap="flat" cmpd="sng">
            <a:solidFill>
              <a:srgbClr val="FFFFFF"/>
            </a:solidFill>
            <a:prstDash val="solid"/>
            <a:round/>
            <a:headEnd type="none" w="sm" len="sm"/>
            <a:tailEnd type="triangle" w="med" len="med"/>
          </a:ln>
        </p:spPr>
      </p:cxnSp>
      <p:sp>
        <p:nvSpPr>
          <p:cNvPr id="107" name="Google Shape;1607;p96">
            <a:extLst>
              <a:ext uri="{FF2B5EF4-FFF2-40B4-BE49-F238E27FC236}">
                <a16:creationId xmlns:a16="http://schemas.microsoft.com/office/drawing/2014/main" id="{059FCFDC-8A33-74E4-8035-8273AEFE08E0}"/>
              </a:ext>
            </a:extLst>
          </p:cNvPr>
          <p:cNvSpPr/>
          <p:nvPr/>
        </p:nvSpPr>
        <p:spPr>
          <a:xfrm>
            <a:off x="839734" y="5219644"/>
            <a:ext cx="10468044" cy="548640"/>
          </a:xfrm>
          <a:prstGeom prst="roundRect">
            <a:avLst>
              <a:gd name="adj" fmla="val 16667"/>
            </a:avLst>
          </a:prstGeom>
          <a:solidFill>
            <a:schemeClr val="accent1"/>
          </a:solidFill>
          <a:ln>
            <a:noFill/>
          </a:ln>
        </p:spPr>
        <p:txBody>
          <a:bodyPr spcFirstLastPara="1" wrap="square" lIns="77300" tIns="77300" rIns="77300" bIns="773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sng" strike="noStrike" kern="1200" cap="none" spc="0" normalizeH="0" baseline="0" noProof="0">
              <a:ln>
                <a:noFill/>
              </a:ln>
              <a:solidFill>
                <a:srgbClr val="002477"/>
              </a:solidFill>
              <a:effectLst/>
              <a:uLnTx/>
              <a:uFillTx/>
              <a:latin typeface="+mj-lt"/>
              <a:ea typeface="Arial"/>
              <a:cs typeface="Arial"/>
              <a:sym typeface="Arial"/>
            </a:endParaRPr>
          </a:p>
        </p:txBody>
      </p:sp>
      <p:sp>
        <p:nvSpPr>
          <p:cNvPr id="108" name="Google Shape;1645;p96">
            <a:extLst>
              <a:ext uri="{FF2B5EF4-FFF2-40B4-BE49-F238E27FC236}">
                <a16:creationId xmlns:a16="http://schemas.microsoft.com/office/drawing/2014/main" id="{992ABA5A-22CA-9C26-7800-807A5928967B}"/>
              </a:ext>
            </a:extLst>
          </p:cNvPr>
          <p:cNvSpPr txBox="1"/>
          <p:nvPr/>
        </p:nvSpPr>
        <p:spPr>
          <a:xfrm>
            <a:off x="884854" y="5307442"/>
            <a:ext cx="1903774" cy="309638"/>
          </a:xfrm>
          <a:prstGeom prst="rect">
            <a:avLst/>
          </a:prstGeom>
          <a:noFill/>
          <a:ln>
            <a:noFill/>
          </a:ln>
        </p:spPr>
        <p:txBody>
          <a:bodyPr spcFirstLastPara="1" wrap="square" lIns="77300" tIns="77300" rIns="77300" bIns="773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 sz="1200" b="0" i="0" strike="noStrike" kern="1200" cap="none" spc="0" normalizeH="0" baseline="0" noProof="0" dirty="0">
                <a:ln>
                  <a:noFill/>
                </a:ln>
                <a:solidFill>
                  <a:schemeClr val="bg1"/>
                </a:solidFill>
                <a:effectLst/>
                <a:uLnTx/>
                <a:uFillTx/>
                <a:latin typeface="+mj-lt"/>
                <a:ea typeface="Red Hat Display"/>
                <a:cs typeface="Red Hat Display"/>
                <a:sym typeface="Red Hat Display"/>
              </a:rPr>
              <a:t>Prod Coordination</a:t>
            </a:r>
            <a:endParaRPr kumimoji="0" sz="1200" b="0" i="0" strike="noStrike" kern="1200" cap="none" spc="0" normalizeH="0" baseline="0" noProof="0" dirty="0">
              <a:ln>
                <a:noFill/>
              </a:ln>
              <a:solidFill>
                <a:schemeClr val="bg1"/>
              </a:solidFill>
              <a:effectLst/>
              <a:uLnTx/>
              <a:uFillTx/>
              <a:latin typeface="+mj-lt"/>
              <a:ea typeface="Red Hat Display"/>
              <a:cs typeface="Red Hat Display"/>
              <a:sym typeface="Red Hat Display"/>
            </a:endParaRPr>
          </a:p>
        </p:txBody>
      </p:sp>
      <p:sp>
        <p:nvSpPr>
          <p:cNvPr id="109" name="Google Shape;1662;p96">
            <a:extLst>
              <a:ext uri="{FF2B5EF4-FFF2-40B4-BE49-F238E27FC236}">
                <a16:creationId xmlns:a16="http://schemas.microsoft.com/office/drawing/2014/main" id="{68B231C8-76A6-5B8F-FAE9-9090B965874A}"/>
              </a:ext>
            </a:extLst>
          </p:cNvPr>
          <p:cNvSpPr/>
          <p:nvPr/>
        </p:nvSpPr>
        <p:spPr>
          <a:xfrm>
            <a:off x="4820357" y="5314589"/>
            <a:ext cx="1338028" cy="338328"/>
          </a:xfrm>
          <a:prstGeom prst="flowChartDocument">
            <a:avLst/>
          </a:prstGeom>
          <a:solidFill>
            <a:schemeClr val="bg1"/>
          </a:solidFill>
          <a:ln w="9525" cap="flat" cmpd="sng">
            <a:solidFill>
              <a:schemeClr val="tx1"/>
            </a:solidFill>
            <a:prstDash val="solid"/>
            <a:round/>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lang="en-US" sz="900" dirty="0">
                <a:solidFill>
                  <a:srgbClr val="0070C0"/>
                </a:solidFill>
                <a:latin typeface="+mj-lt"/>
                <a:ea typeface="Red Hat Display"/>
                <a:cs typeface="Red Hat Display"/>
                <a:sym typeface="Red Hat Display"/>
                <a:hlinkClick r:id="rId8">
                  <a:extLst>
                    <a:ext uri="{A12FA001-AC4F-418D-AE19-62706E023703}">
                      <ahyp:hlinkClr xmlns:ahyp="http://schemas.microsoft.com/office/drawing/2018/hyperlinkcolor" val="tx"/>
                    </a:ext>
                  </a:extLst>
                </a:hlinkClick>
              </a:rPr>
              <a:t>If yes, develop </a:t>
            </a:r>
            <a:br>
              <a:rPr lang="en-US" sz="900" dirty="0">
                <a:solidFill>
                  <a:srgbClr val="0070C0"/>
                </a:solidFill>
                <a:latin typeface="+mj-lt"/>
                <a:ea typeface="Red Hat Display"/>
                <a:cs typeface="Red Hat Display"/>
                <a:sym typeface="Red Hat Display"/>
                <a:hlinkClick r:id="rId8">
                  <a:extLst>
                    <a:ext uri="{A12FA001-AC4F-418D-AE19-62706E023703}">
                      <ahyp:hlinkClr xmlns:ahyp="http://schemas.microsoft.com/office/drawing/2018/hyperlinkcolor" val="tx"/>
                    </a:ext>
                  </a:extLst>
                </a:hlinkClick>
              </a:rPr>
            </a:br>
            <a:r>
              <a:rPr lang="en-US" sz="900" dirty="0">
                <a:solidFill>
                  <a:srgbClr val="0070C0"/>
                </a:solidFill>
                <a:latin typeface="+mj-lt"/>
                <a:ea typeface="Red Hat Display"/>
                <a:cs typeface="Red Hat Display"/>
                <a:sym typeface="Red Hat Display"/>
                <a:hlinkClick r:id="rId8">
                  <a:extLst>
                    <a:ext uri="{A12FA001-AC4F-418D-AE19-62706E023703}">
                      <ahyp:hlinkClr xmlns:ahyp="http://schemas.microsoft.com/office/drawing/2018/hyperlinkcolor" val="tx"/>
                    </a:ext>
                  </a:extLst>
                </a:hlinkClick>
              </a:rPr>
              <a:t>prod transfer request </a:t>
            </a:r>
            <a:endParaRPr kumimoji="0" sz="900" b="0" i="0" u="none" strike="noStrike" kern="1200" cap="none" spc="0" normalizeH="0" baseline="0" noProof="0" dirty="0">
              <a:ln>
                <a:noFill/>
              </a:ln>
              <a:solidFill>
                <a:srgbClr val="0070C0"/>
              </a:solidFill>
              <a:effectLst/>
              <a:uLnTx/>
              <a:uFillTx/>
              <a:latin typeface="+mj-lt"/>
              <a:ea typeface="Red Hat Display"/>
              <a:cs typeface="Red Hat Display"/>
              <a:sym typeface="Red Hat Display"/>
            </a:endParaRPr>
          </a:p>
        </p:txBody>
      </p:sp>
      <p:sp>
        <p:nvSpPr>
          <p:cNvPr id="110" name="Google Shape;1658;p96">
            <a:extLst>
              <a:ext uri="{FF2B5EF4-FFF2-40B4-BE49-F238E27FC236}">
                <a16:creationId xmlns:a16="http://schemas.microsoft.com/office/drawing/2014/main" id="{069C72EA-5D89-5201-4602-30C51794187C}"/>
              </a:ext>
            </a:extLst>
          </p:cNvPr>
          <p:cNvSpPr/>
          <p:nvPr/>
        </p:nvSpPr>
        <p:spPr>
          <a:xfrm>
            <a:off x="2606560" y="5314594"/>
            <a:ext cx="1930462" cy="338328"/>
          </a:xfrm>
          <a:prstGeom prst="flowChartPredefinedProcess">
            <a:avLst/>
          </a:prstGeom>
          <a:solidFill>
            <a:schemeClr val="bg1"/>
          </a:solidFill>
          <a:ln w="9525" cap="flat" cmpd="sng">
            <a:solidFill>
              <a:schemeClr val="tx1"/>
            </a:solidFill>
            <a:prstDash val="solid"/>
            <a:round/>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dirty="0">
                <a:ln>
                  <a:noFill/>
                </a:ln>
                <a:effectLst/>
                <a:uLnTx/>
                <a:uFillTx/>
                <a:latin typeface="+mj-lt"/>
                <a:ea typeface="Red Hat Display"/>
                <a:cs typeface="Red Hat Display"/>
                <a:sym typeface="Red Hat Display"/>
              </a:rPr>
              <a:t>Determine if winning element qualifies for AEM</a:t>
            </a:r>
            <a:endParaRPr kumimoji="0" sz="900" b="0" i="0" u="none" strike="noStrike" kern="1200" cap="none" spc="0" normalizeH="0" baseline="0" noProof="0" dirty="0">
              <a:ln>
                <a:noFill/>
              </a:ln>
              <a:effectLst/>
              <a:uLnTx/>
              <a:uFillTx/>
              <a:latin typeface="+mj-lt"/>
              <a:ea typeface="Red Hat Display"/>
              <a:cs typeface="Red Hat Display"/>
              <a:sym typeface="Red Hat Display"/>
            </a:endParaRPr>
          </a:p>
        </p:txBody>
      </p:sp>
      <p:sp>
        <p:nvSpPr>
          <p:cNvPr id="111" name="Google Shape;1640;p96">
            <a:extLst>
              <a:ext uri="{FF2B5EF4-FFF2-40B4-BE49-F238E27FC236}">
                <a16:creationId xmlns:a16="http://schemas.microsoft.com/office/drawing/2014/main" id="{6AAA00E4-21CB-B5EA-0450-0F864AA8BF17}"/>
              </a:ext>
            </a:extLst>
          </p:cNvPr>
          <p:cNvSpPr/>
          <p:nvPr/>
        </p:nvSpPr>
        <p:spPr>
          <a:xfrm>
            <a:off x="8003822" y="5314598"/>
            <a:ext cx="1415203" cy="338328"/>
          </a:xfrm>
          <a:prstGeom prst="flowChartProcess">
            <a:avLst/>
          </a:prstGeom>
          <a:solidFill>
            <a:schemeClr val="accent2">
              <a:lumMod val="40000"/>
              <a:lumOff val="60000"/>
            </a:schemeClr>
          </a:solidFill>
          <a:ln w="9525" cap="flat" cmpd="sng">
            <a:solidFill>
              <a:schemeClr val="tx1"/>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500"/>
              <a:buFont typeface="Arial"/>
              <a:buNone/>
            </a:pPr>
            <a:r>
              <a:rPr lang="en" sz="900" b="0" i="0" u="none" strike="noStrike" cap="none" dirty="0">
                <a:latin typeface="+mj-lt"/>
                <a:ea typeface="Red Hat Display"/>
                <a:cs typeface="Red Hat Display"/>
                <a:sym typeface="Red Hat Display"/>
              </a:rPr>
              <a:t>Prod team alerts w</a:t>
            </a:r>
            <a:r>
              <a:rPr lang="en-US" sz="900" b="0" i="0" u="none" strike="noStrike" cap="none" dirty="0">
                <a:latin typeface="+mj-lt"/>
                <a:ea typeface="Red Hat Display"/>
                <a:cs typeface="Red Hat Display"/>
                <a:sym typeface="Red Hat Display"/>
              </a:rPr>
              <a:t>he</a:t>
            </a:r>
            <a:r>
              <a:rPr lang="en" sz="900" dirty="0">
                <a:latin typeface="+mj-lt"/>
                <a:ea typeface="Red Hat Display"/>
                <a:cs typeface="Red Hat Display"/>
                <a:sym typeface="Red Hat Display"/>
              </a:rPr>
              <a:t>n request work ends</a:t>
            </a:r>
            <a:endParaRPr sz="900" b="0" i="0" u="none" strike="noStrike" cap="none" dirty="0">
              <a:latin typeface="+mj-lt"/>
              <a:ea typeface="Red Hat Display"/>
              <a:cs typeface="Red Hat Display"/>
              <a:sym typeface="Red Hat Display"/>
            </a:endParaRPr>
          </a:p>
        </p:txBody>
      </p:sp>
      <p:cxnSp>
        <p:nvCxnSpPr>
          <p:cNvPr id="112" name="Google Shape;1657;p96">
            <a:extLst>
              <a:ext uri="{FF2B5EF4-FFF2-40B4-BE49-F238E27FC236}">
                <a16:creationId xmlns:a16="http://schemas.microsoft.com/office/drawing/2014/main" id="{F134260C-4B25-8505-5DF0-C99B01C05B52}"/>
              </a:ext>
            </a:extLst>
          </p:cNvPr>
          <p:cNvCxnSpPr>
            <a:cxnSpLocks/>
            <a:stCxn id="110" idx="3"/>
            <a:endCxn id="109" idx="1"/>
          </p:cNvCxnSpPr>
          <p:nvPr/>
        </p:nvCxnSpPr>
        <p:spPr>
          <a:xfrm flipV="1">
            <a:off x="4537022" y="5483753"/>
            <a:ext cx="283335" cy="5"/>
          </a:xfrm>
          <a:prstGeom prst="straightConnector1">
            <a:avLst/>
          </a:prstGeom>
          <a:solidFill>
            <a:schemeClr val="tx1"/>
          </a:solidFill>
          <a:ln w="28575" cap="flat" cmpd="sng">
            <a:solidFill>
              <a:srgbClr val="FFFFFF"/>
            </a:solidFill>
            <a:prstDash val="solid"/>
            <a:round/>
            <a:headEnd type="none" w="sm" len="sm"/>
            <a:tailEnd type="triangle" w="med" len="med"/>
          </a:ln>
        </p:spPr>
      </p:cxnSp>
      <p:sp>
        <p:nvSpPr>
          <p:cNvPr id="113" name="Google Shape;1640;p96">
            <a:extLst>
              <a:ext uri="{FF2B5EF4-FFF2-40B4-BE49-F238E27FC236}">
                <a16:creationId xmlns:a16="http://schemas.microsoft.com/office/drawing/2014/main" id="{E57C8F60-444E-D6AA-163C-BC52D260E069}"/>
              </a:ext>
            </a:extLst>
          </p:cNvPr>
          <p:cNvSpPr/>
          <p:nvPr/>
        </p:nvSpPr>
        <p:spPr>
          <a:xfrm>
            <a:off x="9745249" y="5314598"/>
            <a:ext cx="1377097" cy="338328"/>
          </a:xfrm>
          <a:prstGeom prst="flowChartProcess">
            <a:avLst/>
          </a:prstGeom>
          <a:solidFill>
            <a:schemeClr val="bg1"/>
          </a:solidFill>
          <a:ln w="9525" cap="flat" cmpd="sng">
            <a:solidFill>
              <a:schemeClr val="tx1"/>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500"/>
              <a:buFont typeface="Arial"/>
              <a:buNone/>
            </a:pPr>
            <a:r>
              <a:rPr lang="en-US" sz="900" b="0" i="0" u="none" strike="noStrike" cap="none">
                <a:latin typeface="+mj-lt"/>
                <a:ea typeface="Red Hat Display"/>
                <a:cs typeface="Red Hat Display"/>
                <a:sym typeface="Red Hat Display"/>
              </a:rPr>
              <a:t>CRO coordinates Target experience shut off</a:t>
            </a:r>
            <a:endParaRPr sz="900" b="0" i="0" u="none" strike="noStrike" cap="none">
              <a:latin typeface="+mj-lt"/>
              <a:ea typeface="Red Hat Display"/>
              <a:cs typeface="Red Hat Display"/>
              <a:sym typeface="Red Hat Display"/>
            </a:endParaRPr>
          </a:p>
        </p:txBody>
      </p:sp>
      <p:cxnSp>
        <p:nvCxnSpPr>
          <p:cNvPr id="114" name="Google Shape;1657;p96">
            <a:extLst>
              <a:ext uri="{FF2B5EF4-FFF2-40B4-BE49-F238E27FC236}">
                <a16:creationId xmlns:a16="http://schemas.microsoft.com/office/drawing/2014/main" id="{2DEAEB82-357E-E617-EA56-365D98B6D720}"/>
              </a:ext>
            </a:extLst>
          </p:cNvPr>
          <p:cNvCxnSpPr>
            <a:cxnSpLocks/>
            <a:stCxn id="109" idx="3"/>
            <a:endCxn id="105" idx="1"/>
          </p:cNvCxnSpPr>
          <p:nvPr/>
        </p:nvCxnSpPr>
        <p:spPr>
          <a:xfrm flipV="1">
            <a:off x="6158385" y="5480299"/>
            <a:ext cx="317313" cy="3454"/>
          </a:xfrm>
          <a:prstGeom prst="straightConnector1">
            <a:avLst/>
          </a:prstGeom>
          <a:solidFill>
            <a:schemeClr val="tx1"/>
          </a:solidFill>
          <a:ln w="28575" cap="flat" cmpd="sng">
            <a:solidFill>
              <a:srgbClr val="FFFFFF"/>
            </a:solidFill>
            <a:prstDash val="solid"/>
            <a:round/>
            <a:headEnd type="none" w="sm" len="sm"/>
            <a:tailEnd type="triangle" w="med" len="med"/>
          </a:ln>
        </p:spPr>
      </p:cxnSp>
      <p:cxnSp>
        <p:nvCxnSpPr>
          <p:cNvPr id="115" name="Google Shape;1657;p96">
            <a:extLst>
              <a:ext uri="{FF2B5EF4-FFF2-40B4-BE49-F238E27FC236}">
                <a16:creationId xmlns:a16="http://schemas.microsoft.com/office/drawing/2014/main" id="{0A35E5E4-B3F1-BE1B-984B-E6EA88A1D4AF}"/>
              </a:ext>
            </a:extLst>
          </p:cNvPr>
          <p:cNvCxnSpPr>
            <a:cxnSpLocks/>
            <a:stCxn id="111" idx="3"/>
            <a:endCxn id="113" idx="1"/>
          </p:cNvCxnSpPr>
          <p:nvPr/>
        </p:nvCxnSpPr>
        <p:spPr>
          <a:xfrm>
            <a:off x="9419025" y="5483762"/>
            <a:ext cx="326224" cy="0"/>
          </a:xfrm>
          <a:prstGeom prst="straightConnector1">
            <a:avLst/>
          </a:prstGeom>
          <a:solidFill>
            <a:schemeClr val="tx1"/>
          </a:solidFill>
          <a:ln w="28575" cap="flat" cmpd="sng">
            <a:solidFill>
              <a:srgbClr val="FFFFFF"/>
            </a:solidFill>
            <a:prstDash val="solid"/>
            <a:round/>
            <a:headEnd type="none" w="sm" len="sm"/>
            <a:tailEnd type="triangle" w="med" len="med"/>
          </a:ln>
        </p:spPr>
      </p:cxnSp>
      <p:sp>
        <p:nvSpPr>
          <p:cNvPr id="105" name="Google Shape;1640;p96">
            <a:extLst>
              <a:ext uri="{FF2B5EF4-FFF2-40B4-BE49-F238E27FC236}">
                <a16:creationId xmlns:a16="http://schemas.microsoft.com/office/drawing/2014/main" id="{4B132EA4-E500-7EB0-8061-4A4B8E994869}"/>
              </a:ext>
            </a:extLst>
          </p:cNvPr>
          <p:cNvSpPr/>
          <p:nvPr/>
        </p:nvSpPr>
        <p:spPr>
          <a:xfrm>
            <a:off x="6475698" y="5311135"/>
            <a:ext cx="1252942" cy="338328"/>
          </a:xfrm>
          <a:prstGeom prst="flowChartProcess">
            <a:avLst/>
          </a:prstGeom>
          <a:solidFill>
            <a:schemeClr val="accent2">
              <a:lumMod val="40000"/>
              <a:lumOff val="60000"/>
            </a:schemeClr>
          </a:solidFill>
          <a:ln w="9525" cap="flat" cmpd="sng">
            <a:solidFill>
              <a:schemeClr val="tx1"/>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500"/>
              <a:buFont typeface="Arial"/>
              <a:buNone/>
            </a:pPr>
            <a:r>
              <a:rPr lang="en-US" sz="900" b="0" i="0" u="none" strike="noStrike" cap="none" dirty="0">
                <a:latin typeface="+mj-lt"/>
                <a:ea typeface="Red Hat Display"/>
                <a:cs typeface="Red Hat Display"/>
                <a:sym typeface="Red Hat Display"/>
              </a:rPr>
              <a:t>Submit transfer Request</a:t>
            </a:r>
            <a:endParaRPr sz="900" b="0" i="0" u="none" strike="noStrike" cap="none" dirty="0">
              <a:latin typeface="+mj-lt"/>
              <a:ea typeface="Red Hat Display"/>
              <a:cs typeface="Red Hat Display"/>
              <a:sym typeface="Red Hat Display"/>
            </a:endParaRPr>
          </a:p>
        </p:txBody>
      </p:sp>
      <p:cxnSp>
        <p:nvCxnSpPr>
          <p:cNvPr id="106" name="Google Shape;1657;p96">
            <a:extLst>
              <a:ext uri="{FF2B5EF4-FFF2-40B4-BE49-F238E27FC236}">
                <a16:creationId xmlns:a16="http://schemas.microsoft.com/office/drawing/2014/main" id="{A583BF81-504B-C097-E636-E682BD8D2ACC}"/>
              </a:ext>
            </a:extLst>
          </p:cNvPr>
          <p:cNvCxnSpPr>
            <a:cxnSpLocks/>
            <a:stCxn id="105" idx="3"/>
            <a:endCxn id="111" idx="1"/>
          </p:cNvCxnSpPr>
          <p:nvPr/>
        </p:nvCxnSpPr>
        <p:spPr>
          <a:xfrm>
            <a:off x="7728640" y="5480299"/>
            <a:ext cx="275182" cy="3463"/>
          </a:xfrm>
          <a:prstGeom prst="straightConnector1">
            <a:avLst/>
          </a:prstGeom>
          <a:solidFill>
            <a:schemeClr val="tx1"/>
          </a:solidFill>
          <a:ln w="28575" cap="flat" cmpd="sng">
            <a:solidFill>
              <a:srgbClr val="FFFFFF"/>
            </a:solidFill>
            <a:prstDash val="solid"/>
            <a:round/>
            <a:headEnd type="none" w="sm" len="sm"/>
            <a:tailEnd type="triangle" w="med" len="med"/>
          </a:ln>
        </p:spPr>
      </p:cxnSp>
      <p:sp>
        <p:nvSpPr>
          <p:cNvPr id="116" name="Google Shape;1646;p96">
            <a:extLst>
              <a:ext uri="{FF2B5EF4-FFF2-40B4-BE49-F238E27FC236}">
                <a16:creationId xmlns:a16="http://schemas.microsoft.com/office/drawing/2014/main" id="{A1810152-F9D3-719A-857E-B1A563D720D6}"/>
              </a:ext>
            </a:extLst>
          </p:cNvPr>
          <p:cNvSpPr/>
          <p:nvPr/>
        </p:nvSpPr>
        <p:spPr>
          <a:xfrm>
            <a:off x="7742679" y="6403511"/>
            <a:ext cx="887700" cy="250800"/>
          </a:xfrm>
          <a:prstGeom prst="rect">
            <a:avLst/>
          </a:prstGeom>
          <a:solidFill>
            <a:schemeClr val="accent5">
              <a:lumMod val="40000"/>
              <a:lumOff val="60000"/>
            </a:schemeClr>
          </a:solidFill>
          <a:ln w="3175" cap="flat" cmpd="sng">
            <a:solidFill>
              <a:schemeClr val="tx2"/>
            </a:solidFill>
            <a:prstDash val="solid"/>
            <a:round/>
            <a:headEnd type="none" w="sm" len="sm"/>
            <a:tailEnd type="none" w="sm" len="sm"/>
          </a:ln>
        </p:spPr>
        <p:txBody>
          <a:bodyPr spcFirstLastPara="1" wrap="square" lIns="77300" tIns="77300" rIns="77300" bIns="773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Tx/>
              <a:buNone/>
              <a:tabLst/>
              <a:defRPr/>
            </a:pPr>
            <a:r>
              <a:rPr kumimoji="0" lang="en" sz="700" b="1" i="0" u="none" strike="noStrike" kern="1200" cap="none" spc="0" normalizeH="0" baseline="0" noProof="0" dirty="0">
                <a:ln>
                  <a:noFill/>
                </a:ln>
                <a:effectLst/>
                <a:uLnTx/>
                <a:uFillTx/>
                <a:latin typeface="+mj-lt"/>
                <a:ea typeface="Red Hat Display"/>
                <a:cs typeface="Poppins"/>
                <a:sym typeface="Red Hat Display"/>
              </a:rPr>
              <a:t>HC CX</a:t>
            </a:r>
            <a:endParaRPr kumimoji="0" sz="700" b="1" i="0" u="none" strike="noStrike" kern="1200" cap="none" spc="0" normalizeH="0" baseline="0" noProof="0" dirty="0">
              <a:ln>
                <a:noFill/>
              </a:ln>
              <a:effectLst/>
              <a:uLnTx/>
              <a:uFillTx/>
              <a:latin typeface="+mj-lt"/>
              <a:ea typeface="Red Hat Display"/>
              <a:cs typeface="Poppins"/>
              <a:sym typeface="Red Hat Display"/>
            </a:endParaRPr>
          </a:p>
        </p:txBody>
      </p:sp>
      <p:sp>
        <p:nvSpPr>
          <p:cNvPr id="117" name="Google Shape;1646;p96">
            <a:extLst>
              <a:ext uri="{FF2B5EF4-FFF2-40B4-BE49-F238E27FC236}">
                <a16:creationId xmlns:a16="http://schemas.microsoft.com/office/drawing/2014/main" id="{02B27E83-9836-DDCC-D08C-EF6B4CDC8FFB}"/>
              </a:ext>
            </a:extLst>
          </p:cNvPr>
          <p:cNvSpPr/>
          <p:nvPr/>
        </p:nvSpPr>
        <p:spPr>
          <a:xfrm>
            <a:off x="8809479" y="6403511"/>
            <a:ext cx="887700" cy="250800"/>
          </a:xfrm>
          <a:prstGeom prst="rect">
            <a:avLst/>
          </a:prstGeom>
          <a:solidFill>
            <a:schemeClr val="accent6">
              <a:lumMod val="50000"/>
              <a:lumOff val="50000"/>
            </a:schemeClr>
          </a:solidFill>
          <a:ln w="3175" cap="flat" cmpd="sng">
            <a:solidFill>
              <a:schemeClr val="tx2"/>
            </a:solidFill>
            <a:prstDash val="solid"/>
            <a:round/>
            <a:headEnd type="none" w="sm" len="sm"/>
            <a:tailEnd type="none" w="sm" len="sm"/>
          </a:ln>
        </p:spPr>
        <p:txBody>
          <a:bodyPr spcFirstLastPara="1" wrap="square" lIns="77300" tIns="77300" rIns="77300" bIns="773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Tx/>
              <a:buNone/>
              <a:tabLst/>
              <a:defRPr/>
            </a:pPr>
            <a:r>
              <a:rPr kumimoji="0" lang="en" sz="700" b="1" i="0" u="none" strike="noStrike" kern="1200" cap="none" spc="0" normalizeH="0" baseline="0" noProof="0" dirty="0">
                <a:ln>
                  <a:noFill/>
                </a:ln>
                <a:solidFill>
                  <a:schemeClr val="bg1"/>
                </a:solidFill>
                <a:effectLst/>
                <a:uLnTx/>
                <a:uFillTx/>
                <a:latin typeface="+mj-lt"/>
                <a:ea typeface="Red Hat Display"/>
                <a:cs typeface="Poppins"/>
                <a:sym typeface="Red Hat Display"/>
              </a:rPr>
              <a:t>HC Analytics</a:t>
            </a:r>
            <a:endParaRPr kumimoji="0" sz="700" b="1" i="0" u="none" strike="noStrike" kern="1200" cap="none" spc="0" normalizeH="0" baseline="0" noProof="0" dirty="0">
              <a:ln>
                <a:noFill/>
              </a:ln>
              <a:solidFill>
                <a:schemeClr val="bg1"/>
              </a:solidFill>
              <a:effectLst/>
              <a:uLnTx/>
              <a:uFillTx/>
              <a:latin typeface="+mj-lt"/>
              <a:ea typeface="Red Hat Display"/>
              <a:cs typeface="Poppins"/>
              <a:sym typeface="Red Hat Display"/>
            </a:endParaRPr>
          </a:p>
        </p:txBody>
      </p:sp>
      <p:sp>
        <p:nvSpPr>
          <p:cNvPr id="118" name="Google Shape;1619;p96">
            <a:extLst>
              <a:ext uri="{FF2B5EF4-FFF2-40B4-BE49-F238E27FC236}">
                <a16:creationId xmlns:a16="http://schemas.microsoft.com/office/drawing/2014/main" id="{AE2D19E3-6B8B-5B41-BCE1-652CB5EE5AB1}"/>
              </a:ext>
            </a:extLst>
          </p:cNvPr>
          <p:cNvSpPr/>
          <p:nvPr/>
        </p:nvSpPr>
        <p:spPr>
          <a:xfrm>
            <a:off x="2101005" y="1193129"/>
            <a:ext cx="912206" cy="334200"/>
          </a:xfrm>
          <a:prstGeom prst="rect">
            <a:avLst/>
          </a:prstGeom>
          <a:solidFill>
            <a:srgbClr val="FFFFFF"/>
          </a:solidFill>
          <a:ln w="9525" cap="flat" cmpd="sng">
            <a:solidFill>
              <a:schemeClr val="tx1"/>
            </a:solidFill>
            <a:prstDash val="solid"/>
            <a:round/>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dirty="0">
                <a:ln>
                  <a:noFill/>
                </a:ln>
                <a:effectLst/>
                <a:uLnTx/>
                <a:uFillTx/>
                <a:latin typeface="+mj-lt"/>
                <a:ea typeface="Red Hat Display"/>
                <a:cs typeface="Red Hat Display"/>
                <a:sym typeface="Red Hat Display"/>
              </a:rPr>
              <a:t>Competitive Research</a:t>
            </a:r>
            <a:endParaRPr kumimoji="0" sz="900" b="0" i="0" u="none" strike="noStrike" kern="1200" cap="none" spc="0" normalizeH="0" baseline="0" noProof="0" dirty="0">
              <a:ln>
                <a:noFill/>
              </a:ln>
              <a:effectLst/>
              <a:uLnTx/>
              <a:uFillTx/>
              <a:latin typeface="+mj-lt"/>
              <a:ea typeface="Red Hat Display"/>
              <a:cs typeface="Red Hat Display"/>
              <a:sym typeface="Red Hat Display"/>
            </a:endParaRPr>
          </a:p>
        </p:txBody>
      </p:sp>
      <p:cxnSp>
        <p:nvCxnSpPr>
          <p:cNvPr id="119" name="Google Shape;1621;p96">
            <a:extLst>
              <a:ext uri="{FF2B5EF4-FFF2-40B4-BE49-F238E27FC236}">
                <a16:creationId xmlns:a16="http://schemas.microsoft.com/office/drawing/2014/main" id="{939A1094-2765-5834-6125-F926D1985727}"/>
              </a:ext>
            </a:extLst>
          </p:cNvPr>
          <p:cNvCxnSpPr>
            <a:cxnSpLocks/>
            <a:stCxn id="118" idx="3"/>
            <a:endCxn id="127" idx="1"/>
          </p:cNvCxnSpPr>
          <p:nvPr/>
        </p:nvCxnSpPr>
        <p:spPr>
          <a:xfrm>
            <a:off x="3013211" y="1360229"/>
            <a:ext cx="226699" cy="3827"/>
          </a:xfrm>
          <a:prstGeom prst="straightConnector1">
            <a:avLst/>
          </a:prstGeom>
          <a:noFill/>
          <a:ln w="28575" cap="flat" cmpd="sng">
            <a:solidFill>
              <a:srgbClr val="FFFFFF"/>
            </a:solidFill>
            <a:prstDash val="solid"/>
            <a:round/>
            <a:headEnd type="none" w="sm" len="sm"/>
            <a:tailEnd type="triangle" w="med" len="med"/>
          </a:ln>
        </p:spPr>
      </p:cxnSp>
      <p:cxnSp>
        <p:nvCxnSpPr>
          <p:cNvPr id="120" name="Google Shape;1621;p96">
            <a:extLst>
              <a:ext uri="{FF2B5EF4-FFF2-40B4-BE49-F238E27FC236}">
                <a16:creationId xmlns:a16="http://schemas.microsoft.com/office/drawing/2014/main" id="{09F02133-5C4F-7290-B874-735DAB506326}"/>
              </a:ext>
            </a:extLst>
          </p:cNvPr>
          <p:cNvCxnSpPr>
            <a:cxnSpLocks/>
            <a:stCxn id="101" idx="3"/>
            <a:endCxn id="98" idx="1"/>
          </p:cNvCxnSpPr>
          <p:nvPr/>
        </p:nvCxnSpPr>
        <p:spPr>
          <a:xfrm>
            <a:off x="7154827" y="1358608"/>
            <a:ext cx="178633" cy="0"/>
          </a:xfrm>
          <a:prstGeom prst="straightConnector1">
            <a:avLst/>
          </a:prstGeom>
          <a:noFill/>
          <a:ln w="28575" cap="flat" cmpd="sng">
            <a:solidFill>
              <a:srgbClr val="FFFFFF"/>
            </a:solidFill>
            <a:prstDash val="solid"/>
            <a:round/>
            <a:headEnd type="none" w="sm" len="sm"/>
            <a:tailEnd type="triangle" w="med" len="med"/>
          </a:ln>
        </p:spPr>
      </p:cxnSp>
      <p:sp>
        <p:nvSpPr>
          <p:cNvPr id="121" name="Google Shape;1615;p96">
            <a:extLst>
              <a:ext uri="{FF2B5EF4-FFF2-40B4-BE49-F238E27FC236}">
                <a16:creationId xmlns:a16="http://schemas.microsoft.com/office/drawing/2014/main" id="{DE7E041B-A4B6-E954-B629-D8EE29EFFEBD}"/>
              </a:ext>
            </a:extLst>
          </p:cNvPr>
          <p:cNvSpPr/>
          <p:nvPr/>
        </p:nvSpPr>
        <p:spPr>
          <a:xfrm>
            <a:off x="6979538" y="2963298"/>
            <a:ext cx="1254292" cy="333909"/>
          </a:xfrm>
          <a:prstGeom prst="flowChartProcess">
            <a:avLst/>
          </a:prstGeom>
          <a:solidFill>
            <a:schemeClr val="bg1"/>
          </a:solidFill>
          <a:ln w="9525" cap="flat" cmpd="sng">
            <a:solidFill>
              <a:schemeClr val="tx1"/>
            </a:solidFill>
            <a:prstDash val="solid"/>
            <a:round/>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Tx/>
              <a:buNone/>
              <a:tabLst/>
              <a:defRPr/>
            </a:pPr>
            <a:r>
              <a:rPr kumimoji="0" lang="en" sz="900" b="0" i="0" u="none" strike="noStrike" kern="1200" cap="none" spc="0" normalizeH="0" baseline="0" noProof="0">
                <a:ln>
                  <a:noFill/>
                </a:ln>
                <a:effectLst/>
                <a:uLnTx/>
                <a:uFillTx/>
                <a:latin typeface="+mj-lt"/>
                <a:ea typeface="+mn-ea"/>
                <a:cs typeface="+mn-cs"/>
                <a:sym typeface="Red Hat Display"/>
              </a:rPr>
              <a:t>Stakeholder Review</a:t>
            </a:r>
            <a:endParaRPr kumimoji="0" sz="900" b="0" i="0" u="none" strike="noStrike" kern="1200" cap="none" spc="0" normalizeH="0" baseline="0" noProof="0">
              <a:ln>
                <a:noFill/>
              </a:ln>
              <a:effectLst/>
              <a:uLnTx/>
              <a:uFillTx/>
              <a:latin typeface="+mj-lt"/>
              <a:ea typeface="+mn-ea"/>
              <a:cs typeface="+mn-cs"/>
              <a:sym typeface="Red Hat Display"/>
            </a:endParaRPr>
          </a:p>
        </p:txBody>
      </p:sp>
      <p:cxnSp>
        <p:nvCxnSpPr>
          <p:cNvPr id="122" name="Google Shape;1636;p96">
            <a:extLst>
              <a:ext uri="{FF2B5EF4-FFF2-40B4-BE49-F238E27FC236}">
                <a16:creationId xmlns:a16="http://schemas.microsoft.com/office/drawing/2014/main" id="{D3914396-B8DD-8EDE-FF39-393B192E2EF1}"/>
              </a:ext>
            </a:extLst>
          </p:cNvPr>
          <p:cNvCxnSpPr>
            <a:cxnSpLocks/>
            <a:stCxn id="121" idx="3"/>
            <a:endCxn id="34" idx="1"/>
          </p:cNvCxnSpPr>
          <p:nvPr/>
        </p:nvCxnSpPr>
        <p:spPr>
          <a:xfrm>
            <a:off x="8233830" y="3130253"/>
            <a:ext cx="266610" cy="1825"/>
          </a:xfrm>
          <a:prstGeom prst="straightConnector1">
            <a:avLst/>
          </a:prstGeom>
          <a:noFill/>
          <a:ln w="28575" cap="flat" cmpd="sng">
            <a:solidFill>
              <a:srgbClr val="FFFFFF"/>
            </a:solidFill>
            <a:prstDash val="solid"/>
            <a:round/>
            <a:headEnd type="none" w="sm" len="sm"/>
            <a:tailEnd type="triangle" w="med" len="med"/>
          </a:ln>
        </p:spPr>
      </p:cxnSp>
      <p:sp>
        <p:nvSpPr>
          <p:cNvPr id="123" name="Google Shape;1605;p96">
            <a:extLst>
              <a:ext uri="{FF2B5EF4-FFF2-40B4-BE49-F238E27FC236}">
                <a16:creationId xmlns:a16="http://schemas.microsoft.com/office/drawing/2014/main" id="{2772044A-6969-348A-5E81-CA849E121DE8}"/>
              </a:ext>
            </a:extLst>
          </p:cNvPr>
          <p:cNvSpPr/>
          <p:nvPr/>
        </p:nvSpPr>
        <p:spPr>
          <a:xfrm>
            <a:off x="3972004" y="1781325"/>
            <a:ext cx="1058100" cy="334200"/>
          </a:xfrm>
          <a:prstGeom prst="rect">
            <a:avLst/>
          </a:prstGeom>
          <a:gradFill>
            <a:gsLst>
              <a:gs pos="0">
                <a:schemeClr val="accent1"/>
              </a:gs>
              <a:gs pos="100000">
                <a:schemeClr val="bg1"/>
              </a:gs>
            </a:gsLst>
            <a:lin ang="0" scaled="1"/>
          </a:gradFill>
          <a:ln w="9525" cap="flat" cmpd="sng">
            <a:solidFill>
              <a:schemeClr val="tx1"/>
            </a:solidFill>
            <a:prstDash val="solid"/>
            <a:round/>
            <a:headEnd type="none" w="sm" len="sm"/>
            <a:tailEnd type="none" w="sm" len="sm"/>
          </a:ln>
        </p:spPr>
        <p:txBody>
          <a:bodyPr spcFirstLastPara="1" wrap="square" lIns="77300" tIns="0" rIns="7730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dirty="0">
                <a:ln>
                  <a:noFill/>
                </a:ln>
                <a:effectLst/>
                <a:uLnTx/>
                <a:uFillTx/>
                <a:latin typeface="+mj-lt"/>
                <a:ea typeface="Red Hat Display"/>
                <a:cs typeface="Red Hat Display"/>
                <a:sym typeface="Red Hat Display"/>
              </a:rPr>
              <a:t>Internal Brief Approval</a:t>
            </a:r>
            <a:endParaRPr kumimoji="0" sz="900" b="0" i="0" u="none" strike="noStrike" kern="1200" cap="none" spc="0" normalizeH="0" baseline="0" noProof="0" dirty="0">
              <a:ln>
                <a:noFill/>
              </a:ln>
              <a:effectLst/>
              <a:uLnTx/>
              <a:uFillTx/>
              <a:latin typeface="+mj-lt"/>
              <a:ea typeface="Red Hat Display"/>
              <a:cs typeface="Red Hat Display"/>
              <a:sym typeface="Red Hat Display"/>
            </a:endParaRPr>
          </a:p>
        </p:txBody>
      </p:sp>
      <p:cxnSp>
        <p:nvCxnSpPr>
          <p:cNvPr id="124" name="Google Shape;1621;p96">
            <a:extLst>
              <a:ext uri="{FF2B5EF4-FFF2-40B4-BE49-F238E27FC236}">
                <a16:creationId xmlns:a16="http://schemas.microsoft.com/office/drawing/2014/main" id="{BA8C2DA1-595A-09D5-6D7E-B14F6F8CC2D0}"/>
              </a:ext>
            </a:extLst>
          </p:cNvPr>
          <p:cNvCxnSpPr>
            <a:cxnSpLocks/>
            <a:stCxn id="45" idx="3"/>
            <a:endCxn id="123" idx="1"/>
          </p:cNvCxnSpPr>
          <p:nvPr/>
        </p:nvCxnSpPr>
        <p:spPr>
          <a:xfrm flipV="1">
            <a:off x="3690620" y="1948425"/>
            <a:ext cx="281384" cy="2748"/>
          </a:xfrm>
          <a:prstGeom prst="straightConnector1">
            <a:avLst/>
          </a:prstGeom>
          <a:noFill/>
          <a:ln w="28575" cap="flat" cmpd="sng">
            <a:solidFill>
              <a:srgbClr val="FFFFFF"/>
            </a:solidFill>
            <a:prstDash val="solid"/>
            <a:round/>
            <a:headEnd type="none" w="sm" len="sm"/>
            <a:tailEnd type="triangle" w="med" len="med"/>
          </a:ln>
        </p:spPr>
      </p:cxnSp>
      <p:sp>
        <p:nvSpPr>
          <p:cNvPr id="127" name="Google Shape;1619;p96">
            <a:extLst>
              <a:ext uri="{FF2B5EF4-FFF2-40B4-BE49-F238E27FC236}">
                <a16:creationId xmlns:a16="http://schemas.microsoft.com/office/drawing/2014/main" id="{76C43A49-6429-814A-EFED-83E3959A38A7}"/>
              </a:ext>
            </a:extLst>
          </p:cNvPr>
          <p:cNvSpPr/>
          <p:nvPr/>
        </p:nvSpPr>
        <p:spPr>
          <a:xfrm>
            <a:off x="3239910" y="1196956"/>
            <a:ext cx="1333477" cy="334200"/>
          </a:xfrm>
          <a:prstGeom prst="rect">
            <a:avLst/>
          </a:prstGeom>
          <a:gradFill flip="none" rotWithShape="1">
            <a:gsLst>
              <a:gs pos="0">
                <a:schemeClr val="accent6">
                  <a:lumMod val="50000"/>
                  <a:lumOff val="50000"/>
                </a:schemeClr>
              </a:gs>
              <a:gs pos="33000">
                <a:schemeClr val="accent5">
                  <a:lumMod val="40000"/>
                  <a:lumOff val="60000"/>
                </a:schemeClr>
              </a:gs>
              <a:gs pos="60000">
                <a:schemeClr val="bg1"/>
              </a:gs>
              <a:gs pos="100000">
                <a:schemeClr val="accent1"/>
              </a:gs>
            </a:gsLst>
            <a:lin ang="0" scaled="1"/>
            <a:tileRect/>
          </a:gradFill>
          <a:ln w="9525" cap="flat" cmpd="sng">
            <a:solidFill>
              <a:schemeClr val="tx1"/>
            </a:solidFill>
            <a:prstDash val="solid"/>
            <a:round/>
            <a:headEnd type="none" w="sm" len="sm"/>
            <a:tailEnd type="none" w="sm" len="sm"/>
          </a:ln>
        </p:spPr>
        <p:txBody>
          <a:bodyPr spcFirstLastPara="1" wrap="square" lIns="0" tIns="0" rIns="0" bIns="0" anchor="ctr" anchorCtr="0">
            <a:noAutofit/>
          </a:bodyPr>
          <a:lstStyle/>
          <a:p>
            <a:pPr algn="ctr">
              <a:buClr>
                <a:srgbClr val="000000"/>
              </a:buClr>
              <a:buSzPts val="500"/>
            </a:pPr>
            <a:r>
              <a:rPr lang="en" sz="900" dirty="0">
                <a:latin typeface="+mj-lt"/>
                <a:sym typeface="Red Hat Display"/>
              </a:rPr>
              <a:t>Internal Whiteboarding Session</a:t>
            </a:r>
            <a:endParaRPr sz="900" dirty="0">
              <a:latin typeface="+mj-lt"/>
              <a:sym typeface="Red Hat Display"/>
            </a:endParaRPr>
          </a:p>
        </p:txBody>
      </p:sp>
      <p:cxnSp>
        <p:nvCxnSpPr>
          <p:cNvPr id="128" name="Google Shape;1621;p96">
            <a:extLst>
              <a:ext uri="{FF2B5EF4-FFF2-40B4-BE49-F238E27FC236}">
                <a16:creationId xmlns:a16="http://schemas.microsoft.com/office/drawing/2014/main" id="{A4E959C7-8DEB-8588-BE97-DE2FB31FC10E}"/>
              </a:ext>
            </a:extLst>
          </p:cNvPr>
          <p:cNvCxnSpPr>
            <a:cxnSpLocks/>
            <a:stCxn id="127" idx="3"/>
            <a:endCxn id="129" idx="1"/>
          </p:cNvCxnSpPr>
          <p:nvPr/>
        </p:nvCxnSpPr>
        <p:spPr>
          <a:xfrm flipV="1">
            <a:off x="4573387" y="1360817"/>
            <a:ext cx="223889" cy="3239"/>
          </a:xfrm>
          <a:prstGeom prst="straightConnector1">
            <a:avLst/>
          </a:prstGeom>
          <a:noFill/>
          <a:ln w="28575" cap="flat" cmpd="sng">
            <a:solidFill>
              <a:srgbClr val="FFFFFF"/>
            </a:solidFill>
            <a:prstDash val="solid"/>
            <a:round/>
            <a:headEnd type="none" w="sm" len="sm"/>
            <a:tailEnd type="triangle" w="med" len="med"/>
          </a:ln>
        </p:spPr>
      </p:cxnSp>
      <p:sp>
        <p:nvSpPr>
          <p:cNvPr id="129" name="Google Shape;1619;p96">
            <a:extLst>
              <a:ext uri="{FF2B5EF4-FFF2-40B4-BE49-F238E27FC236}">
                <a16:creationId xmlns:a16="http://schemas.microsoft.com/office/drawing/2014/main" id="{EC788FA7-8DD3-0381-4761-6B7CD554D331}"/>
              </a:ext>
            </a:extLst>
          </p:cNvPr>
          <p:cNvSpPr/>
          <p:nvPr/>
        </p:nvSpPr>
        <p:spPr>
          <a:xfrm>
            <a:off x="4797276" y="1193717"/>
            <a:ext cx="1264859" cy="334200"/>
          </a:xfrm>
          <a:prstGeom prst="rect">
            <a:avLst/>
          </a:prstGeom>
          <a:gradFill flip="none" rotWithShape="1">
            <a:gsLst>
              <a:gs pos="0">
                <a:schemeClr val="accent6">
                  <a:lumMod val="50000"/>
                  <a:lumOff val="50000"/>
                </a:schemeClr>
              </a:gs>
              <a:gs pos="33000">
                <a:schemeClr val="bg1"/>
              </a:gs>
              <a:gs pos="67000">
                <a:schemeClr val="accent5">
                  <a:lumMod val="40000"/>
                  <a:lumOff val="60000"/>
                </a:schemeClr>
              </a:gs>
              <a:gs pos="100000">
                <a:schemeClr val="accent2">
                  <a:lumMod val="40000"/>
                  <a:lumOff val="60000"/>
                </a:schemeClr>
              </a:gs>
            </a:gsLst>
            <a:lin ang="0" scaled="1"/>
            <a:tileRect/>
          </a:gradFill>
          <a:ln w="9525" cap="flat" cmpd="sng">
            <a:solidFill>
              <a:schemeClr val="tx1"/>
            </a:solidFill>
            <a:prstDash val="solid"/>
            <a:round/>
            <a:headEnd type="none" w="sm" len="sm"/>
            <a:tailEnd type="none" w="sm" len="sm"/>
          </a:ln>
        </p:spPr>
        <p:txBody>
          <a:bodyPr spcFirstLastPara="1" wrap="square" lIns="0" tIns="0" rIns="0" bIns="0" anchor="ctr" anchorCtr="0">
            <a:noAutofit/>
          </a:bodyPr>
          <a:lstStyle/>
          <a:p>
            <a:pPr algn="ctr">
              <a:buClr>
                <a:srgbClr val="000000"/>
              </a:buClr>
              <a:buSzPts val="500"/>
            </a:pPr>
            <a:r>
              <a:rPr lang="en" sz="900" dirty="0">
                <a:latin typeface="+mj-lt"/>
                <a:sym typeface="Red Hat Display"/>
              </a:rPr>
              <a:t>Client Whiteboarding Session</a:t>
            </a:r>
            <a:endParaRPr sz="900" dirty="0">
              <a:latin typeface="+mj-lt"/>
              <a:sym typeface="Red Hat Display"/>
            </a:endParaRPr>
          </a:p>
        </p:txBody>
      </p:sp>
      <p:cxnSp>
        <p:nvCxnSpPr>
          <p:cNvPr id="130" name="Google Shape;1621;p96">
            <a:extLst>
              <a:ext uri="{FF2B5EF4-FFF2-40B4-BE49-F238E27FC236}">
                <a16:creationId xmlns:a16="http://schemas.microsoft.com/office/drawing/2014/main" id="{27F3FBA1-43B4-2FB7-3413-CB6712CD7E58}"/>
              </a:ext>
            </a:extLst>
          </p:cNvPr>
          <p:cNvCxnSpPr>
            <a:cxnSpLocks/>
            <a:stCxn id="129" idx="3"/>
            <a:endCxn id="101" idx="1"/>
          </p:cNvCxnSpPr>
          <p:nvPr/>
        </p:nvCxnSpPr>
        <p:spPr>
          <a:xfrm flipV="1">
            <a:off x="6062135" y="1358608"/>
            <a:ext cx="206196" cy="2209"/>
          </a:xfrm>
          <a:prstGeom prst="straightConnector1">
            <a:avLst/>
          </a:prstGeom>
          <a:noFill/>
          <a:ln w="28575" cap="flat" cmpd="sng">
            <a:solidFill>
              <a:srgbClr val="FFFFFF"/>
            </a:solidFill>
            <a:prstDash val="solid"/>
            <a:round/>
            <a:headEnd type="none" w="sm" len="sm"/>
            <a:tailEnd type="triangle" w="med" len="med"/>
          </a:ln>
        </p:spPr>
      </p:cxnSp>
      <p:sp>
        <p:nvSpPr>
          <p:cNvPr id="131" name="Rectangle: Folded Corner 130">
            <a:extLst>
              <a:ext uri="{FF2B5EF4-FFF2-40B4-BE49-F238E27FC236}">
                <a16:creationId xmlns:a16="http://schemas.microsoft.com/office/drawing/2014/main" id="{1EE584EC-D7F2-0DCB-1EC4-5089DC5605AD}"/>
              </a:ext>
            </a:extLst>
          </p:cNvPr>
          <p:cNvSpPr/>
          <p:nvPr/>
        </p:nvSpPr>
        <p:spPr>
          <a:xfrm>
            <a:off x="36306" y="5830583"/>
            <a:ext cx="1056769" cy="774612"/>
          </a:xfrm>
          <a:prstGeom prst="foldedCorner">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800" dirty="0">
                <a:solidFill>
                  <a:schemeClr val="bg1"/>
                </a:solidFill>
                <a:latin typeface="+mj-lt"/>
              </a:rPr>
              <a:t>If yes AND it’s a new component, then creative team creates component</a:t>
            </a:r>
          </a:p>
        </p:txBody>
      </p:sp>
      <p:cxnSp>
        <p:nvCxnSpPr>
          <p:cNvPr id="132" name="Straight Arrow Connector 131">
            <a:extLst>
              <a:ext uri="{FF2B5EF4-FFF2-40B4-BE49-F238E27FC236}">
                <a16:creationId xmlns:a16="http://schemas.microsoft.com/office/drawing/2014/main" id="{063458A9-CA75-08F3-491B-9AAF4AF3D58B}"/>
              </a:ext>
            </a:extLst>
          </p:cNvPr>
          <p:cNvCxnSpPr>
            <a:cxnSpLocks/>
            <a:stCxn id="131" idx="3"/>
            <a:endCxn id="110" idx="2"/>
          </p:cNvCxnSpPr>
          <p:nvPr/>
        </p:nvCxnSpPr>
        <p:spPr>
          <a:xfrm flipV="1">
            <a:off x="1093075" y="5652922"/>
            <a:ext cx="2478716" cy="564967"/>
          </a:xfrm>
          <a:prstGeom prst="straightConnector1">
            <a:avLst/>
          </a:prstGeom>
          <a:ln w="952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10" name="Google Shape;1642;p96">
            <a:extLst>
              <a:ext uri="{FF2B5EF4-FFF2-40B4-BE49-F238E27FC236}">
                <a16:creationId xmlns:a16="http://schemas.microsoft.com/office/drawing/2014/main" id="{17FA9BC9-D921-3517-E126-3B49866914DA}"/>
              </a:ext>
            </a:extLst>
          </p:cNvPr>
          <p:cNvSpPr txBox="1"/>
          <p:nvPr/>
        </p:nvSpPr>
        <p:spPr>
          <a:xfrm>
            <a:off x="940281" y="584864"/>
            <a:ext cx="1709604" cy="350100"/>
          </a:xfrm>
          <a:prstGeom prst="rect">
            <a:avLst/>
          </a:prstGeom>
          <a:noFill/>
          <a:ln>
            <a:noFill/>
          </a:ln>
        </p:spPr>
        <p:txBody>
          <a:bodyPr spcFirstLastPara="1" wrap="square" lIns="77300" tIns="77300" rIns="77300" bIns="773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 sz="1200" b="0" i="0" u="none" strike="noStrike" kern="1200" cap="none" spc="0" normalizeH="0" baseline="0" noProof="0" dirty="0">
                <a:ln>
                  <a:noFill/>
                </a:ln>
                <a:solidFill>
                  <a:srgbClr val="FFFFFF"/>
                </a:solidFill>
                <a:effectLst/>
                <a:uLnTx/>
                <a:uFillTx/>
                <a:latin typeface="+mj-lt"/>
                <a:ea typeface="Red Hat Display"/>
                <a:cs typeface="Red Hat Display"/>
                <a:sym typeface="Red Hat Display"/>
              </a:rPr>
              <a:t>Strategic Alignment</a:t>
            </a:r>
            <a:endParaRPr kumimoji="0" sz="1200" b="0" i="0" u="none" strike="noStrike" kern="1200" cap="none" spc="0" normalizeH="0" baseline="0" noProof="0" dirty="0">
              <a:ln>
                <a:noFill/>
              </a:ln>
              <a:solidFill>
                <a:srgbClr val="FFFFFF"/>
              </a:solidFill>
              <a:effectLst/>
              <a:uLnTx/>
              <a:uFillTx/>
              <a:latin typeface="+mj-lt"/>
              <a:ea typeface="Red Hat Display"/>
              <a:cs typeface="Red Hat Display"/>
              <a:sym typeface="Red Hat Display"/>
            </a:endParaRPr>
          </a:p>
        </p:txBody>
      </p:sp>
    </p:spTree>
    <p:extLst>
      <p:ext uri="{BB962C8B-B14F-4D97-AF65-F5344CB8AC3E}">
        <p14:creationId xmlns:p14="http://schemas.microsoft.com/office/powerpoint/2010/main" val="12352296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2E0659-D5DB-D72E-6C89-13590277579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D2A558D-73B2-1854-E83E-CD93DD426024}"/>
              </a:ext>
            </a:extLst>
          </p:cNvPr>
          <p:cNvSpPr/>
          <p:nvPr/>
        </p:nvSpPr>
        <p:spPr>
          <a:xfrm>
            <a:off x="0" y="1207911"/>
            <a:ext cx="12191998" cy="5650089"/>
          </a:xfrm>
          <a:prstGeom prst="rect">
            <a:avLst/>
          </a:prstGeom>
          <a:solidFill>
            <a:srgbClr val="6699CC">
              <a:alpha val="12941"/>
            </a:srgb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91440" r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j-lt"/>
              <a:ea typeface="+mn-ea"/>
              <a:cs typeface="+mn-cs"/>
            </a:endParaRPr>
          </a:p>
        </p:txBody>
      </p:sp>
      <p:pic>
        <p:nvPicPr>
          <p:cNvPr id="3" name="Picture 2">
            <a:extLst>
              <a:ext uri="{FF2B5EF4-FFF2-40B4-BE49-F238E27FC236}">
                <a16:creationId xmlns:a16="http://schemas.microsoft.com/office/drawing/2014/main" id="{5774A484-F52A-710D-CDF8-7939F4BB5C3F}"/>
              </a:ext>
            </a:extLst>
          </p:cNvPr>
          <p:cNvPicPr>
            <a:picLocks noChangeAspect="1"/>
          </p:cNvPicPr>
          <p:nvPr/>
        </p:nvPicPr>
        <p:blipFill>
          <a:blip r:embed="rId3"/>
          <a:stretch>
            <a:fillRect/>
          </a:stretch>
        </p:blipFill>
        <p:spPr>
          <a:xfrm>
            <a:off x="431221" y="6141617"/>
            <a:ext cx="5016677" cy="563652"/>
          </a:xfrm>
          <a:prstGeom prst="rect">
            <a:avLst/>
          </a:prstGeom>
        </p:spPr>
      </p:pic>
      <p:sp>
        <p:nvSpPr>
          <p:cNvPr id="36" name="Title 1">
            <a:extLst>
              <a:ext uri="{FF2B5EF4-FFF2-40B4-BE49-F238E27FC236}">
                <a16:creationId xmlns:a16="http://schemas.microsoft.com/office/drawing/2014/main" id="{BCE79D9F-FFE8-D52A-2536-D25C7FD11E86}"/>
              </a:ext>
            </a:extLst>
          </p:cNvPr>
          <p:cNvSpPr txBox="1">
            <a:spLocks/>
          </p:cNvSpPr>
          <p:nvPr/>
        </p:nvSpPr>
        <p:spPr>
          <a:xfrm>
            <a:off x="0" y="362187"/>
            <a:ext cx="12192000" cy="540923"/>
          </a:xfrm>
          <a:prstGeom prst="rect">
            <a:avLst/>
          </a:prstGeom>
        </p:spPr>
        <p:txBody>
          <a:bodyPr lIns="91440" tIns="45720" rIns="91440" bIns="45720" anchor="t"/>
          <a:lstStyle>
            <a:lvl1pPr algn="l" defTabSz="914377" rtl="0" eaLnBrk="1" latinLnBrk="0" hangingPunct="1">
              <a:lnSpc>
                <a:spcPct val="100000"/>
              </a:lnSpc>
              <a:spcBef>
                <a:spcPct val="0"/>
              </a:spcBef>
              <a:buNone/>
              <a:defRPr sz="3200" b="1" i="0" kern="1200" spc="0" baseline="0">
                <a:solidFill>
                  <a:schemeClr val="accent1"/>
                </a:solidFill>
                <a:latin typeface="+mj-lt"/>
                <a:ea typeface="+mj-ea"/>
                <a:cs typeface="+mj-cs"/>
              </a:defRPr>
            </a:lvl1pPr>
          </a:lstStyle>
          <a:p>
            <a:pPr algn="ctr"/>
            <a:r>
              <a:rPr lang="en-MY" sz="2800" dirty="0"/>
              <a:t>CRO Flash Process</a:t>
            </a:r>
          </a:p>
        </p:txBody>
      </p:sp>
      <p:sp>
        <p:nvSpPr>
          <p:cNvPr id="76" name="Google Shape;1646;p96">
            <a:extLst>
              <a:ext uri="{FF2B5EF4-FFF2-40B4-BE49-F238E27FC236}">
                <a16:creationId xmlns:a16="http://schemas.microsoft.com/office/drawing/2014/main" id="{094FC0E5-3241-A4E5-0383-2A57DF75D875}"/>
              </a:ext>
            </a:extLst>
          </p:cNvPr>
          <p:cNvSpPr/>
          <p:nvPr/>
        </p:nvSpPr>
        <p:spPr>
          <a:xfrm>
            <a:off x="3611622" y="5590545"/>
            <a:ext cx="887700" cy="250800"/>
          </a:xfrm>
          <a:prstGeom prst="rect">
            <a:avLst/>
          </a:prstGeom>
          <a:solidFill>
            <a:srgbClr val="FFFFFF"/>
          </a:solidFill>
          <a:ln w="9525" cap="flat" cmpd="sng">
            <a:solidFill>
              <a:schemeClr val="tx1"/>
            </a:solidFill>
            <a:prstDash val="solid"/>
            <a:round/>
            <a:headEnd type="none" w="sm" len="sm"/>
            <a:tailEnd type="none" w="sm" len="sm"/>
          </a:ln>
        </p:spPr>
        <p:txBody>
          <a:bodyPr spcFirstLastPara="1" wrap="square" lIns="77300" tIns="77300" rIns="77300" bIns="773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800" b="1" i="0" u="none" strike="noStrike" kern="1200" cap="none" spc="0" normalizeH="0" baseline="0" noProof="0" dirty="0">
                <a:ln>
                  <a:noFill/>
                </a:ln>
                <a:effectLst/>
                <a:uLnTx/>
                <a:uFillTx/>
                <a:latin typeface="+mj-lt"/>
                <a:ea typeface="Red Hat Display"/>
                <a:cs typeface="Red Hat Display"/>
                <a:sym typeface="Red Hat Display"/>
              </a:rPr>
              <a:t>Process Step</a:t>
            </a:r>
            <a:endParaRPr kumimoji="0" sz="800" b="1" i="0" u="none" strike="noStrike" kern="1200" cap="none" spc="0" normalizeH="0" baseline="0" noProof="0" dirty="0">
              <a:ln>
                <a:noFill/>
              </a:ln>
              <a:effectLst/>
              <a:uLnTx/>
              <a:uFillTx/>
              <a:latin typeface="+mj-lt"/>
              <a:ea typeface="Red Hat Display"/>
              <a:cs typeface="Red Hat Display"/>
              <a:sym typeface="Red Hat Display"/>
            </a:endParaRPr>
          </a:p>
        </p:txBody>
      </p:sp>
      <p:sp>
        <p:nvSpPr>
          <p:cNvPr id="77" name="Google Shape;1647;p96">
            <a:extLst>
              <a:ext uri="{FF2B5EF4-FFF2-40B4-BE49-F238E27FC236}">
                <a16:creationId xmlns:a16="http://schemas.microsoft.com/office/drawing/2014/main" id="{A363A4C0-40FC-6161-70D1-4E6ECD896C55}"/>
              </a:ext>
            </a:extLst>
          </p:cNvPr>
          <p:cNvSpPr/>
          <p:nvPr/>
        </p:nvSpPr>
        <p:spPr>
          <a:xfrm>
            <a:off x="4641121" y="5590545"/>
            <a:ext cx="732888" cy="250938"/>
          </a:xfrm>
          <a:prstGeom prst="flowChartDocument">
            <a:avLst/>
          </a:prstGeom>
          <a:solidFill>
            <a:srgbClr val="FFFFFF"/>
          </a:solidFill>
          <a:ln w="9525" cap="flat" cmpd="sng">
            <a:solidFill>
              <a:schemeClr val="tx1"/>
            </a:solidFill>
            <a:prstDash val="solid"/>
            <a:round/>
            <a:headEnd type="none" w="sm" len="sm"/>
            <a:tailEnd type="none" w="sm" len="sm"/>
          </a:ln>
        </p:spPr>
        <p:txBody>
          <a:bodyPr spcFirstLastPara="1" wrap="square" lIns="77300" tIns="77300" rIns="77300" bIns="773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800" b="1" i="0" u="none" strike="noStrike" kern="1200" cap="none" spc="0" normalizeH="0" baseline="0" noProof="0">
                <a:ln>
                  <a:noFill/>
                </a:ln>
                <a:effectLst/>
                <a:uLnTx/>
                <a:uFillTx/>
                <a:latin typeface="+mj-lt"/>
                <a:ea typeface="Red Hat Display"/>
                <a:cs typeface="Red Hat Display"/>
                <a:sym typeface="Red Hat Display"/>
              </a:rPr>
              <a:t>Document</a:t>
            </a:r>
            <a:endParaRPr kumimoji="0" sz="800" b="1" i="0" u="none" strike="noStrike" kern="1200" cap="none" spc="0" normalizeH="0" baseline="0" noProof="0">
              <a:ln>
                <a:noFill/>
              </a:ln>
              <a:effectLst/>
              <a:uLnTx/>
              <a:uFillTx/>
              <a:latin typeface="+mj-lt"/>
              <a:ea typeface="Red Hat Display"/>
              <a:cs typeface="Red Hat Display"/>
              <a:sym typeface="Red Hat Display"/>
            </a:endParaRPr>
          </a:p>
        </p:txBody>
      </p:sp>
      <p:sp>
        <p:nvSpPr>
          <p:cNvPr id="78" name="Google Shape;1648;p96">
            <a:extLst>
              <a:ext uri="{FF2B5EF4-FFF2-40B4-BE49-F238E27FC236}">
                <a16:creationId xmlns:a16="http://schemas.microsoft.com/office/drawing/2014/main" id="{54F4C78C-346C-DA05-EF63-1CCD259B92D0}"/>
              </a:ext>
            </a:extLst>
          </p:cNvPr>
          <p:cNvSpPr/>
          <p:nvPr/>
        </p:nvSpPr>
        <p:spPr>
          <a:xfrm>
            <a:off x="5515808" y="5590544"/>
            <a:ext cx="1135972" cy="250949"/>
          </a:xfrm>
          <a:prstGeom prst="flowChartPredefinedProcess">
            <a:avLst/>
          </a:prstGeom>
          <a:solidFill>
            <a:srgbClr val="FFFFFF"/>
          </a:solidFill>
          <a:ln w="9525" cap="flat" cmpd="sng">
            <a:solidFill>
              <a:schemeClr val="tx1"/>
            </a:solidFill>
            <a:prstDash val="solid"/>
            <a:round/>
            <a:headEnd type="none" w="sm" len="sm"/>
            <a:tailEnd type="none" w="sm" len="sm"/>
          </a:ln>
        </p:spPr>
        <p:txBody>
          <a:bodyPr spcFirstLastPara="1" wrap="square" lIns="77300" tIns="77300" rIns="77300" bIns="773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800" b="1" i="0" u="none" strike="noStrike" kern="1200" cap="none" spc="0" normalizeH="0" baseline="0" noProof="0">
                <a:ln>
                  <a:noFill/>
                </a:ln>
                <a:effectLst/>
                <a:uLnTx/>
                <a:uFillTx/>
                <a:latin typeface="+mj-lt"/>
                <a:ea typeface="Red Hat Display"/>
                <a:cs typeface="Red Hat Display"/>
                <a:sym typeface="Red Hat Display"/>
              </a:rPr>
              <a:t>Decision</a:t>
            </a:r>
            <a:endParaRPr kumimoji="0" sz="800" b="1" i="0" u="none" strike="noStrike" kern="1200" cap="none" spc="0" normalizeH="0" baseline="0" noProof="0">
              <a:ln>
                <a:noFill/>
              </a:ln>
              <a:effectLst/>
              <a:uLnTx/>
              <a:uFillTx/>
              <a:latin typeface="+mj-lt"/>
              <a:ea typeface="Red Hat Display"/>
              <a:cs typeface="Red Hat Display"/>
              <a:sym typeface="Red Hat Display"/>
            </a:endParaRPr>
          </a:p>
        </p:txBody>
      </p:sp>
      <p:sp>
        <p:nvSpPr>
          <p:cNvPr id="79" name="Google Shape;1649;p96">
            <a:extLst>
              <a:ext uri="{FF2B5EF4-FFF2-40B4-BE49-F238E27FC236}">
                <a16:creationId xmlns:a16="http://schemas.microsoft.com/office/drawing/2014/main" id="{92A99E23-CDF8-EC9D-3492-16CF0879847E}"/>
              </a:ext>
            </a:extLst>
          </p:cNvPr>
          <p:cNvSpPr/>
          <p:nvPr/>
        </p:nvSpPr>
        <p:spPr>
          <a:xfrm>
            <a:off x="6793579" y="5590543"/>
            <a:ext cx="923700" cy="250800"/>
          </a:xfrm>
          <a:prstGeom prst="rect">
            <a:avLst/>
          </a:prstGeom>
          <a:solidFill>
            <a:srgbClr val="FFFFFF"/>
          </a:solidFill>
          <a:ln w="9525" cap="flat" cmpd="sng">
            <a:solidFill>
              <a:schemeClr val="tx1"/>
            </a:solidFill>
            <a:prstDash val="dash"/>
            <a:round/>
            <a:headEnd type="none" w="sm" len="sm"/>
            <a:tailEnd type="none" w="sm" len="sm"/>
          </a:ln>
        </p:spPr>
        <p:txBody>
          <a:bodyPr spcFirstLastPara="1" wrap="square" lIns="77300" tIns="77300" rIns="77300" bIns="773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800" b="1" i="0" u="none" strike="noStrike" kern="1200" cap="none" spc="0" normalizeH="0" baseline="0" noProof="0" dirty="0">
                <a:ln>
                  <a:noFill/>
                </a:ln>
                <a:effectLst/>
                <a:uLnTx/>
                <a:uFillTx/>
                <a:latin typeface="+mj-lt"/>
                <a:ea typeface="Red Hat Display"/>
                <a:cs typeface="Red Hat Display"/>
                <a:sym typeface="Red Hat Display"/>
              </a:rPr>
              <a:t>Optional / as needed step</a:t>
            </a:r>
            <a:endParaRPr kumimoji="0" sz="800" b="1" i="0" u="none" strike="noStrike" kern="1200" cap="none" spc="0" normalizeH="0" baseline="0" noProof="0" dirty="0">
              <a:ln>
                <a:noFill/>
              </a:ln>
              <a:effectLst/>
              <a:uLnTx/>
              <a:uFillTx/>
              <a:latin typeface="+mj-lt"/>
              <a:ea typeface="Red Hat Display"/>
              <a:cs typeface="Red Hat Display"/>
              <a:sym typeface="Red Hat Display"/>
            </a:endParaRPr>
          </a:p>
        </p:txBody>
      </p:sp>
      <p:sp>
        <p:nvSpPr>
          <p:cNvPr id="80" name="Google Shape;1650;p96">
            <a:extLst>
              <a:ext uri="{FF2B5EF4-FFF2-40B4-BE49-F238E27FC236}">
                <a16:creationId xmlns:a16="http://schemas.microsoft.com/office/drawing/2014/main" id="{13730A49-B380-355B-B7E4-167C865931AF}"/>
              </a:ext>
            </a:extLst>
          </p:cNvPr>
          <p:cNvSpPr txBox="1"/>
          <p:nvPr/>
        </p:nvSpPr>
        <p:spPr>
          <a:xfrm>
            <a:off x="2213894" y="5591259"/>
            <a:ext cx="1650300" cy="175200"/>
          </a:xfrm>
          <a:prstGeom prst="rect">
            <a:avLst/>
          </a:prstGeom>
          <a:noFill/>
          <a:ln>
            <a:noFill/>
          </a:ln>
        </p:spPr>
        <p:txBody>
          <a:bodyPr spcFirstLastPara="1" wrap="square" lIns="75575" tIns="75575" rIns="75575" bIns="7557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 sz="800" b="0" i="0" u="none" strike="noStrike" kern="1200" cap="none" spc="0" normalizeH="0" baseline="0" noProof="0" dirty="0">
                <a:ln>
                  <a:noFill/>
                </a:ln>
                <a:effectLst/>
                <a:uLnTx/>
                <a:uFillTx/>
                <a:latin typeface="+mj-lt"/>
                <a:ea typeface="Red Hat Display"/>
                <a:cs typeface="Red Hat Display"/>
                <a:sym typeface="Red Hat Display"/>
              </a:rPr>
              <a:t>Process flow shape key:</a:t>
            </a:r>
            <a:endParaRPr kumimoji="0" sz="800" b="0" i="0" u="none" strike="noStrike" kern="1200" cap="none" spc="0" normalizeH="0" baseline="0" noProof="0" dirty="0">
              <a:ln>
                <a:noFill/>
              </a:ln>
              <a:effectLst/>
              <a:uLnTx/>
              <a:uFillTx/>
              <a:latin typeface="+mj-lt"/>
              <a:ea typeface="Red Hat Display"/>
              <a:cs typeface="Red Hat Display"/>
              <a:sym typeface="Red Hat Display"/>
            </a:endParaRPr>
          </a:p>
        </p:txBody>
      </p:sp>
      <p:sp>
        <p:nvSpPr>
          <p:cNvPr id="82" name="Google Shape;1646;p96">
            <a:extLst>
              <a:ext uri="{FF2B5EF4-FFF2-40B4-BE49-F238E27FC236}">
                <a16:creationId xmlns:a16="http://schemas.microsoft.com/office/drawing/2014/main" id="{BA9B22EF-3B23-BE91-C579-DB6CA76CCD83}"/>
              </a:ext>
            </a:extLst>
          </p:cNvPr>
          <p:cNvSpPr/>
          <p:nvPr/>
        </p:nvSpPr>
        <p:spPr>
          <a:xfrm>
            <a:off x="6710086" y="5951951"/>
            <a:ext cx="887700" cy="250800"/>
          </a:xfrm>
          <a:prstGeom prst="rect">
            <a:avLst/>
          </a:prstGeom>
          <a:solidFill>
            <a:schemeClr val="accent2">
              <a:lumMod val="40000"/>
              <a:lumOff val="60000"/>
            </a:schemeClr>
          </a:solidFill>
          <a:ln w="3175" cap="flat" cmpd="sng">
            <a:solidFill>
              <a:schemeClr val="tx2"/>
            </a:solidFill>
            <a:prstDash val="solid"/>
            <a:round/>
            <a:headEnd type="none" w="sm" len="sm"/>
            <a:tailEnd type="none" w="sm" len="sm"/>
          </a:ln>
        </p:spPr>
        <p:txBody>
          <a:bodyPr spcFirstLastPara="1" wrap="square" lIns="77300" tIns="77300" rIns="77300" bIns="773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Tx/>
              <a:buNone/>
              <a:tabLst/>
              <a:defRPr/>
            </a:pPr>
            <a:r>
              <a:rPr kumimoji="0" lang="en-US" sz="700" b="1" i="0" u="none" strike="noStrike" kern="1200" cap="none" spc="0" normalizeH="0" baseline="0" noProof="0" dirty="0">
                <a:ln>
                  <a:noFill/>
                </a:ln>
                <a:effectLst/>
                <a:uLnTx/>
                <a:uFillTx/>
                <a:latin typeface="+mj-lt"/>
                <a:ea typeface="Red Hat Display"/>
                <a:cs typeface="Poppins"/>
                <a:sym typeface="Red Hat Display"/>
              </a:rPr>
              <a:t>Client</a:t>
            </a:r>
            <a:endParaRPr kumimoji="0" lang="en-US" sz="700" b="1" i="0" u="none" strike="noStrike" kern="1200" cap="none" spc="0" normalizeH="0" baseline="0" noProof="0" dirty="0">
              <a:ln>
                <a:noFill/>
              </a:ln>
              <a:effectLst/>
              <a:uLnTx/>
              <a:uFillTx/>
              <a:latin typeface="+mj-lt"/>
              <a:ea typeface="Red Hat Display"/>
              <a:cs typeface="Poppins" panose="00000500000000000000" pitchFamily="2" charset="0"/>
              <a:sym typeface="Red Hat Display"/>
            </a:endParaRPr>
          </a:p>
        </p:txBody>
      </p:sp>
      <p:sp>
        <p:nvSpPr>
          <p:cNvPr id="83" name="Google Shape;1646;p96">
            <a:extLst>
              <a:ext uri="{FF2B5EF4-FFF2-40B4-BE49-F238E27FC236}">
                <a16:creationId xmlns:a16="http://schemas.microsoft.com/office/drawing/2014/main" id="{837EC51F-739D-94E3-CFC2-5EDFF19D2BB5}"/>
              </a:ext>
            </a:extLst>
          </p:cNvPr>
          <p:cNvSpPr/>
          <p:nvPr/>
        </p:nvSpPr>
        <p:spPr>
          <a:xfrm>
            <a:off x="5677493" y="5951951"/>
            <a:ext cx="887700" cy="250800"/>
          </a:xfrm>
          <a:prstGeom prst="rect">
            <a:avLst/>
          </a:prstGeom>
          <a:solidFill>
            <a:schemeClr val="accent3">
              <a:lumMod val="60000"/>
              <a:lumOff val="40000"/>
            </a:schemeClr>
          </a:solidFill>
          <a:ln w="3175" cap="flat" cmpd="sng">
            <a:solidFill>
              <a:schemeClr val="tx2"/>
            </a:solidFill>
            <a:prstDash val="solid"/>
            <a:round/>
            <a:headEnd type="none" w="sm" len="sm"/>
            <a:tailEnd type="none" w="sm" len="sm"/>
          </a:ln>
        </p:spPr>
        <p:txBody>
          <a:bodyPr spcFirstLastPara="1" wrap="square" lIns="77300" tIns="77300" rIns="77300" bIns="773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Tx/>
              <a:buNone/>
              <a:tabLst/>
              <a:defRPr/>
            </a:pPr>
            <a:r>
              <a:rPr kumimoji="0" lang="en" sz="700" b="1" i="0" u="none" strike="noStrike" kern="1200" cap="none" spc="0" normalizeH="0" baseline="0" noProof="0" dirty="0">
                <a:ln>
                  <a:noFill/>
                </a:ln>
                <a:solidFill>
                  <a:schemeClr val="bg1"/>
                </a:solidFill>
                <a:effectLst/>
                <a:uLnTx/>
                <a:uFillTx/>
                <a:latin typeface="+mj-lt"/>
                <a:ea typeface="Red Hat Display"/>
                <a:cs typeface="Poppins"/>
                <a:sym typeface="Red Hat Display"/>
              </a:rPr>
              <a:t>HC Dev / Analytics</a:t>
            </a:r>
            <a:endParaRPr kumimoji="0" sz="700" b="1" i="0" u="none" strike="noStrike" kern="1200" cap="none" spc="0" normalizeH="0" baseline="0" noProof="0" dirty="0">
              <a:ln>
                <a:noFill/>
              </a:ln>
              <a:solidFill>
                <a:schemeClr val="bg1"/>
              </a:solidFill>
              <a:effectLst/>
              <a:uLnTx/>
              <a:uFillTx/>
              <a:latin typeface="+mj-lt"/>
              <a:ea typeface="Red Hat Display"/>
              <a:cs typeface="Poppins"/>
              <a:sym typeface="Red Hat Display"/>
            </a:endParaRPr>
          </a:p>
        </p:txBody>
      </p:sp>
      <p:sp>
        <p:nvSpPr>
          <p:cNvPr id="84" name="Google Shape;1646;p96">
            <a:extLst>
              <a:ext uri="{FF2B5EF4-FFF2-40B4-BE49-F238E27FC236}">
                <a16:creationId xmlns:a16="http://schemas.microsoft.com/office/drawing/2014/main" id="{47727B02-4473-4874-12BE-18D2798CFB04}"/>
              </a:ext>
            </a:extLst>
          </p:cNvPr>
          <p:cNvSpPr/>
          <p:nvPr/>
        </p:nvSpPr>
        <p:spPr>
          <a:xfrm>
            <a:off x="4644899" y="5951951"/>
            <a:ext cx="887700" cy="250800"/>
          </a:xfrm>
          <a:prstGeom prst="rect">
            <a:avLst/>
          </a:prstGeom>
          <a:solidFill>
            <a:schemeClr val="accent1"/>
          </a:solidFill>
          <a:ln w="3175" cap="flat" cmpd="sng">
            <a:solidFill>
              <a:schemeClr val="tx2"/>
            </a:solidFill>
            <a:prstDash val="solid"/>
            <a:round/>
            <a:headEnd type="none" w="sm" len="sm"/>
            <a:tailEnd type="none" w="sm" len="sm"/>
          </a:ln>
        </p:spPr>
        <p:txBody>
          <a:bodyPr spcFirstLastPara="1" wrap="square" lIns="77300" tIns="77300" rIns="77300" bIns="773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Tx/>
              <a:buNone/>
              <a:tabLst/>
              <a:defRPr/>
            </a:pPr>
            <a:r>
              <a:rPr kumimoji="0" lang="en" sz="700" b="1" i="0" u="none" strike="noStrike" kern="1200" cap="none" spc="0" normalizeH="0" baseline="0" noProof="0" dirty="0">
                <a:ln>
                  <a:noFill/>
                </a:ln>
                <a:solidFill>
                  <a:schemeClr val="bg1"/>
                </a:solidFill>
                <a:effectLst/>
                <a:uLnTx/>
                <a:uFillTx/>
                <a:latin typeface="+mj-lt"/>
                <a:ea typeface="Red Hat Display"/>
                <a:cs typeface="Poppins"/>
                <a:sym typeface="Red Hat Display"/>
              </a:rPr>
              <a:t>HC Design</a:t>
            </a:r>
            <a:endParaRPr kumimoji="0" sz="700" b="1" i="0" u="none" strike="noStrike" kern="1200" cap="none" spc="0" normalizeH="0" baseline="0" noProof="0" dirty="0">
              <a:ln>
                <a:noFill/>
              </a:ln>
              <a:solidFill>
                <a:schemeClr val="bg1"/>
              </a:solidFill>
              <a:effectLst/>
              <a:uLnTx/>
              <a:uFillTx/>
              <a:latin typeface="+mj-lt"/>
              <a:ea typeface="Red Hat Display"/>
              <a:cs typeface="Poppins"/>
              <a:sym typeface="Red Hat Display"/>
            </a:endParaRPr>
          </a:p>
        </p:txBody>
      </p:sp>
      <p:sp>
        <p:nvSpPr>
          <p:cNvPr id="85" name="Google Shape;1646;p96">
            <a:extLst>
              <a:ext uri="{FF2B5EF4-FFF2-40B4-BE49-F238E27FC236}">
                <a16:creationId xmlns:a16="http://schemas.microsoft.com/office/drawing/2014/main" id="{FD92454B-5EE2-ADAB-A81A-DC1977707900}"/>
              </a:ext>
            </a:extLst>
          </p:cNvPr>
          <p:cNvSpPr/>
          <p:nvPr/>
        </p:nvSpPr>
        <p:spPr>
          <a:xfrm>
            <a:off x="3612305" y="5951951"/>
            <a:ext cx="887700" cy="250800"/>
          </a:xfrm>
          <a:prstGeom prst="rect">
            <a:avLst/>
          </a:prstGeom>
          <a:solidFill>
            <a:schemeClr val="bg1"/>
          </a:solidFill>
          <a:ln w="3175" cap="flat" cmpd="sng">
            <a:solidFill>
              <a:schemeClr val="tx2"/>
            </a:solidFill>
            <a:prstDash val="solid"/>
            <a:round/>
            <a:headEnd type="none" w="sm" len="sm"/>
            <a:tailEnd type="none" w="sm" len="sm"/>
          </a:ln>
        </p:spPr>
        <p:txBody>
          <a:bodyPr spcFirstLastPara="1" wrap="square" lIns="77300" tIns="77300" rIns="77300" bIns="773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Tx/>
              <a:buNone/>
              <a:tabLst/>
              <a:defRPr/>
            </a:pPr>
            <a:r>
              <a:rPr kumimoji="0" lang="en" sz="700" b="1" i="0" u="none" strike="noStrike" kern="1200" cap="none" spc="0" normalizeH="0" baseline="0" noProof="0" dirty="0">
                <a:ln>
                  <a:noFill/>
                </a:ln>
                <a:effectLst/>
                <a:uLnTx/>
                <a:uFillTx/>
                <a:latin typeface="+mj-lt"/>
                <a:ea typeface="Red Hat Display"/>
                <a:cs typeface="Poppins"/>
                <a:sym typeface="Red Hat Display"/>
              </a:rPr>
              <a:t>HC CRO</a:t>
            </a:r>
            <a:endParaRPr kumimoji="0" sz="700" b="1" i="0" u="none" strike="noStrike" kern="1200" cap="none" spc="0" normalizeH="0" baseline="0" noProof="0" dirty="0">
              <a:ln>
                <a:noFill/>
              </a:ln>
              <a:effectLst/>
              <a:uLnTx/>
              <a:uFillTx/>
              <a:latin typeface="+mj-lt"/>
              <a:ea typeface="Red Hat Display"/>
              <a:cs typeface="Poppins"/>
              <a:sym typeface="Red Hat Display"/>
            </a:endParaRPr>
          </a:p>
        </p:txBody>
      </p:sp>
      <p:sp>
        <p:nvSpPr>
          <p:cNvPr id="86" name="Google Shape;1650;p96">
            <a:extLst>
              <a:ext uri="{FF2B5EF4-FFF2-40B4-BE49-F238E27FC236}">
                <a16:creationId xmlns:a16="http://schemas.microsoft.com/office/drawing/2014/main" id="{E9C6564C-CE8C-14C9-F943-B4CEDAE52005}"/>
              </a:ext>
            </a:extLst>
          </p:cNvPr>
          <p:cNvSpPr txBox="1"/>
          <p:nvPr/>
        </p:nvSpPr>
        <p:spPr>
          <a:xfrm>
            <a:off x="2203007" y="5956090"/>
            <a:ext cx="1650300" cy="175200"/>
          </a:xfrm>
          <a:prstGeom prst="rect">
            <a:avLst/>
          </a:prstGeom>
          <a:noFill/>
          <a:ln>
            <a:noFill/>
          </a:ln>
        </p:spPr>
        <p:txBody>
          <a:bodyPr spcFirstLastPara="1" wrap="square" lIns="75575" tIns="75575" rIns="75575" bIns="7557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 sz="800" b="0" i="0" u="none" strike="noStrike" kern="1200" cap="none" spc="0" normalizeH="0" baseline="0" noProof="0" dirty="0">
                <a:ln>
                  <a:noFill/>
                </a:ln>
                <a:effectLst/>
                <a:uLnTx/>
                <a:uFillTx/>
                <a:latin typeface="+mj-lt"/>
                <a:ea typeface="Red Hat Display"/>
                <a:cs typeface="Red Hat Display"/>
                <a:sym typeface="Red Hat Display"/>
              </a:rPr>
              <a:t>Process step owner key:</a:t>
            </a:r>
            <a:endParaRPr kumimoji="0" sz="800" b="0" i="0" u="none" strike="noStrike" kern="1200" cap="none" spc="0" normalizeH="0" baseline="0" noProof="0" dirty="0">
              <a:ln>
                <a:noFill/>
              </a:ln>
              <a:effectLst/>
              <a:uLnTx/>
              <a:uFillTx/>
              <a:latin typeface="+mj-lt"/>
              <a:ea typeface="Red Hat Display"/>
              <a:cs typeface="Red Hat Display"/>
              <a:sym typeface="Red Hat Display"/>
            </a:endParaRPr>
          </a:p>
        </p:txBody>
      </p:sp>
      <p:sp>
        <p:nvSpPr>
          <p:cNvPr id="116" name="Google Shape;1646;p96">
            <a:extLst>
              <a:ext uri="{FF2B5EF4-FFF2-40B4-BE49-F238E27FC236}">
                <a16:creationId xmlns:a16="http://schemas.microsoft.com/office/drawing/2014/main" id="{F7E953EB-8521-B6F5-AEA0-3532ED24AB20}"/>
              </a:ext>
            </a:extLst>
          </p:cNvPr>
          <p:cNvSpPr/>
          <p:nvPr/>
        </p:nvSpPr>
        <p:spPr>
          <a:xfrm>
            <a:off x="7742679" y="5951951"/>
            <a:ext cx="887700" cy="250800"/>
          </a:xfrm>
          <a:prstGeom prst="rect">
            <a:avLst/>
          </a:prstGeom>
          <a:solidFill>
            <a:schemeClr val="accent5">
              <a:lumMod val="40000"/>
              <a:lumOff val="60000"/>
            </a:schemeClr>
          </a:solidFill>
          <a:ln w="3175" cap="flat" cmpd="sng">
            <a:solidFill>
              <a:schemeClr val="tx2"/>
            </a:solidFill>
            <a:prstDash val="solid"/>
            <a:round/>
            <a:headEnd type="none" w="sm" len="sm"/>
            <a:tailEnd type="none" w="sm" len="sm"/>
          </a:ln>
        </p:spPr>
        <p:txBody>
          <a:bodyPr spcFirstLastPara="1" wrap="square" lIns="77300" tIns="77300" rIns="77300" bIns="773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Tx/>
              <a:buNone/>
              <a:tabLst/>
              <a:defRPr/>
            </a:pPr>
            <a:r>
              <a:rPr kumimoji="0" lang="en" sz="700" b="1" i="0" u="none" strike="noStrike" kern="1200" cap="none" spc="0" normalizeH="0" baseline="0" noProof="0" dirty="0">
                <a:ln>
                  <a:noFill/>
                </a:ln>
                <a:effectLst/>
                <a:uLnTx/>
                <a:uFillTx/>
                <a:latin typeface="+mj-lt"/>
                <a:ea typeface="Red Hat Display"/>
                <a:cs typeface="Poppins"/>
                <a:sym typeface="Red Hat Display"/>
              </a:rPr>
              <a:t>HC CX</a:t>
            </a:r>
            <a:endParaRPr kumimoji="0" sz="700" b="1" i="0" u="none" strike="noStrike" kern="1200" cap="none" spc="0" normalizeH="0" baseline="0" noProof="0" dirty="0">
              <a:ln>
                <a:noFill/>
              </a:ln>
              <a:effectLst/>
              <a:uLnTx/>
              <a:uFillTx/>
              <a:latin typeface="+mj-lt"/>
              <a:ea typeface="Red Hat Display"/>
              <a:cs typeface="Poppins"/>
              <a:sym typeface="Red Hat Display"/>
            </a:endParaRPr>
          </a:p>
        </p:txBody>
      </p:sp>
      <p:sp>
        <p:nvSpPr>
          <p:cNvPr id="15" name="Google Shape;1607;p96">
            <a:extLst>
              <a:ext uri="{FF2B5EF4-FFF2-40B4-BE49-F238E27FC236}">
                <a16:creationId xmlns:a16="http://schemas.microsoft.com/office/drawing/2014/main" id="{8DCC9540-9AE9-D6F0-2F34-3ED03E06B0DD}"/>
              </a:ext>
            </a:extLst>
          </p:cNvPr>
          <p:cNvSpPr/>
          <p:nvPr/>
        </p:nvSpPr>
        <p:spPr>
          <a:xfrm>
            <a:off x="855012" y="3925853"/>
            <a:ext cx="10422000" cy="548640"/>
          </a:xfrm>
          <a:prstGeom prst="roundRect">
            <a:avLst>
              <a:gd name="adj" fmla="val 16667"/>
            </a:avLst>
          </a:prstGeom>
          <a:solidFill>
            <a:schemeClr val="bg1">
              <a:lumMod val="65000"/>
            </a:schemeClr>
          </a:solidFill>
          <a:ln>
            <a:noFill/>
          </a:ln>
        </p:spPr>
        <p:txBody>
          <a:bodyPr spcFirstLastPara="1" wrap="square" lIns="77300" tIns="77300" rIns="77300" bIns="773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002477"/>
              </a:solidFill>
              <a:effectLst/>
              <a:uLnTx/>
              <a:uFillTx/>
              <a:latin typeface="+mj-lt"/>
              <a:ea typeface="Arial"/>
              <a:cs typeface="Arial"/>
              <a:sym typeface="Arial"/>
            </a:endParaRPr>
          </a:p>
        </p:txBody>
      </p:sp>
      <p:sp>
        <p:nvSpPr>
          <p:cNvPr id="16" name="Google Shape;1645;p96">
            <a:extLst>
              <a:ext uri="{FF2B5EF4-FFF2-40B4-BE49-F238E27FC236}">
                <a16:creationId xmlns:a16="http://schemas.microsoft.com/office/drawing/2014/main" id="{789BA953-831D-7468-A549-ED2BED2F9113}"/>
              </a:ext>
            </a:extLst>
          </p:cNvPr>
          <p:cNvSpPr txBox="1"/>
          <p:nvPr/>
        </p:nvSpPr>
        <p:spPr>
          <a:xfrm>
            <a:off x="910328" y="4025123"/>
            <a:ext cx="1895400" cy="350100"/>
          </a:xfrm>
          <a:prstGeom prst="rect">
            <a:avLst/>
          </a:prstGeom>
          <a:noFill/>
          <a:ln>
            <a:noFill/>
          </a:ln>
        </p:spPr>
        <p:txBody>
          <a:bodyPr spcFirstLastPara="1" wrap="square" lIns="77300" tIns="77300" rIns="77300" bIns="773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 sz="1200" b="0" i="0" u="none" strike="noStrike" kern="1200" cap="none" spc="0" normalizeH="0" baseline="0" noProof="0">
                <a:ln>
                  <a:noFill/>
                </a:ln>
                <a:effectLst/>
                <a:uLnTx/>
                <a:uFillTx/>
                <a:latin typeface="+mj-lt"/>
                <a:ea typeface="Red Hat Display"/>
                <a:cs typeface="Red Hat Display"/>
                <a:sym typeface="Red Hat Display"/>
              </a:rPr>
              <a:t>Analysis</a:t>
            </a:r>
            <a:endParaRPr kumimoji="0" sz="1200" b="0" i="0" u="none" strike="noStrike" kern="1200" cap="none" spc="0" normalizeH="0" baseline="0" noProof="0">
              <a:ln>
                <a:noFill/>
              </a:ln>
              <a:effectLst/>
              <a:uLnTx/>
              <a:uFillTx/>
              <a:latin typeface="+mj-lt"/>
              <a:ea typeface="Red Hat Display"/>
              <a:cs typeface="Red Hat Display"/>
              <a:sym typeface="Red Hat Display"/>
            </a:endParaRPr>
          </a:p>
        </p:txBody>
      </p:sp>
      <p:sp>
        <p:nvSpPr>
          <p:cNvPr id="18" name="Google Shape;1655;p96">
            <a:extLst>
              <a:ext uri="{FF2B5EF4-FFF2-40B4-BE49-F238E27FC236}">
                <a16:creationId xmlns:a16="http://schemas.microsoft.com/office/drawing/2014/main" id="{CF3C1CB0-173D-AED8-8B7E-0DCF5FAC350A}"/>
              </a:ext>
            </a:extLst>
          </p:cNvPr>
          <p:cNvSpPr/>
          <p:nvPr/>
        </p:nvSpPr>
        <p:spPr>
          <a:xfrm>
            <a:off x="9780647" y="4033073"/>
            <a:ext cx="1281811" cy="334200"/>
          </a:xfrm>
          <a:prstGeom prst="rect">
            <a:avLst/>
          </a:prstGeom>
          <a:solidFill>
            <a:srgbClr val="FFFFFF"/>
          </a:solidFill>
          <a:ln w="9525" cap="flat" cmpd="sng">
            <a:solidFill>
              <a:schemeClr val="tx1"/>
            </a:solidFill>
            <a:prstDash val="solid"/>
            <a:round/>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dirty="0">
                <a:ln>
                  <a:noFill/>
                </a:ln>
                <a:effectLst/>
                <a:uLnTx/>
                <a:uFillTx/>
                <a:latin typeface="+mj-lt"/>
                <a:ea typeface="Red Hat Display"/>
                <a:cs typeface="Red Hat Display"/>
                <a:sym typeface="Red Hat Display"/>
              </a:rPr>
              <a:t>Learnings Captured To Inform Iteration</a:t>
            </a:r>
            <a:endParaRPr kumimoji="0" sz="900" b="0" i="0" u="none" strike="noStrike" kern="1200" cap="none" spc="0" normalizeH="0" baseline="0" noProof="0" dirty="0">
              <a:ln>
                <a:noFill/>
              </a:ln>
              <a:effectLst/>
              <a:uLnTx/>
              <a:uFillTx/>
              <a:latin typeface="+mj-lt"/>
              <a:ea typeface="Red Hat Display"/>
              <a:cs typeface="Red Hat Display"/>
              <a:sym typeface="Red Hat Display"/>
            </a:endParaRPr>
          </a:p>
        </p:txBody>
      </p:sp>
      <p:cxnSp>
        <p:nvCxnSpPr>
          <p:cNvPr id="19" name="Google Shape;1657;p96">
            <a:extLst>
              <a:ext uri="{FF2B5EF4-FFF2-40B4-BE49-F238E27FC236}">
                <a16:creationId xmlns:a16="http://schemas.microsoft.com/office/drawing/2014/main" id="{F515E08C-D0B9-2612-D8C8-D71B49C0DD58}"/>
              </a:ext>
            </a:extLst>
          </p:cNvPr>
          <p:cNvCxnSpPr>
            <a:cxnSpLocks/>
            <a:endCxn id="25" idx="1"/>
          </p:cNvCxnSpPr>
          <p:nvPr/>
        </p:nvCxnSpPr>
        <p:spPr>
          <a:xfrm>
            <a:off x="2954117" y="4200173"/>
            <a:ext cx="2205870" cy="0"/>
          </a:xfrm>
          <a:prstGeom prst="straightConnector1">
            <a:avLst/>
          </a:prstGeom>
          <a:noFill/>
          <a:ln w="28575" cap="flat" cmpd="sng">
            <a:solidFill>
              <a:srgbClr val="FFFFFF"/>
            </a:solidFill>
            <a:prstDash val="solid"/>
            <a:round/>
            <a:headEnd type="none" w="sm" len="sm"/>
            <a:tailEnd type="triangle" w="med" len="med"/>
          </a:ln>
        </p:spPr>
      </p:cxnSp>
      <p:cxnSp>
        <p:nvCxnSpPr>
          <p:cNvPr id="20" name="Google Shape;1661;p96">
            <a:extLst>
              <a:ext uri="{FF2B5EF4-FFF2-40B4-BE49-F238E27FC236}">
                <a16:creationId xmlns:a16="http://schemas.microsoft.com/office/drawing/2014/main" id="{F19F7DD5-C02D-7643-437C-0F5FA970914F}"/>
              </a:ext>
            </a:extLst>
          </p:cNvPr>
          <p:cNvCxnSpPr>
            <a:cxnSpLocks/>
            <a:stCxn id="23" idx="3"/>
            <a:endCxn id="18" idx="1"/>
          </p:cNvCxnSpPr>
          <p:nvPr/>
        </p:nvCxnSpPr>
        <p:spPr>
          <a:xfrm>
            <a:off x="8716040" y="4200173"/>
            <a:ext cx="1064607" cy="0"/>
          </a:xfrm>
          <a:prstGeom prst="straightConnector1">
            <a:avLst/>
          </a:prstGeom>
          <a:noFill/>
          <a:ln w="28575" cap="flat" cmpd="sng">
            <a:solidFill>
              <a:srgbClr val="FFFFFF"/>
            </a:solidFill>
            <a:prstDash val="solid"/>
            <a:round/>
            <a:headEnd type="none" w="sm" len="sm"/>
            <a:tailEnd type="triangle" w="med" len="med"/>
          </a:ln>
        </p:spPr>
      </p:cxnSp>
      <p:sp>
        <p:nvSpPr>
          <p:cNvPr id="22" name="Google Shape;1658;p96">
            <a:extLst>
              <a:ext uri="{FF2B5EF4-FFF2-40B4-BE49-F238E27FC236}">
                <a16:creationId xmlns:a16="http://schemas.microsoft.com/office/drawing/2014/main" id="{AC07AE2C-5A3B-EB9B-3364-F2D09634EE6F}"/>
              </a:ext>
            </a:extLst>
          </p:cNvPr>
          <p:cNvSpPr/>
          <p:nvPr/>
        </p:nvSpPr>
        <p:spPr>
          <a:xfrm>
            <a:off x="2631031" y="4033210"/>
            <a:ext cx="1325064" cy="333926"/>
          </a:xfrm>
          <a:prstGeom prst="flowChartPredefinedProcess">
            <a:avLst/>
          </a:prstGeom>
          <a:solidFill>
            <a:srgbClr val="FFFFFF"/>
          </a:solidFill>
          <a:ln w="9525" cap="flat" cmpd="sng">
            <a:solidFill>
              <a:schemeClr val="tx1"/>
            </a:solidFill>
            <a:prstDash val="solid"/>
            <a:round/>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dirty="0">
                <a:ln>
                  <a:noFill/>
                </a:ln>
                <a:effectLst/>
                <a:uLnTx/>
                <a:uFillTx/>
                <a:latin typeface="+mj-lt"/>
                <a:ea typeface="Red Hat Display"/>
                <a:cs typeface="Red Hat Display"/>
                <a:sym typeface="Red Hat Display"/>
              </a:rPr>
              <a:t>Win/Loss Assessment</a:t>
            </a:r>
            <a:endParaRPr kumimoji="0" sz="900" b="0" i="0" u="none" strike="noStrike" kern="1200" cap="none" spc="0" normalizeH="0" baseline="0" noProof="0" dirty="0">
              <a:ln>
                <a:noFill/>
              </a:ln>
              <a:effectLst/>
              <a:uLnTx/>
              <a:uFillTx/>
              <a:latin typeface="+mj-lt"/>
              <a:ea typeface="Red Hat Display"/>
              <a:cs typeface="Red Hat Display"/>
              <a:sym typeface="Red Hat Display"/>
            </a:endParaRPr>
          </a:p>
        </p:txBody>
      </p:sp>
      <p:sp>
        <p:nvSpPr>
          <p:cNvPr id="23" name="Google Shape;1614;p96">
            <a:extLst>
              <a:ext uri="{FF2B5EF4-FFF2-40B4-BE49-F238E27FC236}">
                <a16:creationId xmlns:a16="http://schemas.microsoft.com/office/drawing/2014/main" id="{CB30B8F3-3FB3-7EC9-616B-69D1E5FDAEC9}"/>
              </a:ext>
            </a:extLst>
          </p:cNvPr>
          <p:cNvSpPr/>
          <p:nvPr/>
        </p:nvSpPr>
        <p:spPr>
          <a:xfrm>
            <a:off x="7383346" y="4033215"/>
            <a:ext cx="1332694" cy="333916"/>
          </a:xfrm>
          <a:prstGeom prst="rect">
            <a:avLst/>
          </a:prstGeom>
          <a:solidFill>
            <a:schemeClr val="bg1"/>
          </a:solidFill>
          <a:ln w="9525" cap="flat" cmpd="sng">
            <a:solidFill>
              <a:schemeClr val="tx1"/>
            </a:solidFill>
            <a:prstDash val="solid"/>
            <a:round/>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Tx/>
              <a:buNone/>
              <a:tabLst/>
              <a:defRPr/>
            </a:pPr>
            <a:r>
              <a:rPr kumimoji="0" lang="en" sz="900" b="0" i="0" u="none" strike="noStrike" kern="1200" cap="none" spc="0" normalizeH="0" baseline="0" noProof="0" dirty="0">
                <a:ln>
                  <a:noFill/>
                </a:ln>
                <a:effectLst/>
                <a:uLnTx/>
                <a:uFillTx/>
                <a:latin typeface="+mj-lt"/>
                <a:ea typeface="+mn-ea"/>
                <a:cs typeface="+mn-cs"/>
                <a:sym typeface="Red Hat Display"/>
              </a:rPr>
              <a:t>Winning Experience Maintained on Site</a:t>
            </a:r>
            <a:endParaRPr kumimoji="0" sz="900" b="0" i="0" u="none" strike="noStrike" kern="1200" cap="none" spc="0" normalizeH="0" baseline="0" noProof="0" dirty="0">
              <a:ln>
                <a:noFill/>
              </a:ln>
              <a:effectLst/>
              <a:uLnTx/>
              <a:uFillTx/>
              <a:latin typeface="+mj-lt"/>
              <a:ea typeface="+mn-ea"/>
              <a:cs typeface="+mn-cs"/>
              <a:sym typeface="Red Hat Display"/>
            </a:endParaRPr>
          </a:p>
        </p:txBody>
      </p:sp>
      <p:cxnSp>
        <p:nvCxnSpPr>
          <p:cNvPr id="24" name="Google Shape;1663;p96">
            <a:extLst>
              <a:ext uri="{FF2B5EF4-FFF2-40B4-BE49-F238E27FC236}">
                <a16:creationId xmlns:a16="http://schemas.microsoft.com/office/drawing/2014/main" id="{CEDADD9F-3580-C41A-2FFE-C5C07E95FCBD}"/>
              </a:ext>
            </a:extLst>
          </p:cNvPr>
          <p:cNvCxnSpPr>
            <a:cxnSpLocks/>
            <a:stCxn id="25" idx="3"/>
            <a:endCxn id="23" idx="1"/>
          </p:cNvCxnSpPr>
          <p:nvPr/>
        </p:nvCxnSpPr>
        <p:spPr>
          <a:xfrm>
            <a:off x="6149483" y="4200173"/>
            <a:ext cx="1233863" cy="0"/>
          </a:xfrm>
          <a:prstGeom prst="straightConnector1">
            <a:avLst/>
          </a:prstGeom>
          <a:noFill/>
          <a:ln w="28575" cap="flat" cmpd="sng">
            <a:solidFill>
              <a:srgbClr val="FFFFFF"/>
            </a:solidFill>
            <a:prstDash val="solid"/>
            <a:round/>
            <a:headEnd type="none" w="sm" len="sm"/>
            <a:tailEnd type="triangle" w="med" len="med"/>
          </a:ln>
        </p:spPr>
      </p:cxnSp>
      <p:sp>
        <p:nvSpPr>
          <p:cNvPr id="25" name="Google Shape;1662;p96">
            <a:extLst>
              <a:ext uri="{FF2B5EF4-FFF2-40B4-BE49-F238E27FC236}">
                <a16:creationId xmlns:a16="http://schemas.microsoft.com/office/drawing/2014/main" id="{B61F6651-8889-C7A6-278E-71F51CC97BB4}"/>
              </a:ext>
            </a:extLst>
          </p:cNvPr>
          <p:cNvSpPr/>
          <p:nvPr/>
        </p:nvSpPr>
        <p:spPr>
          <a:xfrm>
            <a:off x="5159987" y="4033205"/>
            <a:ext cx="989496" cy="333936"/>
          </a:xfrm>
          <a:prstGeom prst="flowChartDocument">
            <a:avLst/>
          </a:prstGeom>
          <a:solidFill>
            <a:srgbClr val="FFFFFF"/>
          </a:solidFill>
          <a:ln w="9525" cap="flat" cmpd="sng">
            <a:solidFill>
              <a:schemeClr val="tx1"/>
            </a:solidFill>
            <a:prstDash val="solid"/>
            <a:round/>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a:ln>
                  <a:noFill/>
                </a:ln>
                <a:solidFill>
                  <a:srgbClr val="0070C0"/>
                </a:solidFill>
                <a:effectLst/>
                <a:uLnTx/>
                <a:uFillTx/>
                <a:latin typeface="+mj-lt"/>
                <a:ea typeface="Red Hat Display"/>
                <a:cs typeface="Red Hat Display"/>
                <a:sym typeface="Red Hat Display"/>
                <a:hlinkClick r:id="rId4">
                  <a:extLst>
                    <a:ext uri="{A12FA001-AC4F-418D-AE19-62706E023703}">
                      <ahyp:hlinkClr xmlns:ahyp="http://schemas.microsoft.com/office/drawing/2018/hyperlinkcolor" val="tx"/>
                    </a:ext>
                  </a:extLst>
                </a:hlinkClick>
              </a:rPr>
              <a:t>Test Results Delivered</a:t>
            </a:r>
            <a:endParaRPr kumimoji="0" sz="900" b="0" i="0" u="none" strike="noStrike" kern="1200" cap="none" spc="0" normalizeH="0" baseline="0" noProof="0">
              <a:ln>
                <a:noFill/>
              </a:ln>
              <a:solidFill>
                <a:srgbClr val="0070C0"/>
              </a:solidFill>
              <a:effectLst/>
              <a:uLnTx/>
              <a:uFillTx/>
              <a:latin typeface="+mj-lt"/>
              <a:ea typeface="Red Hat Display"/>
              <a:cs typeface="Red Hat Display"/>
              <a:sym typeface="Red Hat Display"/>
            </a:endParaRPr>
          </a:p>
        </p:txBody>
      </p:sp>
      <p:sp>
        <p:nvSpPr>
          <p:cNvPr id="66" name="Google Shape;1608;p96">
            <a:extLst>
              <a:ext uri="{FF2B5EF4-FFF2-40B4-BE49-F238E27FC236}">
                <a16:creationId xmlns:a16="http://schemas.microsoft.com/office/drawing/2014/main" id="{572D4984-18C1-0637-737F-056AB561C3B1}"/>
              </a:ext>
            </a:extLst>
          </p:cNvPr>
          <p:cNvSpPr/>
          <p:nvPr/>
        </p:nvSpPr>
        <p:spPr>
          <a:xfrm>
            <a:off x="855012" y="3323821"/>
            <a:ext cx="10396500" cy="548640"/>
          </a:xfrm>
          <a:prstGeom prst="roundRect">
            <a:avLst>
              <a:gd name="adj" fmla="val 16667"/>
            </a:avLst>
          </a:prstGeom>
          <a:solidFill>
            <a:schemeClr val="accent1"/>
          </a:solidFill>
          <a:ln>
            <a:noFill/>
          </a:ln>
        </p:spPr>
        <p:txBody>
          <a:bodyPr spcFirstLastPara="1" wrap="square" lIns="77300" tIns="77300" rIns="77300" bIns="773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sng" strike="noStrike" kern="1200" cap="none" spc="0" normalizeH="0" baseline="0" noProof="0">
              <a:ln>
                <a:noFill/>
              </a:ln>
              <a:solidFill>
                <a:srgbClr val="002477"/>
              </a:solidFill>
              <a:effectLst/>
              <a:uLnTx/>
              <a:uFillTx/>
              <a:latin typeface="+mj-lt"/>
              <a:ea typeface="Arial"/>
              <a:cs typeface="Arial"/>
              <a:sym typeface="Arial"/>
            </a:endParaRPr>
          </a:p>
        </p:txBody>
      </p:sp>
      <p:sp>
        <p:nvSpPr>
          <p:cNvPr id="67" name="Google Shape;1617;p96">
            <a:extLst>
              <a:ext uri="{FF2B5EF4-FFF2-40B4-BE49-F238E27FC236}">
                <a16:creationId xmlns:a16="http://schemas.microsoft.com/office/drawing/2014/main" id="{D580831F-391D-3455-C228-BF4DEB90289F}"/>
              </a:ext>
            </a:extLst>
          </p:cNvPr>
          <p:cNvSpPr/>
          <p:nvPr/>
        </p:nvSpPr>
        <p:spPr>
          <a:xfrm>
            <a:off x="5102713" y="3431041"/>
            <a:ext cx="1065062" cy="334200"/>
          </a:xfrm>
          <a:prstGeom prst="rect">
            <a:avLst/>
          </a:prstGeom>
          <a:solidFill>
            <a:srgbClr val="FFFFFF"/>
          </a:solidFill>
          <a:ln w="9525" cap="flat" cmpd="sng">
            <a:solidFill>
              <a:schemeClr val="tx1"/>
            </a:solidFill>
            <a:prstDash val="solid"/>
            <a:round/>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US" sz="900" b="0" i="0" u="none" strike="noStrike" kern="1200" cap="none" spc="0" normalizeH="0" baseline="0" noProof="0" dirty="0">
                <a:ln>
                  <a:noFill/>
                </a:ln>
                <a:effectLst/>
                <a:uLnTx/>
                <a:uFillTx/>
                <a:latin typeface="+mj-lt"/>
                <a:ea typeface="Red Hat Display"/>
                <a:cs typeface="Red Hat Display"/>
                <a:sym typeface="Red Hat Display"/>
              </a:rPr>
              <a:t>Monitor Guardrail Metrics</a:t>
            </a:r>
          </a:p>
        </p:txBody>
      </p:sp>
      <p:cxnSp>
        <p:nvCxnSpPr>
          <p:cNvPr id="68" name="Google Shape;1639;p96">
            <a:extLst>
              <a:ext uri="{FF2B5EF4-FFF2-40B4-BE49-F238E27FC236}">
                <a16:creationId xmlns:a16="http://schemas.microsoft.com/office/drawing/2014/main" id="{999EC5B4-715F-EFA4-33B3-F4D63E3F4943}"/>
              </a:ext>
            </a:extLst>
          </p:cNvPr>
          <p:cNvCxnSpPr>
            <a:cxnSpLocks/>
            <a:stCxn id="67" idx="3"/>
            <a:endCxn id="70" idx="1"/>
          </p:cNvCxnSpPr>
          <p:nvPr/>
        </p:nvCxnSpPr>
        <p:spPr>
          <a:xfrm>
            <a:off x="6167775" y="3598141"/>
            <a:ext cx="1502126" cy="0"/>
          </a:xfrm>
          <a:prstGeom prst="straightConnector1">
            <a:avLst/>
          </a:prstGeom>
          <a:noFill/>
          <a:ln w="28575" cap="flat" cmpd="sng">
            <a:solidFill>
              <a:srgbClr val="FFFFFF"/>
            </a:solidFill>
            <a:prstDash val="solid"/>
            <a:round/>
            <a:headEnd type="none" w="sm" len="sm"/>
            <a:tailEnd type="triangle" w="med" len="med"/>
          </a:ln>
        </p:spPr>
      </p:cxnSp>
      <p:sp>
        <p:nvSpPr>
          <p:cNvPr id="69" name="Google Shape;1644;p96">
            <a:extLst>
              <a:ext uri="{FF2B5EF4-FFF2-40B4-BE49-F238E27FC236}">
                <a16:creationId xmlns:a16="http://schemas.microsoft.com/office/drawing/2014/main" id="{9701BE32-6B34-4BDD-D4E4-7767F063A0B6}"/>
              </a:ext>
            </a:extLst>
          </p:cNvPr>
          <p:cNvSpPr txBox="1"/>
          <p:nvPr/>
        </p:nvSpPr>
        <p:spPr>
          <a:xfrm>
            <a:off x="910328" y="3423091"/>
            <a:ext cx="1895400" cy="350100"/>
          </a:xfrm>
          <a:prstGeom prst="rect">
            <a:avLst/>
          </a:prstGeom>
          <a:noFill/>
          <a:ln>
            <a:noFill/>
          </a:ln>
        </p:spPr>
        <p:txBody>
          <a:bodyPr spcFirstLastPara="1" wrap="square" lIns="77300" tIns="77300" rIns="77300" bIns="773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 sz="1200" b="0" i="0" u="none" strike="noStrike" kern="1200" cap="none" spc="0" normalizeH="0" baseline="0" noProof="0">
                <a:ln>
                  <a:noFill/>
                </a:ln>
                <a:solidFill>
                  <a:schemeClr val="bg1"/>
                </a:solidFill>
                <a:effectLst/>
                <a:uLnTx/>
                <a:uFillTx/>
                <a:latin typeface="+mj-lt"/>
                <a:ea typeface="Red Hat Display"/>
                <a:cs typeface="Red Hat Display"/>
                <a:sym typeface="Red Hat Display"/>
              </a:rPr>
              <a:t>Launch</a:t>
            </a:r>
            <a:endParaRPr kumimoji="0" sz="1200" b="0" i="0" u="none" strike="noStrike" kern="1200" cap="none" spc="0" normalizeH="0" baseline="0" noProof="0">
              <a:ln>
                <a:noFill/>
              </a:ln>
              <a:solidFill>
                <a:schemeClr val="bg1"/>
              </a:solidFill>
              <a:effectLst/>
              <a:uLnTx/>
              <a:uFillTx/>
              <a:latin typeface="+mj-lt"/>
              <a:ea typeface="Red Hat Display"/>
              <a:cs typeface="Red Hat Display"/>
              <a:sym typeface="Red Hat Display"/>
            </a:endParaRPr>
          </a:p>
        </p:txBody>
      </p:sp>
      <p:sp>
        <p:nvSpPr>
          <p:cNvPr id="70" name="Google Shape;1640;p96">
            <a:extLst>
              <a:ext uri="{FF2B5EF4-FFF2-40B4-BE49-F238E27FC236}">
                <a16:creationId xmlns:a16="http://schemas.microsoft.com/office/drawing/2014/main" id="{4D547923-6D5F-7770-BFA4-401B51DA913A}"/>
              </a:ext>
            </a:extLst>
          </p:cNvPr>
          <p:cNvSpPr/>
          <p:nvPr/>
        </p:nvSpPr>
        <p:spPr>
          <a:xfrm>
            <a:off x="7669901" y="3431183"/>
            <a:ext cx="863342" cy="333916"/>
          </a:xfrm>
          <a:prstGeom prst="flowChartProcess">
            <a:avLst/>
          </a:prstGeom>
          <a:solidFill>
            <a:srgbClr val="FFFFFF"/>
          </a:solidFill>
          <a:ln w="9525" cap="flat" cmpd="sng">
            <a:solidFill>
              <a:schemeClr val="tx1"/>
            </a:solidFill>
            <a:prstDash val="solid"/>
            <a:round/>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dirty="0">
                <a:ln>
                  <a:noFill/>
                </a:ln>
                <a:effectLst/>
                <a:uLnTx/>
                <a:uFillTx/>
                <a:latin typeface="+mj-lt"/>
                <a:ea typeface="Red Hat Display"/>
                <a:cs typeface="Red Hat Display"/>
                <a:sym typeface="Red Hat Display"/>
              </a:rPr>
              <a:t>Run Test</a:t>
            </a:r>
            <a:endParaRPr kumimoji="0" sz="900" b="0" i="0" u="none" strike="noStrike" kern="1200" cap="none" spc="0" normalizeH="0" baseline="0" noProof="0" dirty="0">
              <a:ln>
                <a:noFill/>
              </a:ln>
              <a:effectLst/>
              <a:uLnTx/>
              <a:uFillTx/>
              <a:latin typeface="+mj-lt"/>
              <a:ea typeface="Red Hat Display"/>
              <a:cs typeface="Red Hat Display"/>
              <a:sym typeface="Red Hat Display"/>
            </a:endParaRPr>
          </a:p>
        </p:txBody>
      </p:sp>
      <p:sp>
        <p:nvSpPr>
          <p:cNvPr id="71" name="Google Shape;1652;p96">
            <a:extLst>
              <a:ext uri="{FF2B5EF4-FFF2-40B4-BE49-F238E27FC236}">
                <a16:creationId xmlns:a16="http://schemas.microsoft.com/office/drawing/2014/main" id="{E23E079A-9EFD-D31F-CBFB-35CB468E30C1}"/>
              </a:ext>
            </a:extLst>
          </p:cNvPr>
          <p:cNvSpPr/>
          <p:nvPr/>
        </p:nvSpPr>
        <p:spPr>
          <a:xfrm>
            <a:off x="9947438" y="3431183"/>
            <a:ext cx="1115020" cy="333916"/>
          </a:xfrm>
          <a:prstGeom prst="flowChartPredefinedProcess">
            <a:avLst/>
          </a:prstGeom>
          <a:solidFill>
            <a:srgbClr val="FFFFFF"/>
          </a:solidFill>
          <a:ln w="9525" cap="flat" cmpd="sng">
            <a:solidFill>
              <a:schemeClr val="tx1"/>
            </a:solidFill>
            <a:prstDash val="solid"/>
            <a:round/>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a:ln>
                  <a:noFill/>
                </a:ln>
                <a:effectLst/>
                <a:uLnTx/>
                <a:uFillTx/>
                <a:latin typeface="+mj-lt"/>
                <a:ea typeface="Red Hat Display"/>
                <a:cs typeface="Red Hat Display"/>
                <a:sym typeface="Red Hat Display"/>
              </a:rPr>
              <a:t>End Test</a:t>
            </a:r>
            <a:endParaRPr kumimoji="0" sz="900" b="0" i="0" u="none" strike="noStrike" kern="1200" cap="none" spc="0" normalizeH="0" baseline="0" noProof="0">
              <a:ln>
                <a:noFill/>
              </a:ln>
              <a:effectLst/>
              <a:uLnTx/>
              <a:uFillTx/>
              <a:latin typeface="+mj-lt"/>
              <a:ea typeface="Red Hat Display"/>
              <a:cs typeface="Red Hat Display"/>
              <a:sym typeface="Red Hat Display"/>
            </a:endParaRPr>
          </a:p>
        </p:txBody>
      </p:sp>
      <p:cxnSp>
        <p:nvCxnSpPr>
          <p:cNvPr id="72" name="Google Shape;1653;p96">
            <a:extLst>
              <a:ext uri="{FF2B5EF4-FFF2-40B4-BE49-F238E27FC236}">
                <a16:creationId xmlns:a16="http://schemas.microsoft.com/office/drawing/2014/main" id="{4C8DDD0F-8509-52EB-64F4-386E026680C6}"/>
              </a:ext>
            </a:extLst>
          </p:cNvPr>
          <p:cNvCxnSpPr>
            <a:cxnSpLocks/>
            <a:stCxn id="70" idx="3"/>
            <a:endCxn id="71" idx="1"/>
          </p:cNvCxnSpPr>
          <p:nvPr/>
        </p:nvCxnSpPr>
        <p:spPr>
          <a:xfrm>
            <a:off x="8533243" y="3598141"/>
            <a:ext cx="1414195" cy="0"/>
          </a:xfrm>
          <a:prstGeom prst="straightConnector1">
            <a:avLst/>
          </a:prstGeom>
          <a:noFill/>
          <a:ln w="28575" cap="flat" cmpd="sng">
            <a:solidFill>
              <a:srgbClr val="FFFFFF"/>
            </a:solidFill>
            <a:prstDash val="solid"/>
            <a:round/>
            <a:headEnd type="none" w="sm" len="sm"/>
            <a:tailEnd type="triangle" w="med" len="med"/>
          </a:ln>
        </p:spPr>
      </p:cxnSp>
      <p:sp>
        <p:nvSpPr>
          <p:cNvPr id="73" name="Google Shape;1640;p96">
            <a:extLst>
              <a:ext uri="{FF2B5EF4-FFF2-40B4-BE49-F238E27FC236}">
                <a16:creationId xmlns:a16="http://schemas.microsoft.com/office/drawing/2014/main" id="{F9ADCCA2-6462-6711-9FF4-71D8E4F7C187}"/>
              </a:ext>
            </a:extLst>
          </p:cNvPr>
          <p:cNvSpPr/>
          <p:nvPr/>
        </p:nvSpPr>
        <p:spPr>
          <a:xfrm>
            <a:off x="2691627" y="3431183"/>
            <a:ext cx="945565" cy="333916"/>
          </a:xfrm>
          <a:prstGeom prst="flowChartProcess">
            <a:avLst/>
          </a:prstGeom>
          <a:solidFill>
            <a:srgbClr val="FFFFFF"/>
          </a:solidFill>
          <a:ln w="9525" cap="flat" cmpd="sng">
            <a:solidFill>
              <a:schemeClr val="tx1"/>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500"/>
              <a:buFont typeface="Arial"/>
              <a:buNone/>
            </a:pPr>
            <a:r>
              <a:rPr lang="en" sz="900" b="0" i="0" u="none" strike="noStrike" cap="none" dirty="0">
                <a:latin typeface="+mj-lt"/>
                <a:ea typeface="Red Hat Display"/>
                <a:cs typeface="Red Hat Display"/>
                <a:sym typeface="Red Hat Display"/>
              </a:rPr>
              <a:t>Launch Test</a:t>
            </a:r>
            <a:endParaRPr sz="900" b="0" i="0" u="none" strike="noStrike" cap="none" dirty="0">
              <a:latin typeface="+mj-lt"/>
              <a:ea typeface="Red Hat Display"/>
              <a:cs typeface="Red Hat Display"/>
              <a:sym typeface="Red Hat Display"/>
            </a:endParaRPr>
          </a:p>
        </p:txBody>
      </p:sp>
      <p:cxnSp>
        <p:nvCxnSpPr>
          <p:cNvPr id="74" name="Google Shape;1639;p96">
            <a:extLst>
              <a:ext uri="{FF2B5EF4-FFF2-40B4-BE49-F238E27FC236}">
                <a16:creationId xmlns:a16="http://schemas.microsoft.com/office/drawing/2014/main" id="{584728C2-B8FF-46FE-8122-46FFB709102D}"/>
              </a:ext>
            </a:extLst>
          </p:cNvPr>
          <p:cNvCxnSpPr>
            <a:cxnSpLocks/>
            <a:stCxn id="73" idx="3"/>
            <a:endCxn id="67" idx="1"/>
          </p:cNvCxnSpPr>
          <p:nvPr/>
        </p:nvCxnSpPr>
        <p:spPr>
          <a:xfrm>
            <a:off x="3637192" y="3598141"/>
            <a:ext cx="1465521" cy="0"/>
          </a:xfrm>
          <a:prstGeom prst="straightConnector1">
            <a:avLst/>
          </a:prstGeom>
          <a:noFill/>
          <a:ln w="28575" cap="flat" cmpd="sng">
            <a:solidFill>
              <a:srgbClr val="FFFFFF"/>
            </a:solidFill>
            <a:prstDash val="solid"/>
            <a:round/>
            <a:headEnd type="none" w="sm" len="sm"/>
            <a:tailEnd type="triangle" w="med" len="med"/>
          </a:ln>
        </p:spPr>
      </p:cxnSp>
      <p:sp>
        <p:nvSpPr>
          <p:cNvPr id="27" name="Google Shape;1608;p96">
            <a:extLst>
              <a:ext uri="{FF2B5EF4-FFF2-40B4-BE49-F238E27FC236}">
                <a16:creationId xmlns:a16="http://schemas.microsoft.com/office/drawing/2014/main" id="{1167A0C3-1809-ECEB-2701-F87895071055}"/>
              </a:ext>
            </a:extLst>
          </p:cNvPr>
          <p:cNvSpPr/>
          <p:nvPr/>
        </p:nvSpPr>
        <p:spPr>
          <a:xfrm>
            <a:off x="855012" y="2688430"/>
            <a:ext cx="10396500" cy="548640"/>
          </a:xfrm>
          <a:prstGeom prst="roundRect">
            <a:avLst>
              <a:gd name="adj" fmla="val 16667"/>
            </a:avLst>
          </a:prstGeom>
          <a:solidFill>
            <a:schemeClr val="bg1">
              <a:lumMod val="65000"/>
            </a:schemeClr>
          </a:solidFill>
          <a:ln>
            <a:noFill/>
          </a:ln>
        </p:spPr>
        <p:txBody>
          <a:bodyPr spcFirstLastPara="1" wrap="square" lIns="77300" tIns="77300" rIns="77300" bIns="773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sng" strike="noStrike" kern="1200" cap="none" spc="0" normalizeH="0" baseline="0" noProof="0">
              <a:ln>
                <a:noFill/>
              </a:ln>
              <a:solidFill>
                <a:srgbClr val="002477"/>
              </a:solidFill>
              <a:effectLst/>
              <a:uLnTx/>
              <a:uFillTx/>
              <a:latin typeface="+mj-lt"/>
              <a:ea typeface="Arial"/>
              <a:cs typeface="Arial"/>
              <a:sym typeface="Arial"/>
            </a:endParaRPr>
          </a:p>
        </p:txBody>
      </p:sp>
      <p:sp>
        <p:nvSpPr>
          <p:cNvPr id="30" name="Google Shape;1643;p96">
            <a:extLst>
              <a:ext uri="{FF2B5EF4-FFF2-40B4-BE49-F238E27FC236}">
                <a16:creationId xmlns:a16="http://schemas.microsoft.com/office/drawing/2014/main" id="{52A85DB6-FE69-AF53-6AE5-EFDFBACDDEDA}"/>
              </a:ext>
            </a:extLst>
          </p:cNvPr>
          <p:cNvSpPr txBox="1"/>
          <p:nvPr/>
        </p:nvSpPr>
        <p:spPr>
          <a:xfrm>
            <a:off x="962260" y="2787700"/>
            <a:ext cx="1644300" cy="350100"/>
          </a:xfrm>
          <a:prstGeom prst="rect">
            <a:avLst/>
          </a:prstGeom>
          <a:noFill/>
          <a:ln>
            <a:noFill/>
          </a:ln>
        </p:spPr>
        <p:txBody>
          <a:bodyPr spcFirstLastPara="1" wrap="square" lIns="77300" tIns="77300" rIns="77300" bIns="773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 sz="1200" b="0" i="0" u="none" strike="noStrike" kern="1200" cap="none" spc="0" normalizeH="0" baseline="0" noProof="0" dirty="0">
                <a:ln>
                  <a:noFill/>
                </a:ln>
                <a:effectLst/>
                <a:uLnTx/>
                <a:uFillTx/>
                <a:latin typeface="+mj-lt"/>
                <a:ea typeface="Red Hat Display"/>
                <a:cs typeface="Red Hat Display"/>
                <a:sym typeface="Red Hat Display"/>
              </a:rPr>
              <a:t>Dev Fulfillment</a:t>
            </a:r>
            <a:endParaRPr kumimoji="0" sz="1200" b="0" i="0" u="none" strike="noStrike" kern="1200" cap="none" spc="0" normalizeH="0" baseline="0" noProof="0" dirty="0">
              <a:ln>
                <a:noFill/>
              </a:ln>
              <a:effectLst/>
              <a:uLnTx/>
              <a:uFillTx/>
              <a:latin typeface="+mj-lt"/>
              <a:ea typeface="Red Hat Display"/>
              <a:cs typeface="Red Hat Display"/>
              <a:sym typeface="Red Hat Display"/>
            </a:endParaRPr>
          </a:p>
        </p:txBody>
      </p:sp>
      <p:sp>
        <p:nvSpPr>
          <p:cNvPr id="31" name="Google Shape;1615;p96">
            <a:extLst>
              <a:ext uri="{FF2B5EF4-FFF2-40B4-BE49-F238E27FC236}">
                <a16:creationId xmlns:a16="http://schemas.microsoft.com/office/drawing/2014/main" id="{244DE714-C979-7FB0-E8BD-7559B53E82CB}"/>
              </a:ext>
            </a:extLst>
          </p:cNvPr>
          <p:cNvSpPr/>
          <p:nvPr/>
        </p:nvSpPr>
        <p:spPr>
          <a:xfrm>
            <a:off x="4498859" y="2795796"/>
            <a:ext cx="1254292" cy="333909"/>
          </a:xfrm>
          <a:prstGeom prst="flowChartProcess">
            <a:avLst/>
          </a:prstGeom>
          <a:solidFill>
            <a:schemeClr val="accent3">
              <a:lumMod val="60000"/>
              <a:lumOff val="40000"/>
            </a:schemeClr>
          </a:solidFill>
          <a:ln w="9525" cap="flat" cmpd="sng">
            <a:solidFill>
              <a:schemeClr val="tx1"/>
            </a:solidFill>
            <a:prstDash val="solid"/>
            <a:round/>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Tx/>
              <a:buNone/>
              <a:tabLst/>
              <a:defRPr/>
            </a:pPr>
            <a:r>
              <a:rPr kumimoji="0" lang="en" sz="900" b="0" i="0" u="none" strike="noStrike" kern="1200" cap="none" spc="0" normalizeH="0" baseline="0" noProof="0" dirty="0">
                <a:ln>
                  <a:noFill/>
                </a:ln>
                <a:solidFill>
                  <a:schemeClr val="bg1"/>
                </a:solidFill>
                <a:effectLst/>
                <a:uLnTx/>
                <a:uFillTx/>
                <a:latin typeface="+mj-lt"/>
                <a:ea typeface="+mn-ea"/>
                <a:cs typeface="+mn-cs"/>
                <a:sym typeface="Red Hat Display"/>
              </a:rPr>
              <a:t>QA</a:t>
            </a:r>
            <a:endParaRPr kumimoji="0" sz="900" b="0" i="0" u="none" strike="noStrike" kern="1200" cap="none" spc="0" normalizeH="0" baseline="0" noProof="0" dirty="0">
              <a:ln>
                <a:noFill/>
              </a:ln>
              <a:solidFill>
                <a:schemeClr val="bg1"/>
              </a:solidFill>
              <a:effectLst/>
              <a:uLnTx/>
              <a:uFillTx/>
              <a:latin typeface="+mj-lt"/>
              <a:ea typeface="+mn-ea"/>
              <a:cs typeface="+mn-cs"/>
              <a:sym typeface="Red Hat Display"/>
            </a:endParaRPr>
          </a:p>
        </p:txBody>
      </p:sp>
      <p:cxnSp>
        <p:nvCxnSpPr>
          <p:cNvPr id="32" name="Google Shape;1636;p96">
            <a:extLst>
              <a:ext uri="{FF2B5EF4-FFF2-40B4-BE49-F238E27FC236}">
                <a16:creationId xmlns:a16="http://schemas.microsoft.com/office/drawing/2014/main" id="{3DF505EC-E1B0-0FB5-2383-BA0EFCC1C88A}"/>
              </a:ext>
            </a:extLst>
          </p:cNvPr>
          <p:cNvCxnSpPr>
            <a:cxnSpLocks/>
            <a:stCxn id="33" idx="3"/>
            <a:endCxn id="31" idx="1"/>
          </p:cNvCxnSpPr>
          <p:nvPr/>
        </p:nvCxnSpPr>
        <p:spPr>
          <a:xfrm>
            <a:off x="3907167" y="2962750"/>
            <a:ext cx="591692" cy="1"/>
          </a:xfrm>
          <a:prstGeom prst="straightConnector1">
            <a:avLst/>
          </a:prstGeom>
          <a:noFill/>
          <a:ln w="28575" cap="flat" cmpd="sng">
            <a:solidFill>
              <a:srgbClr val="FFFFFF"/>
            </a:solidFill>
            <a:prstDash val="solid"/>
            <a:round/>
            <a:headEnd type="none" w="sm" len="sm"/>
            <a:tailEnd type="triangle" w="med" len="med"/>
          </a:ln>
        </p:spPr>
      </p:cxnSp>
      <p:sp>
        <p:nvSpPr>
          <p:cNvPr id="33" name="Google Shape;1634;p96">
            <a:extLst>
              <a:ext uri="{FF2B5EF4-FFF2-40B4-BE49-F238E27FC236}">
                <a16:creationId xmlns:a16="http://schemas.microsoft.com/office/drawing/2014/main" id="{BB692313-3567-869D-B745-0E4C3A06D550}"/>
              </a:ext>
            </a:extLst>
          </p:cNvPr>
          <p:cNvSpPr/>
          <p:nvPr/>
        </p:nvSpPr>
        <p:spPr>
          <a:xfrm>
            <a:off x="2746689" y="2795792"/>
            <a:ext cx="1160478" cy="333916"/>
          </a:xfrm>
          <a:prstGeom prst="flowChartProcess">
            <a:avLst/>
          </a:prstGeom>
          <a:solidFill>
            <a:schemeClr val="bg1"/>
          </a:solidFill>
          <a:ln w="9525" cap="flat" cmpd="sng">
            <a:solidFill>
              <a:schemeClr val="tx1"/>
            </a:solidFill>
            <a:prstDash val="solid"/>
            <a:round/>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dirty="0">
                <a:ln>
                  <a:noFill/>
                </a:ln>
                <a:effectLst/>
                <a:uLnTx/>
                <a:uFillTx/>
                <a:latin typeface="+mj-lt"/>
                <a:ea typeface="Red Hat Display"/>
                <a:cs typeface="Red Hat Display"/>
                <a:sym typeface="Red Hat Display"/>
              </a:rPr>
              <a:t>Test Builds</a:t>
            </a:r>
            <a:endParaRPr kumimoji="0" sz="900" b="0" i="0" u="none" strike="noStrike" kern="1200" cap="none" spc="0" normalizeH="0" baseline="0" noProof="0" dirty="0">
              <a:ln>
                <a:noFill/>
              </a:ln>
              <a:effectLst/>
              <a:uLnTx/>
              <a:uFillTx/>
              <a:latin typeface="+mj-lt"/>
              <a:ea typeface="Red Hat Display"/>
              <a:cs typeface="Red Hat Display"/>
              <a:sym typeface="Red Hat Display"/>
            </a:endParaRPr>
          </a:p>
        </p:txBody>
      </p:sp>
      <p:sp>
        <p:nvSpPr>
          <p:cNvPr id="87" name="Google Shape;1620;p96">
            <a:extLst>
              <a:ext uri="{FF2B5EF4-FFF2-40B4-BE49-F238E27FC236}">
                <a16:creationId xmlns:a16="http://schemas.microsoft.com/office/drawing/2014/main" id="{473E405F-9E69-2DCA-6224-B49570D765BA}"/>
              </a:ext>
            </a:extLst>
          </p:cNvPr>
          <p:cNvSpPr/>
          <p:nvPr/>
        </p:nvSpPr>
        <p:spPr>
          <a:xfrm>
            <a:off x="6342051" y="2793943"/>
            <a:ext cx="878732" cy="333936"/>
          </a:xfrm>
          <a:prstGeom prst="flowChartDocument">
            <a:avLst/>
          </a:prstGeom>
          <a:solidFill>
            <a:schemeClr val="bg1"/>
          </a:solidFill>
          <a:ln w="9525" cap="flat" cmpd="sng">
            <a:solidFill>
              <a:schemeClr val="tx1"/>
            </a:solidFill>
            <a:prstDash val="solid"/>
            <a:round/>
            <a:headEnd type="none" w="sm" len="sm"/>
            <a:tailEnd type="none" w="sm" len="sm"/>
          </a:ln>
        </p:spPr>
        <p:txBody>
          <a:bodyPr spcFirstLastPara="1" wrap="square" lIns="77300" tIns="0" rIns="7730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dirty="0">
                <a:ln>
                  <a:noFill/>
                </a:ln>
                <a:effectLst/>
                <a:uLnTx/>
                <a:uFillTx/>
                <a:latin typeface="+mj-lt"/>
                <a:ea typeface="Red Hat Display"/>
                <a:cs typeface="Red Hat Display"/>
                <a:sym typeface="Red Hat Display"/>
              </a:rPr>
              <a:t>QA Links</a:t>
            </a:r>
          </a:p>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dirty="0">
                <a:ln>
                  <a:noFill/>
                </a:ln>
                <a:effectLst/>
                <a:uLnTx/>
                <a:uFillTx/>
                <a:latin typeface="+mj-lt"/>
                <a:ea typeface="Red Hat Display"/>
                <a:cs typeface="Red Hat Display"/>
                <a:sym typeface="Red Hat Display"/>
              </a:rPr>
              <a:t>Delivered</a:t>
            </a:r>
            <a:endParaRPr kumimoji="0" sz="900" b="0" i="0" u="none" strike="noStrike" kern="1200" cap="none" spc="0" normalizeH="0" baseline="0" noProof="0" dirty="0">
              <a:ln>
                <a:noFill/>
              </a:ln>
              <a:effectLst/>
              <a:uLnTx/>
              <a:uFillTx/>
              <a:latin typeface="+mj-lt"/>
              <a:ea typeface="Red Hat Display"/>
              <a:cs typeface="Red Hat Display"/>
              <a:sym typeface="Red Hat Display"/>
            </a:endParaRPr>
          </a:p>
        </p:txBody>
      </p:sp>
      <p:cxnSp>
        <p:nvCxnSpPr>
          <p:cNvPr id="88" name="Google Shape;1621;p96">
            <a:extLst>
              <a:ext uri="{FF2B5EF4-FFF2-40B4-BE49-F238E27FC236}">
                <a16:creationId xmlns:a16="http://schemas.microsoft.com/office/drawing/2014/main" id="{DFD1DE0E-44D1-B210-1258-67F503660DDA}"/>
              </a:ext>
            </a:extLst>
          </p:cNvPr>
          <p:cNvCxnSpPr>
            <a:cxnSpLocks/>
            <a:stCxn id="31" idx="3"/>
            <a:endCxn id="87" idx="1"/>
          </p:cNvCxnSpPr>
          <p:nvPr/>
        </p:nvCxnSpPr>
        <p:spPr>
          <a:xfrm flipV="1">
            <a:off x="5753151" y="2960911"/>
            <a:ext cx="588900" cy="1840"/>
          </a:xfrm>
          <a:prstGeom prst="straightConnector1">
            <a:avLst/>
          </a:prstGeom>
          <a:noFill/>
          <a:ln w="28575" cap="flat" cmpd="sng">
            <a:solidFill>
              <a:srgbClr val="FFFFFF"/>
            </a:solidFill>
            <a:prstDash val="solid"/>
            <a:round/>
            <a:headEnd type="none" w="sm" len="sm"/>
            <a:tailEnd type="triangle" w="med" len="med"/>
          </a:ln>
        </p:spPr>
      </p:cxnSp>
      <p:sp>
        <p:nvSpPr>
          <p:cNvPr id="107" name="Google Shape;1607;p96">
            <a:extLst>
              <a:ext uri="{FF2B5EF4-FFF2-40B4-BE49-F238E27FC236}">
                <a16:creationId xmlns:a16="http://schemas.microsoft.com/office/drawing/2014/main" id="{A4547FE3-4845-FBFE-9FAA-98B2FFEAB3D2}"/>
              </a:ext>
            </a:extLst>
          </p:cNvPr>
          <p:cNvSpPr/>
          <p:nvPr/>
        </p:nvSpPr>
        <p:spPr>
          <a:xfrm>
            <a:off x="839734" y="4497155"/>
            <a:ext cx="10468044" cy="548640"/>
          </a:xfrm>
          <a:prstGeom prst="roundRect">
            <a:avLst>
              <a:gd name="adj" fmla="val 16667"/>
            </a:avLst>
          </a:prstGeom>
          <a:solidFill>
            <a:schemeClr val="accent1"/>
          </a:solidFill>
          <a:ln>
            <a:noFill/>
          </a:ln>
        </p:spPr>
        <p:txBody>
          <a:bodyPr spcFirstLastPara="1" wrap="square" lIns="77300" tIns="77300" rIns="77300" bIns="773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sng" strike="noStrike" kern="1200" cap="none" spc="0" normalizeH="0" baseline="0" noProof="0">
              <a:ln>
                <a:noFill/>
              </a:ln>
              <a:solidFill>
                <a:srgbClr val="002477"/>
              </a:solidFill>
              <a:effectLst/>
              <a:uLnTx/>
              <a:uFillTx/>
              <a:latin typeface="+mj-lt"/>
              <a:ea typeface="Arial"/>
              <a:cs typeface="Arial"/>
              <a:sym typeface="Arial"/>
            </a:endParaRPr>
          </a:p>
        </p:txBody>
      </p:sp>
      <p:sp>
        <p:nvSpPr>
          <p:cNvPr id="108" name="Google Shape;1645;p96">
            <a:extLst>
              <a:ext uri="{FF2B5EF4-FFF2-40B4-BE49-F238E27FC236}">
                <a16:creationId xmlns:a16="http://schemas.microsoft.com/office/drawing/2014/main" id="{111BEA92-9510-BA22-2308-61AD1D0AB746}"/>
              </a:ext>
            </a:extLst>
          </p:cNvPr>
          <p:cNvSpPr txBox="1"/>
          <p:nvPr/>
        </p:nvSpPr>
        <p:spPr>
          <a:xfrm>
            <a:off x="884854" y="4584953"/>
            <a:ext cx="1903774" cy="309638"/>
          </a:xfrm>
          <a:prstGeom prst="rect">
            <a:avLst/>
          </a:prstGeom>
          <a:noFill/>
          <a:ln>
            <a:noFill/>
          </a:ln>
        </p:spPr>
        <p:txBody>
          <a:bodyPr spcFirstLastPara="1" wrap="square" lIns="77300" tIns="77300" rIns="77300" bIns="773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 sz="1200" b="0" i="0" strike="noStrike" kern="1200" cap="none" spc="0" normalizeH="0" baseline="0" noProof="0" dirty="0">
                <a:ln>
                  <a:noFill/>
                </a:ln>
                <a:solidFill>
                  <a:schemeClr val="bg1"/>
                </a:solidFill>
                <a:effectLst/>
                <a:uLnTx/>
                <a:uFillTx/>
                <a:latin typeface="+mj-lt"/>
                <a:ea typeface="Red Hat Display"/>
                <a:cs typeface="Red Hat Display"/>
                <a:sym typeface="Red Hat Display"/>
              </a:rPr>
              <a:t>Prod Coordination</a:t>
            </a:r>
            <a:endParaRPr kumimoji="0" sz="1200" b="0" i="0" strike="noStrike" kern="1200" cap="none" spc="0" normalizeH="0" baseline="0" noProof="0" dirty="0">
              <a:ln>
                <a:noFill/>
              </a:ln>
              <a:solidFill>
                <a:schemeClr val="bg1"/>
              </a:solidFill>
              <a:effectLst/>
              <a:uLnTx/>
              <a:uFillTx/>
              <a:latin typeface="+mj-lt"/>
              <a:ea typeface="Red Hat Display"/>
              <a:cs typeface="Red Hat Display"/>
              <a:sym typeface="Red Hat Display"/>
            </a:endParaRPr>
          </a:p>
        </p:txBody>
      </p:sp>
      <p:sp>
        <p:nvSpPr>
          <p:cNvPr id="111" name="Google Shape;1640;p96">
            <a:extLst>
              <a:ext uri="{FF2B5EF4-FFF2-40B4-BE49-F238E27FC236}">
                <a16:creationId xmlns:a16="http://schemas.microsoft.com/office/drawing/2014/main" id="{61F5D8CB-BF96-9654-5363-C4FD4BB76052}"/>
              </a:ext>
            </a:extLst>
          </p:cNvPr>
          <p:cNvSpPr/>
          <p:nvPr/>
        </p:nvSpPr>
        <p:spPr>
          <a:xfrm>
            <a:off x="6028266" y="4592109"/>
            <a:ext cx="1415203" cy="338328"/>
          </a:xfrm>
          <a:prstGeom prst="flowChartProcess">
            <a:avLst/>
          </a:prstGeom>
          <a:solidFill>
            <a:schemeClr val="accent2">
              <a:lumMod val="40000"/>
              <a:lumOff val="60000"/>
            </a:schemeClr>
          </a:solidFill>
          <a:ln w="9525" cap="flat" cmpd="sng">
            <a:solidFill>
              <a:schemeClr val="tx1"/>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500"/>
              <a:buFont typeface="Arial"/>
              <a:buNone/>
            </a:pPr>
            <a:r>
              <a:rPr lang="en" sz="900" b="0" i="0" u="none" strike="noStrike" cap="none" dirty="0">
                <a:latin typeface="+mj-lt"/>
                <a:ea typeface="Red Hat Display"/>
                <a:cs typeface="Red Hat Display"/>
                <a:sym typeface="Red Hat Display"/>
              </a:rPr>
              <a:t>Prod team alerts w</a:t>
            </a:r>
            <a:r>
              <a:rPr lang="en-US" sz="900" b="0" i="0" u="none" strike="noStrike" cap="none" dirty="0">
                <a:latin typeface="+mj-lt"/>
                <a:ea typeface="Red Hat Display"/>
                <a:cs typeface="Red Hat Display"/>
                <a:sym typeface="Red Hat Display"/>
              </a:rPr>
              <a:t>he</a:t>
            </a:r>
            <a:r>
              <a:rPr lang="en" sz="900" dirty="0">
                <a:latin typeface="+mj-lt"/>
                <a:ea typeface="Red Hat Display"/>
                <a:cs typeface="Red Hat Display"/>
                <a:sym typeface="Red Hat Display"/>
              </a:rPr>
              <a:t>n request work ends</a:t>
            </a:r>
            <a:endParaRPr sz="900" b="0" i="0" u="none" strike="noStrike" cap="none" dirty="0">
              <a:latin typeface="+mj-lt"/>
              <a:ea typeface="Red Hat Display"/>
              <a:cs typeface="Red Hat Display"/>
              <a:sym typeface="Red Hat Display"/>
            </a:endParaRPr>
          </a:p>
        </p:txBody>
      </p:sp>
      <p:sp>
        <p:nvSpPr>
          <p:cNvPr id="113" name="Google Shape;1640;p96">
            <a:extLst>
              <a:ext uri="{FF2B5EF4-FFF2-40B4-BE49-F238E27FC236}">
                <a16:creationId xmlns:a16="http://schemas.microsoft.com/office/drawing/2014/main" id="{3F1FF0EE-3E5D-DD65-B622-8D63643ED36C}"/>
              </a:ext>
            </a:extLst>
          </p:cNvPr>
          <p:cNvSpPr/>
          <p:nvPr/>
        </p:nvSpPr>
        <p:spPr>
          <a:xfrm>
            <a:off x="9745249" y="4592109"/>
            <a:ext cx="1377097" cy="338328"/>
          </a:xfrm>
          <a:prstGeom prst="flowChartProcess">
            <a:avLst/>
          </a:prstGeom>
          <a:solidFill>
            <a:schemeClr val="bg1"/>
          </a:solidFill>
          <a:ln w="9525" cap="flat" cmpd="sng">
            <a:solidFill>
              <a:schemeClr val="tx1"/>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500"/>
              <a:buFont typeface="Arial"/>
              <a:buNone/>
            </a:pPr>
            <a:r>
              <a:rPr lang="en-US" sz="900" b="0" i="0" u="none" strike="noStrike" cap="none">
                <a:latin typeface="+mj-lt"/>
                <a:ea typeface="Red Hat Display"/>
                <a:cs typeface="Red Hat Display"/>
                <a:sym typeface="Red Hat Display"/>
              </a:rPr>
              <a:t>CRO coordinates Target experience shut off</a:t>
            </a:r>
            <a:endParaRPr sz="900" b="0" i="0" u="none" strike="noStrike" cap="none">
              <a:latin typeface="+mj-lt"/>
              <a:ea typeface="Red Hat Display"/>
              <a:cs typeface="Red Hat Display"/>
              <a:sym typeface="Red Hat Display"/>
            </a:endParaRPr>
          </a:p>
        </p:txBody>
      </p:sp>
      <p:cxnSp>
        <p:nvCxnSpPr>
          <p:cNvPr id="115" name="Google Shape;1657;p96">
            <a:extLst>
              <a:ext uri="{FF2B5EF4-FFF2-40B4-BE49-F238E27FC236}">
                <a16:creationId xmlns:a16="http://schemas.microsoft.com/office/drawing/2014/main" id="{9B9A7AAF-6C08-3FFD-A2FC-2804D47EBF57}"/>
              </a:ext>
            </a:extLst>
          </p:cNvPr>
          <p:cNvCxnSpPr>
            <a:cxnSpLocks/>
            <a:stCxn id="111" idx="3"/>
            <a:endCxn id="113" idx="1"/>
          </p:cNvCxnSpPr>
          <p:nvPr/>
        </p:nvCxnSpPr>
        <p:spPr>
          <a:xfrm>
            <a:off x="7443469" y="4761273"/>
            <a:ext cx="2301780" cy="0"/>
          </a:xfrm>
          <a:prstGeom prst="straightConnector1">
            <a:avLst/>
          </a:prstGeom>
          <a:solidFill>
            <a:schemeClr val="tx1"/>
          </a:solidFill>
          <a:ln w="28575" cap="flat" cmpd="sng">
            <a:solidFill>
              <a:srgbClr val="FFFFFF"/>
            </a:solidFill>
            <a:prstDash val="solid"/>
            <a:round/>
            <a:headEnd type="none" w="sm" len="sm"/>
            <a:tailEnd type="triangle" w="med" len="med"/>
          </a:ln>
        </p:spPr>
      </p:cxnSp>
      <p:sp>
        <p:nvSpPr>
          <p:cNvPr id="105" name="Google Shape;1640;p96">
            <a:extLst>
              <a:ext uri="{FF2B5EF4-FFF2-40B4-BE49-F238E27FC236}">
                <a16:creationId xmlns:a16="http://schemas.microsoft.com/office/drawing/2014/main" id="{1AB39830-0E3F-887D-9238-0813040E97DE}"/>
              </a:ext>
            </a:extLst>
          </p:cNvPr>
          <p:cNvSpPr/>
          <p:nvPr/>
        </p:nvSpPr>
        <p:spPr>
          <a:xfrm>
            <a:off x="2648762" y="4588646"/>
            <a:ext cx="1252942" cy="338328"/>
          </a:xfrm>
          <a:prstGeom prst="flowChartProcess">
            <a:avLst/>
          </a:prstGeom>
          <a:solidFill>
            <a:schemeClr val="accent2">
              <a:lumMod val="40000"/>
              <a:lumOff val="60000"/>
            </a:schemeClr>
          </a:solidFill>
          <a:ln w="9525" cap="flat" cmpd="sng">
            <a:solidFill>
              <a:schemeClr val="tx1"/>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500"/>
              <a:buFont typeface="Arial"/>
              <a:buNone/>
            </a:pPr>
            <a:r>
              <a:rPr lang="en-US" sz="900" b="0" i="0" u="none" strike="noStrike" cap="none" dirty="0">
                <a:latin typeface="+mj-lt"/>
                <a:ea typeface="Red Hat Display"/>
                <a:cs typeface="Red Hat Display"/>
                <a:sym typeface="Red Hat Display"/>
              </a:rPr>
              <a:t>Submit prod transfer Request</a:t>
            </a:r>
            <a:endParaRPr sz="900" b="0" i="0" u="none" strike="noStrike" cap="none" dirty="0">
              <a:latin typeface="+mj-lt"/>
              <a:ea typeface="Red Hat Display"/>
              <a:cs typeface="Red Hat Display"/>
              <a:sym typeface="Red Hat Display"/>
            </a:endParaRPr>
          </a:p>
        </p:txBody>
      </p:sp>
      <p:cxnSp>
        <p:nvCxnSpPr>
          <p:cNvPr id="106" name="Google Shape;1657;p96">
            <a:extLst>
              <a:ext uri="{FF2B5EF4-FFF2-40B4-BE49-F238E27FC236}">
                <a16:creationId xmlns:a16="http://schemas.microsoft.com/office/drawing/2014/main" id="{6AD893E3-EFA0-3E76-57E7-D8955BD8E732}"/>
              </a:ext>
            </a:extLst>
          </p:cNvPr>
          <p:cNvCxnSpPr>
            <a:cxnSpLocks/>
            <a:stCxn id="105" idx="3"/>
            <a:endCxn id="111" idx="1"/>
          </p:cNvCxnSpPr>
          <p:nvPr/>
        </p:nvCxnSpPr>
        <p:spPr>
          <a:xfrm>
            <a:off x="3901704" y="4757810"/>
            <a:ext cx="2126562" cy="3463"/>
          </a:xfrm>
          <a:prstGeom prst="straightConnector1">
            <a:avLst/>
          </a:prstGeom>
          <a:solidFill>
            <a:schemeClr val="tx1"/>
          </a:solidFill>
          <a:ln w="28575" cap="flat" cmpd="sng">
            <a:solidFill>
              <a:srgbClr val="FFFFFF"/>
            </a:solidFill>
            <a:prstDash val="solid"/>
            <a:round/>
            <a:headEnd type="none" w="sm" len="sm"/>
            <a:tailEnd type="triangle" w="med" len="med"/>
          </a:ln>
        </p:spPr>
      </p:cxnSp>
      <p:sp>
        <p:nvSpPr>
          <p:cNvPr id="38" name="Google Shape;1602;p96">
            <a:extLst>
              <a:ext uri="{FF2B5EF4-FFF2-40B4-BE49-F238E27FC236}">
                <a16:creationId xmlns:a16="http://schemas.microsoft.com/office/drawing/2014/main" id="{AA2F6530-1780-30A0-B873-6A7B7279A5E2}"/>
              </a:ext>
            </a:extLst>
          </p:cNvPr>
          <p:cNvSpPr/>
          <p:nvPr/>
        </p:nvSpPr>
        <p:spPr>
          <a:xfrm>
            <a:off x="855012" y="2105840"/>
            <a:ext cx="10396500" cy="548640"/>
          </a:xfrm>
          <a:prstGeom prst="roundRect">
            <a:avLst>
              <a:gd name="adj" fmla="val 16667"/>
            </a:avLst>
          </a:prstGeom>
          <a:solidFill>
            <a:schemeClr val="accent1"/>
          </a:solidFill>
          <a:ln>
            <a:noFill/>
          </a:ln>
        </p:spPr>
        <p:txBody>
          <a:bodyPr spcFirstLastPara="1" wrap="square" lIns="77300" tIns="77300" rIns="77300" bIns="773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002477"/>
              </a:solidFill>
              <a:effectLst/>
              <a:uLnTx/>
              <a:uFillTx/>
              <a:latin typeface="+mj-lt"/>
              <a:ea typeface="Arial"/>
              <a:cs typeface="Arial"/>
              <a:sym typeface="Arial"/>
            </a:endParaRPr>
          </a:p>
        </p:txBody>
      </p:sp>
      <p:sp>
        <p:nvSpPr>
          <p:cNvPr id="40" name="Google Shape;1606;p96">
            <a:extLst>
              <a:ext uri="{FF2B5EF4-FFF2-40B4-BE49-F238E27FC236}">
                <a16:creationId xmlns:a16="http://schemas.microsoft.com/office/drawing/2014/main" id="{7BB2CA17-3F38-A344-23AE-D1E3E36ACA64}"/>
              </a:ext>
            </a:extLst>
          </p:cNvPr>
          <p:cNvSpPr txBox="1"/>
          <p:nvPr/>
        </p:nvSpPr>
        <p:spPr>
          <a:xfrm>
            <a:off x="910328" y="2205110"/>
            <a:ext cx="1644300" cy="350100"/>
          </a:xfrm>
          <a:prstGeom prst="rect">
            <a:avLst/>
          </a:prstGeom>
          <a:noFill/>
          <a:ln>
            <a:noFill/>
          </a:ln>
        </p:spPr>
        <p:txBody>
          <a:bodyPr spcFirstLastPara="1" wrap="square" lIns="77300" tIns="77300" rIns="77300" bIns="773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 sz="1200" b="0" i="0" u="none" strike="noStrike" kern="1200" cap="none" spc="0" normalizeH="0" baseline="0" noProof="0">
                <a:ln>
                  <a:noFill/>
                </a:ln>
                <a:solidFill>
                  <a:schemeClr val="bg1"/>
                </a:solidFill>
                <a:effectLst/>
                <a:uLnTx/>
                <a:uFillTx/>
                <a:latin typeface="+mj-lt"/>
                <a:ea typeface="Red Hat Display"/>
                <a:cs typeface="Red Hat Display"/>
                <a:sym typeface="Red Hat Display"/>
              </a:rPr>
              <a:t>Creative Fulfillment</a:t>
            </a:r>
            <a:endParaRPr kumimoji="0" sz="1200" b="0" i="0" u="none" strike="noStrike" kern="1200" cap="none" spc="0" normalizeH="0" baseline="0" noProof="0">
              <a:ln>
                <a:noFill/>
              </a:ln>
              <a:solidFill>
                <a:schemeClr val="bg1"/>
              </a:solidFill>
              <a:effectLst/>
              <a:uLnTx/>
              <a:uFillTx/>
              <a:latin typeface="+mj-lt"/>
              <a:ea typeface="Red Hat Display"/>
              <a:cs typeface="Red Hat Display"/>
              <a:sym typeface="Red Hat Display"/>
            </a:endParaRPr>
          </a:p>
        </p:txBody>
      </p:sp>
      <p:sp>
        <p:nvSpPr>
          <p:cNvPr id="45" name="Google Shape;1619;p96">
            <a:extLst>
              <a:ext uri="{FF2B5EF4-FFF2-40B4-BE49-F238E27FC236}">
                <a16:creationId xmlns:a16="http://schemas.microsoft.com/office/drawing/2014/main" id="{167B1AE0-41EF-D894-82C2-359DF8699D09}"/>
              </a:ext>
            </a:extLst>
          </p:cNvPr>
          <p:cNvSpPr/>
          <p:nvPr/>
        </p:nvSpPr>
        <p:spPr>
          <a:xfrm>
            <a:off x="3964609" y="2213060"/>
            <a:ext cx="1058100" cy="334200"/>
          </a:xfrm>
          <a:prstGeom prst="flowChartDocument">
            <a:avLst/>
          </a:prstGeom>
          <a:solidFill>
            <a:schemeClr val="accent5">
              <a:lumMod val="40000"/>
              <a:lumOff val="60000"/>
            </a:schemeClr>
          </a:solidFill>
          <a:ln w="9525" cap="flat" cmpd="sng">
            <a:solidFill>
              <a:schemeClr val="tx2">
                <a:lumMod val="60000"/>
                <a:lumOff val="40000"/>
              </a:schemeClr>
            </a:solidFill>
            <a:prstDash val="solid"/>
            <a:round/>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dirty="0">
                <a:ln>
                  <a:noFill/>
                </a:ln>
                <a:effectLst/>
                <a:uLnTx/>
                <a:uFillTx/>
                <a:latin typeface="+mj-lt"/>
                <a:ea typeface="Red Hat Display"/>
                <a:cs typeface="Red Hat Display"/>
                <a:sym typeface="Red Hat Display"/>
              </a:rPr>
              <a:t>Simplified Brief Developed</a:t>
            </a:r>
            <a:endParaRPr kumimoji="0" sz="900" b="0" i="0" u="none" strike="noStrike" kern="1200" cap="none" spc="0" normalizeH="0" baseline="0" noProof="0" dirty="0">
              <a:ln>
                <a:noFill/>
              </a:ln>
              <a:effectLst/>
              <a:uLnTx/>
              <a:uFillTx/>
              <a:latin typeface="+mj-lt"/>
              <a:ea typeface="Red Hat Display"/>
              <a:cs typeface="Red Hat Display"/>
              <a:sym typeface="Red Hat Display"/>
            </a:endParaRPr>
          </a:p>
        </p:txBody>
      </p:sp>
      <p:sp>
        <p:nvSpPr>
          <p:cNvPr id="123" name="Google Shape;1605;p96">
            <a:extLst>
              <a:ext uri="{FF2B5EF4-FFF2-40B4-BE49-F238E27FC236}">
                <a16:creationId xmlns:a16="http://schemas.microsoft.com/office/drawing/2014/main" id="{D688CCD2-BEDC-C401-6206-747F802BBF8F}"/>
              </a:ext>
            </a:extLst>
          </p:cNvPr>
          <p:cNvSpPr/>
          <p:nvPr/>
        </p:nvSpPr>
        <p:spPr>
          <a:xfrm>
            <a:off x="7415120" y="2210312"/>
            <a:ext cx="1058100" cy="334200"/>
          </a:xfrm>
          <a:prstGeom prst="rect">
            <a:avLst/>
          </a:prstGeom>
          <a:gradFill>
            <a:gsLst>
              <a:gs pos="0">
                <a:schemeClr val="accent1"/>
              </a:gs>
              <a:gs pos="100000">
                <a:schemeClr val="bg1"/>
              </a:gs>
            </a:gsLst>
            <a:lin ang="0" scaled="1"/>
          </a:gradFill>
          <a:ln w="9525" cap="flat" cmpd="sng">
            <a:solidFill>
              <a:schemeClr val="tx1"/>
            </a:solidFill>
            <a:prstDash val="solid"/>
            <a:round/>
            <a:headEnd type="none" w="sm" len="sm"/>
            <a:tailEnd type="none" w="sm" len="sm"/>
          </a:ln>
        </p:spPr>
        <p:txBody>
          <a:bodyPr spcFirstLastPara="1" wrap="square" lIns="77300" tIns="0" rIns="7730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dirty="0">
                <a:ln>
                  <a:noFill/>
                </a:ln>
                <a:effectLst/>
                <a:uLnTx/>
                <a:uFillTx/>
                <a:latin typeface="+mj-lt"/>
                <a:ea typeface="Red Hat Display"/>
                <a:cs typeface="Red Hat Display"/>
                <a:sym typeface="Red Hat Display"/>
              </a:rPr>
              <a:t>Creative Input</a:t>
            </a:r>
            <a:endParaRPr kumimoji="0" sz="900" b="0" i="0" u="none" strike="noStrike" kern="1200" cap="none" spc="0" normalizeH="0" baseline="0" noProof="0" dirty="0">
              <a:ln>
                <a:noFill/>
              </a:ln>
              <a:effectLst/>
              <a:uLnTx/>
              <a:uFillTx/>
              <a:latin typeface="+mj-lt"/>
              <a:ea typeface="Red Hat Display"/>
              <a:cs typeface="Red Hat Display"/>
              <a:sym typeface="Red Hat Display"/>
            </a:endParaRPr>
          </a:p>
        </p:txBody>
      </p:sp>
      <p:cxnSp>
        <p:nvCxnSpPr>
          <p:cNvPr id="124" name="Google Shape;1621;p96">
            <a:extLst>
              <a:ext uri="{FF2B5EF4-FFF2-40B4-BE49-F238E27FC236}">
                <a16:creationId xmlns:a16="http://schemas.microsoft.com/office/drawing/2014/main" id="{7114569C-BD7D-FB1B-F20E-351F2007AEA5}"/>
              </a:ext>
            </a:extLst>
          </p:cNvPr>
          <p:cNvCxnSpPr>
            <a:cxnSpLocks/>
            <a:endCxn id="123" idx="1"/>
          </p:cNvCxnSpPr>
          <p:nvPr/>
        </p:nvCxnSpPr>
        <p:spPr>
          <a:xfrm flipV="1">
            <a:off x="5022709" y="2377412"/>
            <a:ext cx="2392411" cy="2748"/>
          </a:xfrm>
          <a:prstGeom prst="straightConnector1">
            <a:avLst/>
          </a:prstGeom>
          <a:noFill/>
          <a:ln w="28575" cap="flat" cmpd="sng">
            <a:solidFill>
              <a:srgbClr val="FFFFFF"/>
            </a:solidFill>
            <a:prstDash val="solid"/>
            <a:round/>
            <a:headEnd type="none" w="sm" len="sm"/>
            <a:tailEnd type="triangle" w="med" len="med"/>
          </a:ln>
        </p:spPr>
      </p:cxnSp>
      <p:sp>
        <p:nvSpPr>
          <p:cNvPr id="95" name="Google Shape;1601;p96">
            <a:extLst>
              <a:ext uri="{FF2B5EF4-FFF2-40B4-BE49-F238E27FC236}">
                <a16:creationId xmlns:a16="http://schemas.microsoft.com/office/drawing/2014/main" id="{885C92DE-965A-F3E2-A5AE-B08A01EC97F5}"/>
              </a:ext>
            </a:extLst>
          </p:cNvPr>
          <p:cNvSpPr/>
          <p:nvPr/>
        </p:nvSpPr>
        <p:spPr>
          <a:xfrm>
            <a:off x="850575" y="1513275"/>
            <a:ext cx="10396500" cy="548640"/>
          </a:xfrm>
          <a:prstGeom prst="roundRect">
            <a:avLst>
              <a:gd name="adj" fmla="val 16667"/>
            </a:avLst>
          </a:prstGeom>
          <a:solidFill>
            <a:schemeClr val="bg1">
              <a:lumMod val="65000"/>
            </a:schemeClr>
          </a:solidFill>
          <a:ln>
            <a:noFill/>
          </a:ln>
        </p:spPr>
        <p:txBody>
          <a:bodyPr spcFirstLastPara="1" wrap="square" lIns="77300" tIns="77300" rIns="77300" bIns="773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002477"/>
              </a:solidFill>
              <a:effectLst/>
              <a:uLnTx/>
              <a:uFillTx/>
              <a:latin typeface="+mj-lt"/>
              <a:ea typeface="Arial"/>
              <a:cs typeface="Arial"/>
              <a:sym typeface="Arial"/>
            </a:endParaRPr>
          </a:p>
        </p:txBody>
      </p:sp>
      <p:sp>
        <p:nvSpPr>
          <p:cNvPr id="100" name="Google Shape;1642;p96">
            <a:extLst>
              <a:ext uri="{FF2B5EF4-FFF2-40B4-BE49-F238E27FC236}">
                <a16:creationId xmlns:a16="http://schemas.microsoft.com/office/drawing/2014/main" id="{1B8F6DF1-872E-183B-25A4-7B8A8D6D2243}"/>
              </a:ext>
            </a:extLst>
          </p:cNvPr>
          <p:cNvSpPr txBox="1"/>
          <p:nvPr/>
        </p:nvSpPr>
        <p:spPr>
          <a:xfrm>
            <a:off x="993423" y="1612545"/>
            <a:ext cx="1090058" cy="350100"/>
          </a:xfrm>
          <a:prstGeom prst="rect">
            <a:avLst/>
          </a:prstGeom>
          <a:noFill/>
          <a:ln>
            <a:noFill/>
          </a:ln>
        </p:spPr>
        <p:txBody>
          <a:bodyPr spcFirstLastPara="1" wrap="square" lIns="77300" tIns="77300" rIns="77300" bIns="773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 sz="1200" b="0" i="0" u="none" strike="noStrike" kern="1200" cap="none" spc="0" normalizeH="0" baseline="0" noProof="0" dirty="0">
                <a:ln>
                  <a:noFill/>
                </a:ln>
                <a:effectLst/>
                <a:uLnTx/>
                <a:uFillTx/>
                <a:latin typeface="+mj-lt"/>
                <a:ea typeface="Red Hat Display"/>
                <a:cs typeface="Red Hat Display"/>
                <a:sym typeface="Red Hat Display"/>
              </a:rPr>
              <a:t>Ideation</a:t>
            </a:r>
            <a:endParaRPr kumimoji="0" sz="1200" b="0" i="0" u="none" strike="noStrike" kern="1200" cap="none" spc="0" normalizeH="0" baseline="0" noProof="0" dirty="0">
              <a:ln>
                <a:noFill/>
              </a:ln>
              <a:effectLst/>
              <a:uLnTx/>
              <a:uFillTx/>
              <a:latin typeface="+mj-lt"/>
              <a:ea typeface="Red Hat Display"/>
              <a:cs typeface="Red Hat Display"/>
              <a:sym typeface="Red Hat Display"/>
            </a:endParaRPr>
          </a:p>
        </p:txBody>
      </p:sp>
      <p:sp>
        <p:nvSpPr>
          <p:cNvPr id="101" name="Google Shape;1619;p96">
            <a:extLst>
              <a:ext uri="{FF2B5EF4-FFF2-40B4-BE49-F238E27FC236}">
                <a16:creationId xmlns:a16="http://schemas.microsoft.com/office/drawing/2014/main" id="{44515EF2-6B3C-2FE4-6376-F373E464A439}"/>
              </a:ext>
            </a:extLst>
          </p:cNvPr>
          <p:cNvSpPr/>
          <p:nvPr/>
        </p:nvSpPr>
        <p:spPr>
          <a:xfrm>
            <a:off x="7780527" y="1620495"/>
            <a:ext cx="886496" cy="334200"/>
          </a:xfrm>
          <a:prstGeom prst="flowChartDocument">
            <a:avLst/>
          </a:prstGeom>
          <a:solidFill>
            <a:srgbClr val="FFFFFF"/>
          </a:solidFill>
          <a:ln w="9525" cap="flat" cmpd="sng">
            <a:solidFill>
              <a:schemeClr val="tx1"/>
            </a:solidFill>
            <a:prstDash val="solid"/>
            <a:round/>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dirty="0">
                <a:ln>
                  <a:noFill/>
                </a:ln>
                <a:effectLst/>
                <a:uLnTx/>
                <a:uFillTx/>
                <a:latin typeface="+mj-lt"/>
                <a:ea typeface="Red Hat Display"/>
                <a:cs typeface="Red Hat Display"/>
                <a:sym typeface="Red Hat Display"/>
              </a:rPr>
              <a:t>Test Concept Delivered</a:t>
            </a:r>
            <a:endParaRPr kumimoji="0" sz="900" b="0" i="0" u="none" strike="noStrike" kern="1200" cap="none" spc="0" normalizeH="0" baseline="0" noProof="0" dirty="0">
              <a:ln>
                <a:noFill/>
              </a:ln>
              <a:effectLst/>
              <a:uLnTx/>
              <a:uFillTx/>
              <a:latin typeface="+mj-lt"/>
              <a:ea typeface="Red Hat Display"/>
              <a:cs typeface="Red Hat Display"/>
              <a:sym typeface="Red Hat Display"/>
            </a:endParaRPr>
          </a:p>
        </p:txBody>
      </p:sp>
      <p:sp>
        <p:nvSpPr>
          <p:cNvPr id="118" name="Google Shape;1619;p96">
            <a:extLst>
              <a:ext uri="{FF2B5EF4-FFF2-40B4-BE49-F238E27FC236}">
                <a16:creationId xmlns:a16="http://schemas.microsoft.com/office/drawing/2014/main" id="{B02EE527-2B77-E022-7E13-FBE967FA2080}"/>
              </a:ext>
            </a:extLst>
          </p:cNvPr>
          <p:cNvSpPr/>
          <p:nvPr/>
        </p:nvSpPr>
        <p:spPr>
          <a:xfrm>
            <a:off x="2561721" y="1620495"/>
            <a:ext cx="1291586" cy="334200"/>
          </a:xfrm>
          <a:prstGeom prst="rect">
            <a:avLst/>
          </a:prstGeom>
          <a:solidFill>
            <a:srgbClr val="FFFFFF"/>
          </a:solidFill>
          <a:ln w="9525" cap="flat" cmpd="sng">
            <a:solidFill>
              <a:schemeClr val="tx1"/>
            </a:solidFill>
            <a:prstDash val="dash"/>
            <a:round/>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dirty="0">
                <a:ln>
                  <a:noFill/>
                </a:ln>
                <a:effectLst/>
                <a:uLnTx/>
                <a:uFillTx/>
                <a:latin typeface="+mj-lt"/>
                <a:ea typeface="Red Hat Display"/>
                <a:cs typeface="Red Hat Display"/>
                <a:sym typeface="Red Hat Display"/>
              </a:rPr>
              <a:t>Competitive Research  Client Request</a:t>
            </a:r>
            <a:endParaRPr kumimoji="0" sz="900" b="0" i="0" u="none" strike="noStrike" kern="1200" cap="none" spc="0" normalizeH="0" baseline="0" noProof="0" dirty="0">
              <a:ln>
                <a:noFill/>
              </a:ln>
              <a:effectLst/>
              <a:uLnTx/>
              <a:uFillTx/>
              <a:latin typeface="+mj-lt"/>
              <a:ea typeface="Red Hat Display"/>
              <a:cs typeface="Red Hat Display"/>
              <a:sym typeface="Red Hat Display"/>
            </a:endParaRPr>
          </a:p>
        </p:txBody>
      </p:sp>
      <p:cxnSp>
        <p:nvCxnSpPr>
          <p:cNvPr id="4" name="Google Shape;1621;p96">
            <a:extLst>
              <a:ext uri="{FF2B5EF4-FFF2-40B4-BE49-F238E27FC236}">
                <a16:creationId xmlns:a16="http://schemas.microsoft.com/office/drawing/2014/main" id="{43FB9862-0193-139B-FC68-CA70E645F123}"/>
              </a:ext>
            </a:extLst>
          </p:cNvPr>
          <p:cNvCxnSpPr>
            <a:cxnSpLocks/>
            <a:stCxn id="118" idx="3"/>
            <a:endCxn id="6" idx="1"/>
          </p:cNvCxnSpPr>
          <p:nvPr/>
        </p:nvCxnSpPr>
        <p:spPr>
          <a:xfrm flipV="1">
            <a:off x="3853307" y="1786419"/>
            <a:ext cx="1384739" cy="1176"/>
          </a:xfrm>
          <a:prstGeom prst="straightConnector1">
            <a:avLst/>
          </a:prstGeom>
          <a:noFill/>
          <a:ln w="28575" cap="flat" cmpd="sng">
            <a:solidFill>
              <a:srgbClr val="FFFFFF"/>
            </a:solidFill>
            <a:prstDash val="solid"/>
            <a:round/>
            <a:headEnd type="none" w="sm" len="sm"/>
            <a:tailEnd type="triangle" w="med" len="med"/>
          </a:ln>
        </p:spPr>
      </p:cxnSp>
      <p:sp>
        <p:nvSpPr>
          <p:cNvPr id="6" name="Google Shape;1619;p96">
            <a:extLst>
              <a:ext uri="{FF2B5EF4-FFF2-40B4-BE49-F238E27FC236}">
                <a16:creationId xmlns:a16="http://schemas.microsoft.com/office/drawing/2014/main" id="{A41555E1-00A5-4D45-4BE3-7697FE05CAAB}"/>
              </a:ext>
            </a:extLst>
          </p:cNvPr>
          <p:cNvSpPr/>
          <p:nvPr/>
        </p:nvSpPr>
        <p:spPr>
          <a:xfrm>
            <a:off x="5238046" y="1619319"/>
            <a:ext cx="1291586" cy="334200"/>
          </a:xfrm>
          <a:prstGeom prst="rect">
            <a:avLst/>
          </a:prstGeom>
          <a:solidFill>
            <a:srgbClr val="FFFFFF"/>
          </a:solidFill>
          <a:ln w="9525" cap="flat" cmpd="sng">
            <a:solidFill>
              <a:schemeClr val="tx1"/>
            </a:solidFill>
            <a:prstDash val="solid"/>
            <a:round/>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dirty="0">
                <a:ln>
                  <a:noFill/>
                </a:ln>
                <a:effectLst/>
                <a:uLnTx/>
                <a:uFillTx/>
                <a:latin typeface="+mj-lt"/>
                <a:ea typeface="Red Hat Display"/>
                <a:cs typeface="Red Hat Display"/>
                <a:sym typeface="Red Hat Display"/>
              </a:rPr>
              <a:t>Test Concept Developed</a:t>
            </a:r>
            <a:endParaRPr kumimoji="0" sz="900" b="0" i="0" u="none" strike="noStrike" kern="1200" cap="none" spc="0" normalizeH="0" baseline="0" noProof="0" dirty="0">
              <a:ln>
                <a:noFill/>
              </a:ln>
              <a:effectLst/>
              <a:uLnTx/>
              <a:uFillTx/>
              <a:latin typeface="+mj-lt"/>
              <a:ea typeface="Red Hat Display"/>
              <a:cs typeface="Red Hat Display"/>
              <a:sym typeface="Red Hat Display"/>
            </a:endParaRPr>
          </a:p>
        </p:txBody>
      </p:sp>
      <p:cxnSp>
        <p:nvCxnSpPr>
          <p:cNvPr id="8" name="Google Shape;1621;p96">
            <a:extLst>
              <a:ext uri="{FF2B5EF4-FFF2-40B4-BE49-F238E27FC236}">
                <a16:creationId xmlns:a16="http://schemas.microsoft.com/office/drawing/2014/main" id="{BE02CAED-E7ED-6B07-E9CD-222EFA326A78}"/>
              </a:ext>
            </a:extLst>
          </p:cNvPr>
          <p:cNvCxnSpPr>
            <a:cxnSpLocks/>
            <a:stCxn id="6" idx="3"/>
            <a:endCxn id="101" idx="1"/>
          </p:cNvCxnSpPr>
          <p:nvPr/>
        </p:nvCxnSpPr>
        <p:spPr>
          <a:xfrm>
            <a:off x="6529632" y="1786419"/>
            <a:ext cx="1250895" cy="1176"/>
          </a:xfrm>
          <a:prstGeom prst="straightConnector1">
            <a:avLst/>
          </a:prstGeom>
          <a:noFill/>
          <a:ln w="28575" cap="flat" cmpd="sng">
            <a:solidFill>
              <a:srgbClr val="FFFFFF"/>
            </a:solidFill>
            <a:prstDash val="solid"/>
            <a:round/>
            <a:headEnd type="none" w="sm" len="sm"/>
            <a:tailEnd type="triangle" w="med" len="med"/>
          </a:ln>
        </p:spPr>
      </p:cxnSp>
      <p:sp>
        <p:nvSpPr>
          <p:cNvPr id="11" name="Google Shape;1628;p96">
            <a:extLst>
              <a:ext uri="{FF2B5EF4-FFF2-40B4-BE49-F238E27FC236}">
                <a16:creationId xmlns:a16="http://schemas.microsoft.com/office/drawing/2014/main" id="{B1BA5175-C074-8AB0-FDF6-F245C889F595}"/>
              </a:ext>
            </a:extLst>
          </p:cNvPr>
          <p:cNvSpPr/>
          <p:nvPr/>
        </p:nvSpPr>
        <p:spPr>
          <a:xfrm>
            <a:off x="9815575" y="1606600"/>
            <a:ext cx="1246883" cy="373024"/>
          </a:xfrm>
          <a:prstGeom prst="flowChartPredefinedProcess">
            <a:avLst/>
          </a:prstGeom>
          <a:solidFill>
            <a:schemeClr val="accent2">
              <a:lumMod val="40000"/>
              <a:lumOff val="60000"/>
            </a:schemeClr>
          </a:solidFill>
          <a:ln w="3175" cap="flat" cmpd="sng">
            <a:solidFill>
              <a:schemeClr val="tx2"/>
            </a:solidFill>
            <a:prstDash val="solid"/>
            <a:round/>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dirty="0">
                <a:ln>
                  <a:noFill/>
                </a:ln>
                <a:effectLst/>
                <a:uLnTx/>
                <a:uFillTx/>
                <a:latin typeface="+mj-lt"/>
                <a:ea typeface="Red Hat Display"/>
                <a:cs typeface="Red Hat Display"/>
                <a:sym typeface="Red Hat Display"/>
              </a:rPr>
              <a:t>Concept Approved</a:t>
            </a:r>
            <a:endParaRPr kumimoji="0" sz="900" b="0" i="0" u="none" strike="noStrike" kern="1200" cap="none" spc="0" normalizeH="0" baseline="0" noProof="0" dirty="0">
              <a:ln>
                <a:noFill/>
              </a:ln>
              <a:effectLst/>
              <a:uLnTx/>
              <a:uFillTx/>
              <a:latin typeface="+mj-lt"/>
              <a:ea typeface="Red Hat Display"/>
              <a:cs typeface="Red Hat Display"/>
              <a:sym typeface="Red Hat Display"/>
            </a:endParaRPr>
          </a:p>
        </p:txBody>
      </p:sp>
      <p:cxnSp>
        <p:nvCxnSpPr>
          <p:cNvPr id="12" name="Google Shape;1621;p96">
            <a:extLst>
              <a:ext uri="{FF2B5EF4-FFF2-40B4-BE49-F238E27FC236}">
                <a16:creationId xmlns:a16="http://schemas.microsoft.com/office/drawing/2014/main" id="{EAC3FF8D-3BD2-EEA6-ED73-53E95870E426}"/>
              </a:ext>
            </a:extLst>
          </p:cNvPr>
          <p:cNvCxnSpPr>
            <a:cxnSpLocks/>
            <a:stCxn id="101" idx="3"/>
            <a:endCxn id="11" idx="1"/>
          </p:cNvCxnSpPr>
          <p:nvPr/>
        </p:nvCxnSpPr>
        <p:spPr>
          <a:xfrm>
            <a:off x="8667023" y="1787595"/>
            <a:ext cx="1148552" cy="5517"/>
          </a:xfrm>
          <a:prstGeom prst="straightConnector1">
            <a:avLst/>
          </a:prstGeom>
          <a:noFill/>
          <a:ln w="28575" cap="flat" cmpd="sng">
            <a:solidFill>
              <a:srgbClr val="FFFFFF"/>
            </a:solidFill>
            <a:prstDash val="solid"/>
            <a:round/>
            <a:headEnd type="none" w="sm" len="sm"/>
            <a:tailEnd type="triangle" w="med" len="med"/>
          </a:ln>
        </p:spPr>
      </p:cxnSp>
      <p:sp>
        <p:nvSpPr>
          <p:cNvPr id="21" name="Google Shape;1622;p96">
            <a:extLst>
              <a:ext uri="{FF2B5EF4-FFF2-40B4-BE49-F238E27FC236}">
                <a16:creationId xmlns:a16="http://schemas.microsoft.com/office/drawing/2014/main" id="{371C9A30-61A0-132E-4AF4-576F0368A16B}"/>
              </a:ext>
            </a:extLst>
          </p:cNvPr>
          <p:cNvSpPr/>
          <p:nvPr/>
        </p:nvSpPr>
        <p:spPr>
          <a:xfrm>
            <a:off x="8004599" y="2793291"/>
            <a:ext cx="1229482" cy="333926"/>
          </a:xfrm>
          <a:prstGeom prst="flowChartPredefinedProcess">
            <a:avLst/>
          </a:prstGeom>
          <a:solidFill>
            <a:schemeClr val="accent3">
              <a:lumMod val="40000"/>
              <a:lumOff val="60000"/>
            </a:schemeClr>
          </a:solidFill>
          <a:ln w="3175" cap="flat" cmpd="sng">
            <a:solidFill>
              <a:schemeClr val="tx1"/>
            </a:solidFill>
            <a:prstDash val="solid"/>
            <a:round/>
            <a:headEnd type="none" w="sm" len="sm"/>
            <a:tailEnd type="none" w="sm" len="sm"/>
          </a:ln>
        </p:spPr>
        <p:txBody>
          <a:bodyPr spcFirstLastPara="1" wrap="square" lIns="0" tIns="77300" rIns="0" bIns="773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dirty="0">
                <a:ln>
                  <a:noFill/>
                </a:ln>
                <a:effectLst/>
                <a:uLnTx/>
                <a:uFillTx/>
                <a:latin typeface="+mn-lt"/>
                <a:ea typeface="Red Hat Display"/>
                <a:cs typeface="Red Hat Display"/>
                <a:sym typeface="Red Hat Display"/>
              </a:rPr>
              <a:t>QA Links Approved</a:t>
            </a:r>
            <a:endParaRPr kumimoji="0" sz="900" b="0" i="0" u="none" strike="noStrike" kern="1200" cap="none" spc="0" normalizeH="0" baseline="0" noProof="0" dirty="0">
              <a:ln>
                <a:noFill/>
              </a:ln>
              <a:effectLst/>
              <a:uLnTx/>
              <a:uFillTx/>
              <a:latin typeface="+mn-lt"/>
              <a:ea typeface="Red Hat Display"/>
              <a:cs typeface="Red Hat Display"/>
              <a:sym typeface="Red Hat Display"/>
            </a:endParaRPr>
          </a:p>
        </p:txBody>
      </p:sp>
      <p:sp>
        <p:nvSpPr>
          <p:cNvPr id="28" name="Google Shape;1620;p96">
            <a:extLst>
              <a:ext uri="{FF2B5EF4-FFF2-40B4-BE49-F238E27FC236}">
                <a16:creationId xmlns:a16="http://schemas.microsoft.com/office/drawing/2014/main" id="{0F8ADFC4-5E33-CC45-04EF-66E15CC5F8DE}"/>
              </a:ext>
            </a:extLst>
          </p:cNvPr>
          <p:cNvSpPr/>
          <p:nvPr/>
        </p:nvSpPr>
        <p:spPr>
          <a:xfrm>
            <a:off x="10015100" y="2794451"/>
            <a:ext cx="1056648" cy="333936"/>
          </a:xfrm>
          <a:prstGeom prst="rect">
            <a:avLst/>
          </a:prstGeom>
          <a:solidFill>
            <a:srgbClr val="FFFFFF"/>
          </a:solidFill>
          <a:ln w="9525" cap="flat" cmpd="sng">
            <a:solidFill>
              <a:schemeClr val="tx1"/>
            </a:solidFill>
            <a:prstDash val="solid"/>
            <a:round/>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dirty="0">
                <a:ln>
                  <a:noFill/>
                </a:ln>
                <a:effectLst/>
                <a:uLnTx/>
                <a:uFillTx/>
                <a:latin typeface="+mn-lt"/>
                <a:ea typeface="Red Hat Display"/>
                <a:cs typeface="Red Hat Display"/>
                <a:sym typeface="Red Hat Display"/>
              </a:rPr>
              <a:t>Launch </a:t>
            </a:r>
          </a:p>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dirty="0">
                <a:ln>
                  <a:noFill/>
                </a:ln>
                <a:effectLst/>
                <a:uLnTx/>
                <a:uFillTx/>
                <a:latin typeface="+mn-lt"/>
                <a:ea typeface="Red Hat Display"/>
                <a:cs typeface="Red Hat Display"/>
                <a:sym typeface="Red Hat Display"/>
              </a:rPr>
              <a:t>Scheduled</a:t>
            </a:r>
            <a:endParaRPr kumimoji="0" sz="900" b="0" i="0" u="none" strike="noStrike" kern="1200" cap="none" spc="0" normalizeH="0" baseline="0" noProof="0" dirty="0">
              <a:ln>
                <a:noFill/>
              </a:ln>
              <a:effectLst/>
              <a:uLnTx/>
              <a:uFillTx/>
              <a:latin typeface="+mn-lt"/>
              <a:ea typeface="Red Hat Display"/>
              <a:cs typeface="Red Hat Display"/>
              <a:sym typeface="Red Hat Display"/>
            </a:endParaRPr>
          </a:p>
        </p:txBody>
      </p:sp>
      <p:cxnSp>
        <p:nvCxnSpPr>
          <p:cNvPr id="34" name="Google Shape;1621;p96">
            <a:extLst>
              <a:ext uri="{FF2B5EF4-FFF2-40B4-BE49-F238E27FC236}">
                <a16:creationId xmlns:a16="http://schemas.microsoft.com/office/drawing/2014/main" id="{75344A8B-A116-C7F7-288A-54A3D90BE2D5}"/>
              </a:ext>
            </a:extLst>
          </p:cNvPr>
          <p:cNvCxnSpPr>
            <a:cxnSpLocks/>
            <a:stCxn id="87" idx="3"/>
            <a:endCxn id="21" idx="1"/>
          </p:cNvCxnSpPr>
          <p:nvPr/>
        </p:nvCxnSpPr>
        <p:spPr>
          <a:xfrm flipV="1">
            <a:off x="7220783" y="2960254"/>
            <a:ext cx="783816" cy="657"/>
          </a:xfrm>
          <a:prstGeom prst="straightConnector1">
            <a:avLst/>
          </a:prstGeom>
          <a:noFill/>
          <a:ln w="28575" cap="flat" cmpd="sng">
            <a:solidFill>
              <a:srgbClr val="FFFFFF"/>
            </a:solidFill>
            <a:prstDash val="solid"/>
            <a:round/>
            <a:headEnd type="none" w="sm" len="sm"/>
            <a:tailEnd type="triangle" w="med" len="med"/>
          </a:ln>
        </p:spPr>
      </p:cxnSp>
      <p:cxnSp>
        <p:nvCxnSpPr>
          <p:cNvPr id="39" name="Google Shape;1621;p96">
            <a:extLst>
              <a:ext uri="{FF2B5EF4-FFF2-40B4-BE49-F238E27FC236}">
                <a16:creationId xmlns:a16="http://schemas.microsoft.com/office/drawing/2014/main" id="{1C95F24E-8984-6BBB-C01A-E20FF3D9902A}"/>
              </a:ext>
            </a:extLst>
          </p:cNvPr>
          <p:cNvCxnSpPr>
            <a:cxnSpLocks/>
            <a:stCxn id="21" idx="3"/>
            <a:endCxn id="28" idx="1"/>
          </p:cNvCxnSpPr>
          <p:nvPr/>
        </p:nvCxnSpPr>
        <p:spPr>
          <a:xfrm>
            <a:off x="9234081" y="2960254"/>
            <a:ext cx="781019" cy="1165"/>
          </a:xfrm>
          <a:prstGeom prst="straightConnector1">
            <a:avLst/>
          </a:prstGeom>
          <a:noFill/>
          <a:ln w="28575" cap="flat" cmpd="sng">
            <a:solidFill>
              <a:srgbClr val="FFFFFF"/>
            </a:solidFill>
            <a:prstDash val="solid"/>
            <a:round/>
            <a:headEnd type="none" w="sm" len="sm"/>
            <a:tailEnd type="triangle" w="med" len="med"/>
          </a:ln>
        </p:spPr>
      </p:cxnSp>
    </p:spTree>
    <p:extLst>
      <p:ext uri="{BB962C8B-B14F-4D97-AF65-F5344CB8AC3E}">
        <p14:creationId xmlns:p14="http://schemas.microsoft.com/office/powerpoint/2010/main" val="17170761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6623AA99-5DF2-D2D7-B63C-04333475C09B}"/>
              </a:ext>
            </a:extLst>
          </p:cNvPr>
          <p:cNvSpPr txBox="1">
            <a:spLocks/>
          </p:cNvSpPr>
          <p:nvPr/>
        </p:nvSpPr>
        <p:spPr>
          <a:xfrm>
            <a:off x="554989" y="771015"/>
            <a:ext cx="11082019" cy="982833"/>
          </a:xfrm>
          <a:prstGeom prst="rect">
            <a:avLst/>
          </a:prstGeom>
        </p:spPr>
        <p:txBody>
          <a:bodyPr vert="horz" lIns="91440" tIns="45720" rIns="91440" bIns="45720" rtlCol="0" anchor="t">
            <a:spAutoFit/>
          </a:bodyPr>
          <a:lstStyle>
            <a:lvl1pPr algn="l" defTabSz="914377" rtl="0" eaLnBrk="1" latinLnBrk="0" hangingPunct="1">
              <a:lnSpc>
                <a:spcPct val="90000"/>
              </a:lnSpc>
              <a:spcBef>
                <a:spcPct val="0"/>
              </a:spcBef>
              <a:buNone/>
              <a:defRPr sz="3200" b="1" kern="1200">
                <a:solidFill>
                  <a:schemeClr val="accent4"/>
                </a:solidFill>
                <a:latin typeface="Poppins" panose="00000500000000000000" pitchFamily="2" charset="0"/>
                <a:ea typeface="+mj-ea"/>
                <a:cs typeface="Poppins" panose="00000500000000000000" pitchFamily="2" charset="0"/>
              </a:defRPr>
            </a:lvl1pPr>
          </a:lstStyle>
          <a:p>
            <a:pPr algn="ctr"/>
            <a:r>
              <a:rPr lang="en-US" dirty="0">
                <a:solidFill>
                  <a:schemeClr val="accent1"/>
                </a:solidFill>
              </a:rPr>
              <a:t>X-Small test costs by execution phase: Current process</a:t>
            </a:r>
          </a:p>
        </p:txBody>
      </p:sp>
      <p:graphicFrame>
        <p:nvGraphicFramePr>
          <p:cNvPr id="4" name="Chart 3">
            <a:extLst>
              <a:ext uri="{FF2B5EF4-FFF2-40B4-BE49-F238E27FC236}">
                <a16:creationId xmlns:a16="http://schemas.microsoft.com/office/drawing/2014/main" id="{CB81D07E-469B-341E-8944-D64AEDCD8992}"/>
              </a:ext>
            </a:extLst>
          </p:cNvPr>
          <p:cNvGraphicFramePr>
            <a:graphicFrameLocks/>
          </p:cNvGraphicFramePr>
          <p:nvPr>
            <p:extLst>
              <p:ext uri="{D42A27DB-BD31-4B8C-83A1-F6EECF244321}">
                <p14:modId xmlns:p14="http://schemas.microsoft.com/office/powerpoint/2010/main" val="812779206"/>
              </p:ext>
            </p:extLst>
          </p:nvPr>
        </p:nvGraphicFramePr>
        <p:xfrm>
          <a:off x="3411605" y="-5414751"/>
          <a:ext cx="4942044" cy="4104168"/>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4">
            <a:extLst>
              <a:ext uri="{FF2B5EF4-FFF2-40B4-BE49-F238E27FC236}">
                <a16:creationId xmlns:a16="http://schemas.microsoft.com/office/drawing/2014/main" id="{31757AE9-773F-46C5-B030-3E31ED5E534A}"/>
              </a:ext>
            </a:extLst>
          </p:cNvPr>
          <p:cNvGraphicFramePr>
            <a:graphicFrameLocks/>
          </p:cNvGraphicFramePr>
          <p:nvPr>
            <p:extLst>
              <p:ext uri="{D42A27DB-BD31-4B8C-83A1-F6EECF244321}">
                <p14:modId xmlns:p14="http://schemas.microsoft.com/office/powerpoint/2010/main" val="3066991736"/>
              </p:ext>
            </p:extLst>
          </p:nvPr>
        </p:nvGraphicFramePr>
        <p:xfrm>
          <a:off x="255181" y="2176739"/>
          <a:ext cx="5840819" cy="4394181"/>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 name="Chart 5">
            <a:extLst>
              <a:ext uri="{FF2B5EF4-FFF2-40B4-BE49-F238E27FC236}">
                <a16:creationId xmlns:a16="http://schemas.microsoft.com/office/drawing/2014/main" id="{16F3A708-89B5-E7A3-C2B9-0C3D0C5E65E5}"/>
              </a:ext>
            </a:extLst>
          </p:cNvPr>
          <p:cNvGraphicFramePr>
            <a:graphicFrameLocks/>
          </p:cNvGraphicFramePr>
          <p:nvPr>
            <p:extLst>
              <p:ext uri="{D42A27DB-BD31-4B8C-83A1-F6EECF244321}">
                <p14:modId xmlns:p14="http://schemas.microsoft.com/office/powerpoint/2010/main" val="1339561991"/>
              </p:ext>
            </p:extLst>
          </p:nvPr>
        </p:nvGraphicFramePr>
        <p:xfrm>
          <a:off x="6123294" y="1972216"/>
          <a:ext cx="5081518" cy="3377708"/>
        </p:xfrm>
        <a:graphic>
          <a:graphicData uri="http://schemas.openxmlformats.org/drawingml/2006/chart">
            <c:chart xmlns:c="http://schemas.openxmlformats.org/drawingml/2006/chart" xmlns:r="http://schemas.openxmlformats.org/officeDocument/2006/relationships" r:id="rId5"/>
          </a:graphicData>
        </a:graphic>
      </p:graphicFrame>
      <p:sp>
        <p:nvSpPr>
          <p:cNvPr id="7" name="TextBox 6">
            <a:extLst>
              <a:ext uri="{FF2B5EF4-FFF2-40B4-BE49-F238E27FC236}">
                <a16:creationId xmlns:a16="http://schemas.microsoft.com/office/drawing/2014/main" id="{44773CC6-CC59-EF5C-D8B5-04675DD6F733}"/>
              </a:ext>
            </a:extLst>
          </p:cNvPr>
          <p:cNvSpPr txBox="1"/>
          <p:nvPr/>
        </p:nvSpPr>
        <p:spPr>
          <a:xfrm>
            <a:off x="5634990" y="9315450"/>
            <a:ext cx="914400" cy="369332"/>
          </a:xfrm>
          <a:prstGeom prst="rect">
            <a:avLst/>
          </a:prstGeom>
          <a:noFill/>
        </p:spPr>
        <p:txBody>
          <a:bodyPr wrap="square" rtlCol="0">
            <a:spAutoFit/>
          </a:bodyPr>
          <a:lstStyle/>
          <a:p>
            <a:r>
              <a:rPr lang="en-US" dirty="0"/>
              <a:t>a</a:t>
            </a:r>
          </a:p>
        </p:txBody>
      </p:sp>
    </p:spTree>
    <p:extLst>
      <p:ext uri="{BB962C8B-B14F-4D97-AF65-F5344CB8AC3E}">
        <p14:creationId xmlns:p14="http://schemas.microsoft.com/office/powerpoint/2010/main" val="13818628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0A7892-B2E4-B897-7E63-3C33187F3F75}"/>
            </a:ext>
          </a:extLst>
        </p:cNvPr>
        <p:cNvGrpSpPr/>
        <p:nvPr/>
      </p:nvGrpSpPr>
      <p:grpSpPr>
        <a:xfrm>
          <a:off x="0" y="0"/>
          <a:ext cx="0" cy="0"/>
          <a:chOff x="0" y="0"/>
          <a:chExt cx="0" cy="0"/>
        </a:xfrm>
      </p:grpSpPr>
      <p:graphicFrame>
        <p:nvGraphicFramePr>
          <p:cNvPr id="10" name="Chart 9">
            <a:extLst>
              <a:ext uri="{FF2B5EF4-FFF2-40B4-BE49-F238E27FC236}">
                <a16:creationId xmlns:a16="http://schemas.microsoft.com/office/drawing/2014/main" id="{796EB39A-34C5-635A-E579-F200DF3432BC}"/>
              </a:ext>
            </a:extLst>
          </p:cNvPr>
          <p:cNvGraphicFramePr>
            <a:graphicFrameLocks/>
          </p:cNvGraphicFramePr>
          <p:nvPr>
            <p:extLst>
              <p:ext uri="{D42A27DB-BD31-4B8C-83A1-F6EECF244321}">
                <p14:modId xmlns:p14="http://schemas.microsoft.com/office/powerpoint/2010/main" val="423704348"/>
              </p:ext>
            </p:extLst>
          </p:nvPr>
        </p:nvGraphicFramePr>
        <p:xfrm>
          <a:off x="821120" y="2176737"/>
          <a:ext cx="5274878" cy="3415432"/>
        </p:xfrm>
        <a:graphic>
          <a:graphicData uri="http://schemas.openxmlformats.org/drawingml/2006/chart">
            <c:chart xmlns:c="http://schemas.openxmlformats.org/drawingml/2006/chart" xmlns:r="http://schemas.openxmlformats.org/officeDocument/2006/relationships" r:id="rId3"/>
          </a:graphicData>
        </a:graphic>
      </p:graphicFrame>
      <p:sp>
        <p:nvSpPr>
          <p:cNvPr id="3" name="Title 1">
            <a:extLst>
              <a:ext uri="{FF2B5EF4-FFF2-40B4-BE49-F238E27FC236}">
                <a16:creationId xmlns:a16="http://schemas.microsoft.com/office/drawing/2014/main" id="{97CB3EE2-C29F-C064-514F-EFA0A5DDFD51}"/>
              </a:ext>
            </a:extLst>
          </p:cNvPr>
          <p:cNvSpPr txBox="1">
            <a:spLocks/>
          </p:cNvSpPr>
          <p:nvPr/>
        </p:nvSpPr>
        <p:spPr>
          <a:xfrm>
            <a:off x="554989" y="771015"/>
            <a:ext cx="11082019" cy="982833"/>
          </a:xfrm>
          <a:prstGeom prst="rect">
            <a:avLst/>
          </a:prstGeom>
        </p:spPr>
        <p:txBody>
          <a:bodyPr vert="horz" lIns="91440" tIns="45720" rIns="91440" bIns="45720" rtlCol="0" anchor="t">
            <a:spAutoFit/>
          </a:bodyPr>
          <a:lstStyle>
            <a:lvl1pPr algn="l" defTabSz="914377" rtl="0" eaLnBrk="1" latinLnBrk="0" hangingPunct="1">
              <a:lnSpc>
                <a:spcPct val="90000"/>
              </a:lnSpc>
              <a:spcBef>
                <a:spcPct val="0"/>
              </a:spcBef>
              <a:buNone/>
              <a:defRPr sz="3200" b="1" kern="1200">
                <a:solidFill>
                  <a:schemeClr val="accent4"/>
                </a:solidFill>
                <a:latin typeface="Poppins" panose="00000500000000000000" pitchFamily="2" charset="0"/>
                <a:ea typeface="+mj-ea"/>
                <a:cs typeface="Poppins" panose="00000500000000000000" pitchFamily="2" charset="0"/>
              </a:defRPr>
            </a:lvl1pPr>
          </a:lstStyle>
          <a:p>
            <a:pPr algn="ctr"/>
            <a:r>
              <a:rPr lang="en-US" dirty="0">
                <a:solidFill>
                  <a:schemeClr val="accent1"/>
                </a:solidFill>
              </a:rPr>
              <a:t>X-Small test costs by execution phase: Flash process</a:t>
            </a:r>
          </a:p>
        </p:txBody>
      </p:sp>
      <p:graphicFrame>
        <p:nvGraphicFramePr>
          <p:cNvPr id="4" name="Chart 3">
            <a:extLst>
              <a:ext uri="{FF2B5EF4-FFF2-40B4-BE49-F238E27FC236}">
                <a16:creationId xmlns:a16="http://schemas.microsoft.com/office/drawing/2014/main" id="{C850B775-85AC-AA45-0DD2-AC741F964B8D}"/>
              </a:ext>
            </a:extLst>
          </p:cNvPr>
          <p:cNvGraphicFramePr>
            <a:graphicFrameLocks/>
          </p:cNvGraphicFramePr>
          <p:nvPr>
            <p:extLst>
              <p:ext uri="{D42A27DB-BD31-4B8C-83A1-F6EECF244321}">
                <p14:modId xmlns:p14="http://schemas.microsoft.com/office/powerpoint/2010/main" val="1346155403"/>
              </p:ext>
            </p:extLst>
          </p:nvPr>
        </p:nvGraphicFramePr>
        <p:xfrm>
          <a:off x="4007004" y="-5079609"/>
          <a:ext cx="4942044" cy="4104168"/>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9" name="Chart 8">
            <a:extLst>
              <a:ext uri="{FF2B5EF4-FFF2-40B4-BE49-F238E27FC236}">
                <a16:creationId xmlns:a16="http://schemas.microsoft.com/office/drawing/2014/main" id="{CEEF78F8-25A7-705D-B5F3-609054F3A140}"/>
              </a:ext>
            </a:extLst>
          </p:cNvPr>
          <p:cNvGraphicFramePr>
            <a:graphicFrameLocks/>
          </p:cNvGraphicFramePr>
          <p:nvPr>
            <p:extLst>
              <p:ext uri="{D42A27DB-BD31-4B8C-83A1-F6EECF244321}">
                <p14:modId xmlns:p14="http://schemas.microsoft.com/office/powerpoint/2010/main" val="1373654970"/>
              </p:ext>
            </p:extLst>
          </p:nvPr>
        </p:nvGraphicFramePr>
        <p:xfrm>
          <a:off x="6198357" y="2238231"/>
          <a:ext cx="5274877" cy="3353937"/>
        </p:xfrm>
        <a:graphic>
          <a:graphicData uri="http://schemas.openxmlformats.org/drawingml/2006/chart">
            <c:chart xmlns:c="http://schemas.openxmlformats.org/drawingml/2006/chart" xmlns:r="http://schemas.openxmlformats.org/officeDocument/2006/relationships" r:id="rId5"/>
          </a:graphicData>
        </a:graphic>
      </p:graphicFrame>
      <p:sp>
        <p:nvSpPr>
          <p:cNvPr id="11" name="TextBox 10">
            <a:extLst>
              <a:ext uri="{FF2B5EF4-FFF2-40B4-BE49-F238E27FC236}">
                <a16:creationId xmlns:a16="http://schemas.microsoft.com/office/drawing/2014/main" id="{3CAE23C9-1CDB-F1DD-7580-993917574706}"/>
              </a:ext>
            </a:extLst>
          </p:cNvPr>
          <p:cNvSpPr txBox="1"/>
          <p:nvPr/>
        </p:nvSpPr>
        <p:spPr>
          <a:xfrm>
            <a:off x="5638800" y="9095004"/>
            <a:ext cx="914400" cy="369332"/>
          </a:xfrm>
          <a:prstGeom prst="rect">
            <a:avLst/>
          </a:prstGeom>
          <a:noFill/>
        </p:spPr>
        <p:txBody>
          <a:bodyPr wrap="square" rtlCol="0">
            <a:spAutoFit/>
          </a:bodyPr>
          <a:lstStyle/>
          <a:p>
            <a:r>
              <a:rPr lang="en-US" dirty="0"/>
              <a:t>a</a:t>
            </a:r>
          </a:p>
        </p:txBody>
      </p:sp>
    </p:spTree>
    <p:extLst>
      <p:ext uri="{BB962C8B-B14F-4D97-AF65-F5344CB8AC3E}">
        <p14:creationId xmlns:p14="http://schemas.microsoft.com/office/powerpoint/2010/main" val="2669970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48F5D9-343E-79DD-7471-81EA338E9CFB}"/>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5430178D-1CBA-E5AB-1F03-A6B3762AB092}"/>
              </a:ext>
            </a:extLst>
          </p:cNvPr>
          <p:cNvSpPr txBox="1"/>
          <p:nvPr/>
        </p:nvSpPr>
        <p:spPr>
          <a:xfrm>
            <a:off x="843490" y="2010439"/>
            <a:ext cx="4556535" cy="2773323"/>
          </a:xfrm>
          <a:prstGeom prst="rect">
            <a:avLst/>
          </a:prstGeom>
          <a:noFill/>
        </p:spPr>
        <p:txBody>
          <a:bodyPr wrap="square" rtlCol="0" anchor="ctr">
            <a:spAutoFit/>
          </a:bodyPr>
          <a:lstStyle/>
          <a:p>
            <a:pPr>
              <a:lnSpc>
                <a:spcPct val="95000"/>
              </a:lnSpc>
              <a:spcBef>
                <a:spcPct val="0"/>
              </a:spcBef>
              <a:defRPr/>
            </a:pPr>
            <a:r>
              <a:rPr lang="en-US" sz="3200" b="1" dirty="0">
                <a:solidFill>
                  <a:schemeClr val="accent1"/>
                </a:solidFill>
                <a:latin typeface="+mj-lt"/>
                <a:ea typeface="+mj-ea"/>
                <a:cs typeface="+mj-cs"/>
              </a:rPr>
              <a:t>Gaining alignment on pre-approval details</a:t>
            </a:r>
          </a:p>
          <a:p>
            <a:pPr marL="342900" indent="-342900">
              <a:lnSpc>
                <a:spcPct val="112000"/>
              </a:lnSpc>
              <a:spcBef>
                <a:spcPts val="1200"/>
              </a:spcBef>
              <a:buAutoNum type="arabicPeriod"/>
              <a:defRPr/>
            </a:pPr>
            <a:r>
              <a:rPr lang="en-US" sz="1600" dirty="0">
                <a:latin typeface="+mj-lt"/>
              </a:rPr>
              <a:t>Defining risk</a:t>
            </a:r>
          </a:p>
          <a:p>
            <a:pPr marL="342900" indent="-342900">
              <a:lnSpc>
                <a:spcPct val="112000"/>
              </a:lnSpc>
              <a:spcBef>
                <a:spcPts val="1200"/>
              </a:spcBef>
              <a:buAutoNum type="arabicPeriod"/>
              <a:defRPr/>
            </a:pPr>
            <a:r>
              <a:rPr lang="en-US" sz="1600" dirty="0">
                <a:latin typeface="+mj-lt"/>
              </a:rPr>
              <a:t>Identifying </a:t>
            </a:r>
            <a:r>
              <a:rPr lang="en-US" sz="1600" b="1" dirty="0">
                <a:latin typeface="+mj-lt"/>
              </a:rPr>
              <a:t>[Client]</a:t>
            </a:r>
            <a:r>
              <a:rPr lang="en-US" sz="1600" dirty="0">
                <a:latin typeface="+mj-lt"/>
              </a:rPr>
              <a:t>’s concerns</a:t>
            </a:r>
          </a:p>
          <a:p>
            <a:pPr marL="342900" indent="-342900">
              <a:lnSpc>
                <a:spcPct val="112000"/>
              </a:lnSpc>
              <a:spcBef>
                <a:spcPts val="1200"/>
              </a:spcBef>
              <a:buAutoNum type="arabicPeriod"/>
              <a:defRPr/>
            </a:pPr>
            <a:endParaRPr lang="en-US" sz="1600" dirty="0">
              <a:latin typeface="+mj-lt"/>
            </a:endParaRPr>
          </a:p>
        </p:txBody>
      </p:sp>
      <p:pic>
        <p:nvPicPr>
          <p:cNvPr id="10" name="Graphic 9" descr="Clipboard Checked with solid fill">
            <a:extLst>
              <a:ext uri="{FF2B5EF4-FFF2-40B4-BE49-F238E27FC236}">
                <a16:creationId xmlns:a16="http://schemas.microsoft.com/office/drawing/2014/main" id="{244F3E38-2E84-EA2B-9E16-10BA4F250F6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424567" y="2102224"/>
            <a:ext cx="2063676" cy="2063676"/>
          </a:xfrm>
          <a:prstGeom prst="rect">
            <a:avLst/>
          </a:prstGeom>
        </p:spPr>
      </p:pic>
    </p:spTree>
    <p:extLst>
      <p:ext uri="{BB962C8B-B14F-4D97-AF65-F5344CB8AC3E}">
        <p14:creationId xmlns:p14="http://schemas.microsoft.com/office/powerpoint/2010/main" val="35669762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540F37-B60C-677C-5CD3-BC5B21926C94}"/>
            </a:ext>
          </a:extLst>
        </p:cNvPr>
        <p:cNvGrpSpPr/>
        <p:nvPr/>
      </p:nvGrpSpPr>
      <p:grpSpPr>
        <a:xfrm>
          <a:off x="0" y="0"/>
          <a:ext cx="0" cy="0"/>
          <a:chOff x="0" y="0"/>
          <a:chExt cx="0" cy="0"/>
        </a:xfrm>
      </p:grpSpPr>
      <p:pic>
        <p:nvPicPr>
          <p:cNvPr id="7" name="Picture 6" descr="A gold scale on a table&#10;&#10;AI-generated content may be incorrect.">
            <a:extLst>
              <a:ext uri="{FF2B5EF4-FFF2-40B4-BE49-F238E27FC236}">
                <a16:creationId xmlns:a16="http://schemas.microsoft.com/office/drawing/2014/main" id="{B378E099-FB31-DEFC-EEFF-006797A460DE}"/>
              </a:ext>
            </a:extLst>
          </p:cNvPr>
          <p:cNvPicPr>
            <a:picLocks noChangeAspect="1"/>
          </p:cNvPicPr>
          <p:nvPr/>
        </p:nvPicPr>
        <p:blipFill>
          <a:blip r:embed="rId3">
            <a:extLst>
              <a:ext uri="{837473B0-CC2E-450A-ABE3-18F120FF3D39}">
                <a1611:picAttrSrcUrl xmlns:a1611="http://schemas.microsoft.com/office/drawing/2016/11/main" r:id="rId4"/>
              </a:ext>
            </a:extLst>
          </a:blip>
          <a:srcRect t="10748" b="30780"/>
          <a:stretch>
            <a:fillRect/>
          </a:stretch>
        </p:blipFill>
        <p:spPr>
          <a:xfrm>
            <a:off x="-1" y="0"/>
            <a:ext cx="12192000" cy="3696790"/>
          </a:xfrm>
          <a:prstGeom prst="rect">
            <a:avLst/>
          </a:prstGeom>
        </p:spPr>
      </p:pic>
      <p:sp>
        <p:nvSpPr>
          <p:cNvPr id="3" name="Rectangle 2">
            <a:extLst>
              <a:ext uri="{FF2B5EF4-FFF2-40B4-BE49-F238E27FC236}">
                <a16:creationId xmlns:a16="http://schemas.microsoft.com/office/drawing/2014/main" id="{7FEA5F2E-0FF4-6132-843F-938D84951D59}"/>
              </a:ext>
            </a:extLst>
          </p:cNvPr>
          <p:cNvSpPr/>
          <p:nvPr/>
        </p:nvSpPr>
        <p:spPr>
          <a:xfrm>
            <a:off x="0" y="-1"/>
            <a:ext cx="12191999" cy="3517901"/>
          </a:xfrm>
          <a:prstGeom prst="rect">
            <a:avLst/>
          </a:prstGeom>
          <a:no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US" dirty="0">
              <a:solidFill>
                <a:schemeClr val="bg1">
                  <a:lumMod val="75000"/>
                </a:schemeClr>
              </a:solidFill>
            </a:endParaRPr>
          </a:p>
        </p:txBody>
      </p:sp>
      <p:grpSp>
        <p:nvGrpSpPr>
          <p:cNvPr id="14" name="Group 13">
            <a:extLst>
              <a:ext uri="{FF2B5EF4-FFF2-40B4-BE49-F238E27FC236}">
                <a16:creationId xmlns:a16="http://schemas.microsoft.com/office/drawing/2014/main" id="{B4AFABB2-73B2-C6FD-E399-79D795889F4B}"/>
              </a:ext>
            </a:extLst>
          </p:cNvPr>
          <p:cNvGrpSpPr/>
          <p:nvPr/>
        </p:nvGrpSpPr>
        <p:grpSpPr>
          <a:xfrm>
            <a:off x="838201" y="2414338"/>
            <a:ext cx="10515600" cy="3581190"/>
            <a:chOff x="662614" y="1977701"/>
            <a:chExt cx="8566655" cy="3355009"/>
          </a:xfrm>
        </p:grpSpPr>
        <p:sp>
          <p:nvSpPr>
            <p:cNvPr id="15" name="Rectangle: Rounded Corners 14">
              <a:extLst>
                <a:ext uri="{FF2B5EF4-FFF2-40B4-BE49-F238E27FC236}">
                  <a16:creationId xmlns:a16="http://schemas.microsoft.com/office/drawing/2014/main" id="{87BE96F7-944C-145C-343A-5A6DBF3683A6}"/>
                </a:ext>
              </a:extLst>
            </p:cNvPr>
            <p:cNvSpPr/>
            <p:nvPr/>
          </p:nvSpPr>
          <p:spPr>
            <a:xfrm>
              <a:off x="662614" y="1977701"/>
              <a:ext cx="2626685" cy="3355009"/>
            </a:xfrm>
            <a:prstGeom prst="roundRect">
              <a:avLst>
                <a:gd name="adj" fmla="val 0"/>
              </a:avLst>
            </a:prstGeom>
            <a:solidFill>
              <a:schemeClr val="bg1">
                <a:lumMod val="95000"/>
              </a:schemeClr>
            </a:solidFill>
            <a:ln w="12700">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US" err="1"/>
            </a:p>
          </p:txBody>
        </p:sp>
        <p:sp>
          <p:nvSpPr>
            <p:cNvPr id="16" name="Rectangle: Rounded Corners 15">
              <a:extLst>
                <a:ext uri="{FF2B5EF4-FFF2-40B4-BE49-F238E27FC236}">
                  <a16:creationId xmlns:a16="http://schemas.microsoft.com/office/drawing/2014/main" id="{4E40E4B7-76B3-10AE-C248-538A7053EFD4}"/>
                </a:ext>
              </a:extLst>
            </p:cNvPr>
            <p:cNvSpPr/>
            <p:nvPr/>
          </p:nvSpPr>
          <p:spPr>
            <a:xfrm>
              <a:off x="3632599" y="1977701"/>
              <a:ext cx="2626685" cy="3355009"/>
            </a:xfrm>
            <a:prstGeom prst="roundRect">
              <a:avLst>
                <a:gd name="adj" fmla="val 0"/>
              </a:avLst>
            </a:prstGeom>
            <a:solidFill>
              <a:schemeClr val="bg1">
                <a:lumMod val="95000"/>
              </a:schemeClr>
            </a:solidFill>
            <a:ln w="12700">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US" err="1"/>
            </a:p>
          </p:txBody>
        </p:sp>
        <p:sp>
          <p:nvSpPr>
            <p:cNvPr id="17" name="Rectangle: Rounded Corners 16">
              <a:extLst>
                <a:ext uri="{FF2B5EF4-FFF2-40B4-BE49-F238E27FC236}">
                  <a16:creationId xmlns:a16="http://schemas.microsoft.com/office/drawing/2014/main" id="{47E9AD14-EAFE-AD57-D3F0-4A3AAC7AF7AE}"/>
                </a:ext>
              </a:extLst>
            </p:cNvPr>
            <p:cNvSpPr/>
            <p:nvPr/>
          </p:nvSpPr>
          <p:spPr>
            <a:xfrm>
              <a:off x="6602584" y="1977701"/>
              <a:ext cx="2626685" cy="3355009"/>
            </a:xfrm>
            <a:prstGeom prst="roundRect">
              <a:avLst>
                <a:gd name="adj" fmla="val 0"/>
              </a:avLst>
            </a:prstGeom>
            <a:solidFill>
              <a:schemeClr val="bg1">
                <a:lumMod val="95000"/>
              </a:schemeClr>
            </a:solidFill>
            <a:ln w="12700">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US" err="1"/>
            </a:p>
          </p:txBody>
        </p:sp>
      </p:grpSp>
      <p:sp>
        <p:nvSpPr>
          <p:cNvPr id="4" name="Rectangle 3">
            <a:extLst>
              <a:ext uri="{FF2B5EF4-FFF2-40B4-BE49-F238E27FC236}">
                <a16:creationId xmlns:a16="http://schemas.microsoft.com/office/drawing/2014/main" id="{34ECE8BA-BCC2-1AE6-975E-51AA6FB106C4}"/>
              </a:ext>
            </a:extLst>
          </p:cNvPr>
          <p:cNvSpPr/>
          <p:nvPr/>
        </p:nvSpPr>
        <p:spPr>
          <a:xfrm>
            <a:off x="1015140" y="2836921"/>
            <a:ext cx="2889202" cy="2175275"/>
          </a:xfrm>
          <a:prstGeom prst="rect">
            <a:avLst/>
          </a:prstGeom>
        </p:spPr>
        <p:txBody>
          <a:bodyPr wrap="square">
            <a:spAutoFit/>
          </a:bodyPr>
          <a:lstStyle/>
          <a:p>
            <a:pPr algn="ctr" fontAlgn="base">
              <a:lnSpc>
                <a:spcPct val="125000"/>
              </a:lnSpc>
              <a:spcBef>
                <a:spcPct val="0"/>
              </a:spcBef>
              <a:spcAft>
                <a:spcPct val="0"/>
              </a:spcAft>
            </a:pPr>
            <a:r>
              <a:rPr lang="en-US" dirty="0">
                <a:solidFill>
                  <a:schemeClr val="accent1"/>
                </a:solidFill>
                <a:latin typeface="Poppins SemiBold" panose="00000700000000000000" pitchFamily="2" charset="0"/>
                <a:cs typeface="Poppins SemiBold" panose="00000700000000000000" pitchFamily="2" charset="0"/>
              </a:rPr>
              <a:t>Low Contrast</a:t>
            </a:r>
          </a:p>
          <a:p>
            <a:pPr algn="ctr" fontAlgn="base">
              <a:lnSpc>
                <a:spcPct val="125000"/>
              </a:lnSpc>
              <a:spcBef>
                <a:spcPct val="0"/>
              </a:spcBef>
              <a:spcAft>
                <a:spcPct val="0"/>
              </a:spcAft>
            </a:pPr>
            <a:endParaRPr lang="en-US" sz="300" dirty="0">
              <a:latin typeface="+mj-lt"/>
            </a:endParaRPr>
          </a:p>
          <a:p>
            <a:pPr algn="ctr" fontAlgn="base">
              <a:lnSpc>
                <a:spcPct val="112000"/>
              </a:lnSpc>
              <a:spcBef>
                <a:spcPct val="0"/>
              </a:spcBef>
              <a:spcAft>
                <a:spcPct val="0"/>
              </a:spcAft>
            </a:pPr>
            <a:r>
              <a:rPr lang="en-US" sz="1400" dirty="0">
                <a:latin typeface="+mj-lt"/>
              </a:rPr>
              <a:t>Low contrast changes are not substantially different from the current site. For example, a one might swap out a Hero image but wouldn’t touch the Hero layout to accommodate the new creative.</a:t>
            </a:r>
          </a:p>
        </p:txBody>
      </p:sp>
      <p:sp>
        <p:nvSpPr>
          <p:cNvPr id="5" name="Rectangle 4">
            <a:extLst>
              <a:ext uri="{FF2B5EF4-FFF2-40B4-BE49-F238E27FC236}">
                <a16:creationId xmlns:a16="http://schemas.microsoft.com/office/drawing/2014/main" id="{0C7114B9-FDCE-D71B-A63B-50F6F6878B2C}"/>
              </a:ext>
            </a:extLst>
          </p:cNvPr>
          <p:cNvSpPr/>
          <p:nvPr/>
        </p:nvSpPr>
        <p:spPr>
          <a:xfrm>
            <a:off x="4660069" y="2836921"/>
            <a:ext cx="2889202" cy="1692707"/>
          </a:xfrm>
          <a:prstGeom prst="rect">
            <a:avLst/>
          </a:prstGeom>
        </p:spPr>
        <p:txBody>
          <a:bodyPr wrap="square">
            <a:spAutoFit/>
          </a:bodyPr>
          <a:lstStyle/>
          <a:p>
            <a:pPr algn="ctr" fontAlgn="base">
              <a:lnSpc>
                <a:spcPct val="125000"/>
              </a:lnSpc>
              <a:spcBef>
                <a:spcPct val="0"/>
              </a:spcBef>
              <a:spcAft>
                <a:spcPct val="0"/>
              </a:spcAft>
            </a:pPr>
            <a:r>
              <a:rPr lang="en-US" dirty="0">
                <a:solidFill>
                  <a:schemeClr val="accent1"/>
                </a:solidFill>
                <a:latin typeface="Poppins SemiBold" panose="00000700000000000000" pitchFamily="2" charset="0"/>
                <a:cs typeface="Poppins SemiBold" panose="00000700000000000000" pitchFamily="2" charset="0"/>
              </a:rPr>
              <a:t>Low Cost</a:t>
            </a:r>
          </a:p>
          <a:p>
            <a:pPr algn="ctr" fontAlgn="base">
              <a:lnSpc>
                <a:spcPct val="125000"/>
              </a:lnSpc>
              <a:spcBef>
                <a:spcPct val="0"/>
              </a:spcBef>
              <a:spcAft>
                <a:spcPct val="0"/>
              </a:spcAft>
            </a:pPr>
            <a:endParaRPr lang="en-US" sz="300" dirty="0">
              <a:latin typeface="+mj-lt"/>
            </a:endParaRPr>
          </a:p>
          <a:p>
            <a:pPr algn="ctr" fontAlgn="base">
              <a:lnSpc>
                <a:spcPct val="112000"/>
              </a:lnSpc>
              <a:spcBef>
                <a:spcPct val="0"/>
              </a:spcBef>
              <a:spcAft>
                <a:spcPct val="0"/>
              </a:spcAft>
            </a:pPr>
            <a:r>
              <a:rPr lang="en-US" sz="1400" dirty="0">
                <a:latin typeface="+mj-lt"/>
              </a:rPr>
              <a:t>Low-cost tests are very easy to execute, meaning that failure, or potential vetoes, aren’t major blows to program ROI</a:t>
            </a:r>
          </a:p>
        </p:txBody>
      </p:sp>
      <p:sp>
        <p:nvSpPr>
          <p:cNvPr id="6" name="Rectangle 5">
            <a:extLst>
              <a:ext uri="{FF2B5EF4-FFF2-40B4-BE49-F238E27FC236}">
                <a16:creationId xmlns:a16="http://schemas.microsoft.com/office/drawing/2014/main" id="{BF464177-06A4-A6DE-37AE-FA68C0F59054}"/>
              </a:ext>
            </a:extLst>
          </p:cNvPr>
          <p:cNvSpPr/>
          <p:nvPr/>
        </p:nvSpPr>
        <p:spPr>
          <a:xfrm>
            <a:off x="8303530" y="2836921"/>
            <a:ext cx="2889202" cy="3004092"/>
          </a:xfrm>
          <a:prstGeom prst="rect">
            <a:avLst/>
          </a:prstGeom>
        </p:spPr>
        <p:txBody>
          <a:bodyPr wrap="square">
            <a:spAutoFit/>
          </a:bodyPr>
          <a:lstStyle/>
          <a:p>
            <a:pPr algn="ctr" fontAlgn="base">
              <a:lnSpc>
                <a:spcPct val="125000"/>
              </a:lnSpc>
              <a:spcBef>
                <a:spcPct val="0"/>
              </a:spcBef>
              <a:spcAft>
                <a:spcPct val="0"/>
              </a:spcAft>
            </a:pPr>
            <a:r>
              <a:rPr lang="en-US" dirty="0">
                <a:solidFill>
                  <a:schemeClr val="accent1"/>
                </a:solidFill>
                <a:latin typeface="Poppins SemiBold" panose="00000700000000000000" pitchFamily="2" charset="0"/>
                <a:cs typeface="Poppins SemiBold" panose="00000700000000000000" pitchFamily="2" charset="0"/>
              </a:rPr>
              <a:t>Pre-approved Changes</a:t>
            </a:r>
          </a:p>
          <a:p>
            <a:pPr algn="ctr" fontAlgn="base">
              <a:lnSpc>
                <a:spcPct val="125000"/>
              </a:lnSpc>
              <a:spcBef>
                <a:spcPct val="0"/>
              </a:spcBef>
              <a:spcAft>
                <a:spcPct val="0"/>
              </a:spcAft>
            </a:pPr>
            <a:endParaRPr lang="en-US" sz="300" dirty="0">
              <a:latin typeface="+mj-lt"/>
            </a:endParaRPr>
          </a:p>
          <a:p>
            <a:pPr algn="ctr" fontAlgn="base">
              <a:lnSpc>
                <a:spcPct val="112000"/>
              </a:lnSpc>
              <a:spcBef>
                <a:spcPct val="0"/>
              </a:spcBef>
              <a:spcAft>
                <a:spcPct val="0"/>
              </a:spcAft>
            </a:pPr>
            <a:r>
              <a:rPr lang="en-US" sz="1400" dirty="0">
                <a:latin typeface="+mj-lt"/>
              </a:rPr>
              <a:t>Aligning on the types of changes that </a:t>
            </a:r>
            <a:r>
              <a:rPr lang="en-US" sz="1400" b="1" dirty="0">
                <a:latin typeface="+mj-lt"/>
              </a:rPr>
              <a:t>[Client]</a:t>
            </a:r>
            <a:r>
              <a:rPr lang="en-US" sz="1400" dirty="0">
                <a:latin typeface="+mj-lt"/>
              </a:rPr>
              <a:t> is comfortable with up front allow Horizon Commerce stay within pre-set guidelines and improve the rate at which pre-approved concepts meet </a:t>
            </a:r>
            <a:r>
              <a:rPr lang="en-US" sz="1400" b="1" dirty="0">
                <a:latin typeface="+mj-lt"/>
              </a:rPr>
              <a:t>[Client]</a:t>
            </a:r>
            <a:r>
              <a:rPr lang="en-US" sz="1400" dirty="0">
                <a:latin typeface="+mj-lt"/>
              </a:rPr>
              <a:t> expectations &amp; launch</a:t>
            </a:r>
            <a:endParaRPr lang="en-US" sz="1400" b="1" dirty="0">
              <a:latin typeface="+mj-lt"/>
            </a:endParaRPr>
          </a:p>
        </p:txBody>
      </p:sp>
      <p:sp>
        <p:nvSpPr>
          <p:cNvPr id="9" name="Title 1">
            <a:extLst>
              <a:ext uri="{FF2B5EF4-FFF2-40B4-BE49-F238E27FC236}">
                <a16:creationId xmlns:a16="http://schemas.microsoft.com/office/drawing/2014/main" id="{F646472B-59F2-B524-178A-93FEA9FBECA8}"/>
              </a:ext>
            </a:extLst>
          </p:cNvPr>
          <p:cNvSpPr txBox="1">
            <a:spLocks/>
          </p:cNvSpPr>
          <p:nvPr/>
        </p:nvSpPr>
        <p:spPr>
          <a:xfrm>
            <a:off x="838201" y="955675"/>
            <a:ext cx="10515600" cy="661988"/>
          </a:xfrm>
          <a:prstGeom prst="rect">
            <a:avLst/>
          </a:prstGeom>
          <a:solidFill>
            <a:schemeClr val="accent1"/>
          </a:solidFill>
        </p:spPr>
        <p:txBody>
          <a:bodyPr vert="horz" lIns="91440" tIns="45720" rIns="91440" bIns="45720" rtlCol="0" anchor="t">
            <a:spAutoFit/>
          </a:bodyPr>
          <a:lstStyle>
            <a:lvl1pPr algn="l" defTabSz="914377" rtl="0" eaLnBrk="1" latinLnBrk="0" hangingPunct="1">
              <a:lnSpc>
                <a:spcPct val="90000"/>
              </a:lnSpc>
              <a:spcBef>
                <a:spcPct val="0"/>
              </a:spcBef>
              <a:buNone/>
              <a:defRPr sz="3200" b="1" kern="1200">
                <a:solidFill>
                  <a:schemeClr val="accent4"/>
                </a:solidFill>
                <a:latin typeface="Poppins" panose="00000500000000000000" pitchFamily="2" charset="0"/>
                <a:ea typeface="+mj-ea"/>
                <a:cs typeface="Poppins" panose="00000500000000000000" pitchFamily="2" charset="0"/>
              </a:defRPr>
            </a:lvl1pPr>
          </a:lstStyle>
          <a:p>
            <a:pPr algn="ctr"/>
            <a:r>
              <a:rPr lang="en-US" sz="4000" dirty="0">
                <a:solidFill>
                  <a:schemeClr val="bg1"/>
                </a:solidFill>
              </a:rPr>
              <a:t>What Makes A Test Low risk?</a:t>
            </a:r>
          </a:p>
        </p:txBody>
      </p:sp>
    </p:spTree>
    <p:extLst>
      <p:ext uri="{BB962C8B-B14F-4D97-AF65-F5344CB8AC3E}">
        <p14:creationId xmlns:p14="http://schemas.microsoft.com/office/powerpoint/2010/main" val="1050084420"/>
      </p:ext>
    </p:extLst>
  </p:cSld>
  <p:clrMapOvr>
    <a:masterClrMapping/>
  </p:clrMapOvr>
  <p:extLst>
    <p:ext uri="{6950BFC3-D8DA-4A85-94F7-54DA5524770B}">
      <p188:commentRel xmlns:p188="http://schemas.microsoft.com/office/powerpoint/2018/8/main" r:id="rId2"/>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D191C9-A7E1-6385-E379-2871D422F2DA}"/>
            </a:ext>
          </a:extLst>
        </p:cNvPr>
        <p:cNvGrpSpPr/>
        <p:nvPr/>
      </p:nvGrpSpPr>
      <p:grpSpPr>
        <a:xfrm>
          <a:off x="0" y="0"/>
          <a:ext cx="0" cy="0"/>
          <a:chOff x="0" y="0"/>
          <a:chExt cx="0" cy="0"/>
        </a:xfrm>
      </p:grpSpPr>
      <p:graphicFrame>
        <p:nvGraphicFramePr>
          <p:cNvPr id="3" name="Table 6">
            <a:extLst>
              <a:ext uri="{FF2B5EF4-FFF2-40B4-BE49-F238E27FC236}">
                <a16:creationId xmlns:a16="http://schemas.microsoft.com/office/drawing/2014/main" id="{36A7D8B1-FBAA-8ECD-E6EB-4D7C5F68E30E}"/>
              </a:ext>
            </a:extLst>
          </p:cNvPr>
          <p:cNvGraphicFramePr>
            <a:graphicFrameLocks noGrp="1"/>
          </p:cNvGraphicFramePr>
          <p:nvPr>
            <p:extLst>
              <p:ext uri="{D42A27DB-BD31-4B8C-83A1-F6EECF244321}">
                <p14:modId xmlns:p14="http://schemas.microsoft.com/office/powerpoint/2010/main" val="1004897903"/>
              </p:ext>
            </p:extLst>
          </p:nvPr>
        </p:nvGraphicFramePr>
        <p:xfrm>
          <a:off x="554991" y="1747278"/>
          <a:ext cx="11082019" cy="4653153"/>
        </p:xfrm>
        <a:graphic>
          <a:graphicData uri="http://schemas.openxmlformats.org/drawingml/2006/table">
            <a:tbl>
              <a:tblPr firstRow="1" bandRow="1">
                <a:tableStyleId>{073A0DAA-6AF3-43AB-8588-CEC1D06C72B9}</a:tableStyleId>
              </a:tblPr>
              <a:tblGrid>
                <a:gridCol w="1534503">
                  <a:extLst>
                    <a:ext uri="{9D8B030D-6E8A-4147-A177-3AD203B41FA5}">
                      <a16:colId xmlns:a16="http://schemas.microsoft.com/office/drawing/2014/main" val="3214227377"/>
                    </a:ext>
                  </a:extLst>
                </a:gridCol>
                <a:gridCol w="2386879">
                  <a:extLst>
                    <a:ext uri="{9D8B030D-6E8A-4147-A177-3AD203B41FA5}">
                      <a16:colId xmlns:a16="http://schemas.microsoft.com/office/drawing/2014/main" val="3478323516"/>
                    </a:ext>
                  </a:extLst>
                </a:gridCol>
                <a:gridCol w="2386879">
                  <a:extLst>
                    <a:ext uri="{9D8B030D-6E8A-4147-A177-3AD203B41FA5}">
                      <a16:colId xmlns:a16="http://schemas.microsoft.com/office/drawing/2014/main" val="3634470519"/>
                    </a:ext>
                  </a:extLst>
                </a:gridCol>
                <a:gridCol w="2386879">
                  <a:extLst>
                    <a:ext uri="{9D8B030D-6E8A-4147-A177-3AD203B41FA5}">
                      <a16:colId xmlns:a16="http://schemas.microsoft.com/office/drawing/2014/main" val="1758720560"/>
                    </a:ext>
                  </a:extLst>
                </a:gridCol>
                <a:gridCol w="2386879">
                  <a:extLst>
                    <a:ext uri="{9D8B030D-6E8A-4147-A177-3AD203B41FA5}">
                      <a16:colId xmlns:a16="http://schemas.microsoft.com/office/drawing/2014/main" val="463973718"/>
                    </a:ext>
                  </a:extLst>
                </a:gridCol>
              </a:tblGrid>
              <a:tr h="0">
                <a:tc>
                  <a:txBody>
                    <a:bodyPr/>
                    <a:lstStyle/>
                    <a:p>
                      <a:pPr algn="l">
                        <a:lnSpc>
                          <a:spcPct val="110000"/>
                        </a:lnSpc>
                      </a:pPr>
                      <a:endParaRPr lang="en-US" sz="1400" b="1" i="0">
                        <a:latin typeface="Poppins SemiBold" pitchFamily="2" charset="77"/>
                        <a:cs typeface="Poppins SemiBold" pitchFamily="2" charset="77"/>
                      </a:endParaRPr>
                    </a:p>
                  </a:txBody>
                  <a:tcPr marL="111556" marR="111556" marT="137160" marB="137160" anchor="ctr">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10000"/>
                        </a:lnSpc>
                      </a:pPr>
                      <a:r>
                        <a:rPr lang="en-US" sz="1400" b="1" i="0" kern="1200" dirty="0">
                          <a:solidFill>
                            <a:schemeClr val="lt1"/>
                          </a:solidFill>
                          <a:latin typeface="Poppins SemiBold" pitchFamily="2" charset="77"/>
                          <a:ea typeface="+mn-ea"/>
                          <a:cs typeface="Poppins SemiBold" pitchFamily="2" charset="77"/>
                        </a:rPr>
                        <a:t>Image Swap</a:t>
                      </a:r>
                    </a:p>
                  </a:txBody>
                  <a:tcPr marL="111556" marR="111556" marT="137160" marB="137160" anchor="ctr">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l">
                        <a:lnSpc>
                          <a:spcPct val="110000"/>
                        </a:lnSpc>
                      </a:pPr>
                      <a:r>
                        <a:rPr lang="en-US" sz="1400" b="1" i="0" dirty="0">
                          <a:latin typeface="Poppins SemiBold" pitchFamily="2" charset="77"/>
                          <a:cs typeface="Poppins SemiBold" pitchFamily="2" charset="77"/>
                        </a:rPr>
                        <a:t>Copy Change (Color &amp; content)</a:t>
                      </a:r>
                    </a:p>
                  </a:txBody>
                  <a:tcPr marL="111556" marR="111556" marT="137160" marB="137160" anchor="ctr">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l">
                        <a:lnSpc>
                          <a:spcPct val="110000"/>
                        </a:lnSpc>
                      </a:pPr>
                      <a:r>
                        <a:rPr lang="en-US" sz="1400" b="1" i="0" dirty="0">
                          <a:latin typeface="Poppins SemiBold" pitchFamily="2" charset="77"/>
                          <a:cs typeface="Poppins SemiBold" pitchFamily="2" charset="77"/>
                        </a:rPr>
                        <a:t>Content Ordering</a:t>
                      </a:r>
                    </a:p>
                  </a:txBody>
                  <a:tcPr marL="111556" marR="111556" marT="137160" marB="137160" anchor="ctr">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l">
                        <a:lnSpc>
                          <a:spcPct val="110000"/>
                        </a:lnSpc>
                      </a:pPr>
                      <a:r>
                        <a:rPr lang="en-US" sz="1400" b="1" i="0" dirty="0">
                          <a:latin typeface="Poppins SemiBold" pitchFamily="2" charset="77"/>
                          <a:cs typeface="Poppins SemiBold" pitchFamily="2" charset="77"/>
                        </a:rPr>
                        <a:t>Element Removal</a:t>
                      </a:r>
                    </a:p>
                  </a:txBody>
                  <a:tcPr marL="111556" marR="111556" marT="137160" marB="137160" anchor="ctr">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672505719"/>
                  </a:ext>
                </a:extLst>
              </a:tr>
              <a:tr h="0">
                <a:tc>
                  <a:txBody>
                    <a:bodyPr/>
                    <a:lstStyle/>
                    <a:p>
                      <a:pPr marL="0" marR="0" lvl="0" indent="0" algn="l" defTabSz="914377" rtl="0" eaLnBrk="1" fontAlgn="auto" latinLnBrk="0" hangingPunct="1">
                        <a:lnSpc>
                          <a:spcPct val="11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solidFill>
                          <a:effectLst/>
                          <a:uLnTx/>
                          <a:uFillTx/>
                          <a:latin typeface="Poppins SemiBold" pitchFamily="2" charset="77"/>
                          <a:ea typeface="+mn-ea"/>
                          <a:cs typeface="Poppins SemiBold" pitchFamily="2" charset="77"/>
                        </a:rPr>
                        <a:t>Pages</a:t>
                      </a:r>
                    </a:p>
                  </a:txBody>
                  <a:tcPr marL="111556" marR="111556" marT="137160" marB="13716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lnSpc>
                          <a:spcPct val="110000"/>
                        </a:lnSpc>
                      </a:pPr>
                      <a:r>
                        <a:rPr kumimoji="0" lang="en-US" sz="1100" b="0"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High traffic page 1, High traffic page 2, High traffic page 3 </a:t>
                      </a:r>
                      <a:endParaRPr lang="en-US" sz="1100" dirty="0">
                        <a:solidFill>
                          <a:schemeClr val="tx1"/>
                        </a:solidFill>
                        <a:latin typeface="Poppins" pitchFamily="2" charset="77"/>
                        <a:cs typeface="Poppins" pitchFamily="2" charset="77"/>
                      </a:endParaRPr>
                    </a:p>
                  </a:txBody>
                  <a:tcPr marL="111556" marR="111556" marT="137160" marB="13716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377" rtl="0" eaLnBrk="1" fontAlgn="auto" latinLnBrk="0" hangingPunct="1">
                        <a:lnSpc>
                          <a:spcPct val="11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High traffic page 1, High traffic page 2, High traffic page 3</a:t>
                      </a:r>
                    </a:p>
                  </a:txBody>
                  <a:tcPr marL="111556" marR="111556" marT="137160" marB="13716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377" rtl="0" eaLnBrk="1" fontAlgn="auto" latinLnBrk="0" hangingPunct="1">
                        <a:lnSpc>
                          <a:spcPct val="11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High traffic page 1, High traffic page 2, High traffic page 3</a:t>
                      </a:r>
                    </a:p>
                  </a:txBody>
                  <a:tcPr marL="111556" marR="111556" marT="137160" marB="13716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377" rtl="0" eaLnBrk="1" fontAlgn="auto" latinLnBrk="0" hangingPunct="1">
                        <a:lnSpc>
                          <a:spcPct val="11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High traffic page 1, High traffic page 2, High traffic page 3</a:t>
                      </a:r>
                    </a:p>
                  </a:txBody>
                  <a:tcPr marL="111556" marR="111556" marT="137160" marB="13716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244635319"/>
                  </a:ext>
                </a:extLst>
              </a:tr>
              <a:tr h="0">
                <a:tc>
                  <a:txBody>
                    <a:bodyPr/>
                    <a:lstStyle/>
                    <a:p>
                      <a:pPr marL="0" marR="0" lvl="0" indent="0" algn="l" defTabSz="914377" rtl="0" eaLnBrk="1" fontAlgn="auto" latinLnBrk="0" hangingPunct="1">
                        <a:lnSpc>
                          <a:spcPct val="11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solidFill>
                          <a:effectLst/>
                          <a:uLnTx/>
                          <a:uFillTx/>
                          <a:latin typeface="Poppins SemiBold" pitchFamily="2" charset="77"/>
                          <a:ea typeface="+mn-ea"/>
                          <a:cs typeface="Poppins SemiBold" pitchFamily="2" charset="77"/>
                        </a:rPr>
                        <a:t>On-page locations</a:t>
                      </a:r>
                    </a:p>
                  </a:txBody>
                  <a:tcPr marL="111556" marR="111556" marT="137160" marB="13716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Hero, 1</a:t>
                      </a:r>
                      <a:r>
                        <a:rPr kumimoji="0" lang="en-US" sz="1100" b="0" i="0" u="none" strike="noStrike" kern="1200" cap="none" spc="0" normalizeH="0" baseline="30000" noProof="0" dirty="0">
                          <a:ln>
                            <a:noFill/>
                          </a:ln>
                          <a:solidFill>
                            <a:prstClr val="black"/>
                          </a:solidFill>
                          <a:effectLst/>
                          <a:uLnTx/>
                          <a:uFillTx/>
                          <a:latin typeface="Poppins" pitchFamily="2" charset="77"/>
                          <a:ea typeface="+mn-ea"/>
                          <a:cs typeface="Poppins" pitchFamily="2" charset="77"/>
                        </a:rPr>
                        <a:t>st</a:t>
                      </a:r>
                      <a:r>
                        <a:rPr kumimoji="0" lang="en-US" sz="1100" b="0"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 body section, 2</a:t>
                      </a:r>
                      <a:r>
                        <a:rPr kumimoji="0" lang="en-US" sz="1100" b="0" i="0" u="none" strike="noStrike" kern="1200" cap="none" spc="0" normalizeH="0" baseline="30000" noProof="0" dirty="0">
                          <a:ln>
                            <a:noFill/>
                          </a:ln>
                          <a:solidFill>
                            <a:prstClr val="black"/>
                          </a:solidFill>
                          <a:effectLst/>
                          <a:uLnTx/>
                          <a:uFillTx/>
                          <a:latin typeface="Poppins" pitchFamily="2" charset="77"/>
                          <a:ea typeface="+mn-ea"/>
                          <a:cs typeface="Poppins" pitchFamily="2" charset="77"/>
                        </a:rPr>
                        <a:t>nd</a:t>
                      </a:r>
                      <a:r>
                        <a:rPr kumimoji="0" lang="en-US" sz="1100" b="0"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 body section, bottom of page</a:t>
                      </a:r>
                    </a:p>
                  </a:txBody>
                  <a:tcPr marL="111556" marR="111556" marT="137160" marB="13716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Hero, 1</a:t>
                      </a:r>
                      <a:r>
                        <a:rPr kumimoji="0" lang="en-US" sz="1100" b="0" i="0" u="none" strike="noStrike" kern="1200" cap="none" spc="0" normalizeH="0" baseline="30000" noProof="0" dirty="0">
                          <a:ln>
                            <a:noFill/>
                          </a:ln>
                          <a:solidFill>
                            <a:prstClr val="black"/>
                          </a:solidFill>
                          <a:effectLst/>
                          <a:uLnTx/>
                          <a:uFillTx/>
                          <a:latin typeface="Poppins" pitchFamily="2" charset="77"/>
                          <a:ea typeface="+mn-ea"/>
                          <a:cs typeface="Poppins" pitchFamily="2" charset="77"/>
                        </a:rPr>
                        <a:t>st</a:t>
                      </a:r>
                      <a:r>
                        <a:rPr kumimoji="0" lang="en-US" sz="1100" b="0"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 body section, 2</a:t>
                      </a:r>
                      <a:r>
                        <a:rPr kumimoji="0" lang="en-US" sz="1100" b="0" i="0" u="none" strike="noStrike" kern="1200" cap="none" spc="0" normalizeH="0" baseline="30000" noProof="0" dirty="0">
                          <a:ln>
                            <a:noFill/>
                          </a:ln>
                          <a:solidFill>
                            <a:prstClr val="black"/>
                          </a:solidFill>
                          <a:effectLst/>
                          <a:uLnTx/>
                          <a:uFillTx/>
                          <a:latin typeface="Poppins" pitchFamily="2" charset="77"/>
                          <a:ea typeface="+mn-ea"/>
                          <a:cs typeface="Poppins" pitchFamily="2" charset="77"/>
                        </a:rPr>
                        <a:t>nd</a:t>
                      </a:r>
                      <a:r>
                        <a:rPr kumimoji="0" lang="en-US" sz="1100" b="0"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 body section, bottom of page</a:t>
                      </a:r>
                    </a:p>
                  </a:txBody>
                  <a:tcPr marL="111556" marR="111556" marT="137160" marB="13716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Multiple sections, Hero, 1</a:t>
                      </a:r>
                      <a:r>
                        <a:rPr kumimoji="0" lang="en-US" sz="1100" b="0" i="0" u="none" strike="noStrike" kern="1200" cap="none" spc="0" normalizeH="0" baseline="30000" noProof="0" dirty="0">
                          <a:ln>
                            <a:noFill/>
                          </a:ln>
                          <a:solidFill>
                            <a:prstClr val="black"/>
                          </a:solidFill>
                          <a:effectLst/>
                          <a:uLnTx/>
                          <a:uFillTx/>
                          <a:latin typeface="Poppins" pitchFamily="2" charset="77"/>
                          <a:ea typeface="+mn-ea"/>
                          <a:cs typeface="Poppins" pitchFamily="2" charset="77"/>
                        </a:rPr>
                        <a:t>st</a:t>
                      </a:r>
                      <a:r>
                        <a:rPr kumimoji="0" lang="en-US" sz="1100" b="0"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 body section, 2</a:t>
                      </a:r>
                      <a:r>
                        <a:rPr kumimoji="0" lang="en-US" sz="1100" b="0" i="0" u="none" strike="noStrike" kern="1200" cap="none" spc="0" normalizeH="0" baseline="30000" noProof="0" dirty="0">
                          <a:ln>
                            <a:noFill/>
                          </a:ln>
                          <a:solidFill>
                            <a:prstClr val="black"/>
                          </a:solidFill>
                          <a:effectLst/>
                          <a:uLnTx/>
                          <a:uFillTx/>
                          <a:latin typeface="Poppins" pitchFamily="2" charset="77"/>
                          <a:ea typeface="+mn-ea"/>
                          <a:cs typeface="Poppins" pitchFamily="2" charset="77"/>
                        </a:rPr>
                        <a:t>nd</a:t>
                      </a:r>
                      <a:r>
                        <a:rPr kumimoji="0" lang="en-US" sz="1100" b="0"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 body section, bottom of page</a:t>
                      </a:r>
                    </a:p>
                  </a:txBody>
                  <a:tcPr marL="111556" marR="111556" marT="137160" marB="13716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Multiple sections, Hero, 1</a:t>
                      </a:r>
                      <a:r>
                        <a:rPr kumimoji="0" lang="en-US" sz="1100" b="0" i="0" u="none" strike="noStrike" kern="1200" cap="none" spc="0" normalizeH="0" baseline="30000" noProof="0" dirty="0">
                          <a:ln>
                            <a:noFill/>
                          </a:ln>
                          <a:solidFill>
                            <a:prstClr val="black"/>
                          </a:solidFill>
                          <a:effectLst/>
                          <a:uLnTx/>
                          <a:uFillTx/>
                          <a:latin typeface="Poppins" pitchFamily="2" charset="77"/>
                          <a:ea typeface="+mn-ea"/>
                          <a:cs typeface="Poppins" pitchFamily="2" charset="77"/>
                        </a:rPr>
                        <a:t>st</a:t>
                      </a:r>
                      <a:r>
                        <a:rPr kumimoji="0" lang="en-US" sz="1100" b="0"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 body section, 2</a:t>
                      </a:r>
                      <a:r>
                        <a:rPr kumimoji="0" lang="en-US" sz="1100" b="0" i="0" u="none" strike="noStrike" kern="1200" cap="none" spc="0" normalizeH="0" baseline="30000" noProof="0" dirty="0">
                          <a:ln>
                            <a:noFill/>
                          </a:ln>
                          <a:solidFill>
                            <a:prstClr val="black"/>
                          </a:solidFill>
                          <a:effectLst/>
                          <a:uLnTx/>
                          <a:uFillTx/>
                          <a:latin typeface="Poppins" pitchFamily="2" charset="77"/>
                          <a:ea typeface="+mn-ea"/>
                          <a:cs typeface="Poppins" pitchFamily="2" charset="77"/>
                        </a:rPr>
                        <a:t>nd</a:t>
                      </a:r>
                      <a:r>
                        <a:rPr kumimoji="0" lang="en-US" sz="1100" b="0"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 body section, bottom of page</a:t>
                      </a:r>
                    </a:p>
                  </a:txBody>
                  <a:tcPr marL="111556" marR="111556" marT="137160" marB="13716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91722009"/>
                  </a:ext>
                </a:extLst>
              </a:tr>
              <a:tr h="0">
                <a:tc>
                  <a:txBody>
                    <a:bodyPr/>
                    <a:lstStyle/>
                    <a:p>
                      <a:pPr marL="0" marR="0" lvl="0" indent="0" algn="l" defTabSz="914377" rtl="0" eaLnBrk="1" fontAlgn="auto" latinLnBrk="0" hangingPunct="1">
                        <a:lnSpc>
                          <a:spcPct val="11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solidFill>
                          <a:effectLst/>
                          <a:uLnTx/>
                          <a:uFillTx/>
                          <a:latin typeface="Poppins SemiBold" pitchFamily="2" charset="77"/>
                          <a:ea typeface="+mn-ea"/>
                          <a:cs typeface="Poppins SemiBold" pitchFamily="2" charset="77"/>
                        </a:rPr>
                        <a:t>Monitoring cadence</a:t>
                      </a:r>
                    </a:p>
                  </a:txBody>
                  <a:tcPr marL="111556" marR="111556" marT="137160" marB="137160" anchor="ctr">
                    <a:lnL w="12700" cmpd="sng">
                      <a:noFill/>
                    </a:lnL>
                    <a:lnR w="12700" cmpd="sng">
                      <a:noFill/>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First 2 days + weekly check-in</a:t>
                      </a:r>
                    </a:p>
                  </a:txBody>
                  <a:tcPr marL="111556" marR="111556" marT="137160" marB="137160" anchor="ctr">
                    <a:lnL w="12700" cmpd="sng">
                      <a:noFill/>
                    </a:lnL>
                    <a:lnR w="12700" cmpd="sng">
                      <a:noFill/>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First 2 days + weekly check-in</a:t>
                      </a:r>
                    </a:p>
                  </a:txBody>
                  <a:tcPr marL="111556" marR="111556" marT="137160" marB="137160" anchor="ctr">
                    <a:lnL w="12700" cmpd="sng">
                      <a:noFill/>
                    </a:lnL>
                    <a:lnR w="12700" cmpd="sng">
                      <a:noFill/>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First 2 days + weekly check-in</a:t>
                      </a:r>
                    </a:p>
                  </a:txBody>
                  <a:tcPr marL="111556" marR="111556" marT="137160" marB="137160" anchor="ctr">
                    <a:lnL w="12700" cmpd="sng">
                      <a:noFill/>
                    </a:lnL>
                    <a:lnR w="12700" cmpd="sng">
                      <a:noFill/>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First 2 days + weekly check-in</a:t>
                      </a:r>
                    </a:p>
                  </a:txBody>
                  <a:tcPr marL="111556" marR="111556" marT="137160" marB="137160" anchor="ctr">
                    <a:lnL w="12700" cmpd="sng">
                      <a:noFill/>
                    </a:lnL>
                    <a:lnR w="12700" cmpd="sng">
                      <a:noFill/>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24690203"/>
                  </a:ext>
                </a:extLst>
              </a:tr>
              <a:tr h="0">
                <a:tc>
                  <a:txBody>
                    <a:bodyPr/>
                    <a:lstStyle/>
                    <a:p>
                      <a:pPr marL="0" marR="0" lvl="0" indent="0" algn="l" defTabSz="914377" rtl="0" eaLnBrk="1" fontAlgn="auto" latinLnBrk="0" hangingPunct="1">
                        <a:lnSpc>
                          <a:spcPct val="11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solidFill>
                          <a:effectLst/>
                          <a:uLnTx/>
                          <a:uFillTx/>
                          <a:latin typeface="Poppins SemiBold" pitchFamily="2" charset="77"/>
                          <a:ea typeface="+mn-ea"/>
                          <a:cs typeface="Poppins SemiBold" pitchFamily="2" charset="77"/>
                        </a:rPr>
                        <a:t>Negative delta tolerance pre stat sig</a:t>
                      </a:r>
                    </a:p>
                  </a:txBody>
                  <a:tcPr marL="111556" marR="111556" marT="137160" marB="137160" anchor="ctr">
                    <a:lnL w="12700" cmpd="sng">
                      <a:noFill/>
                    </a:lnL>
                    <a:lnR w="12700" cmpd="sng">
                      <a:noFill/>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5%, 10%, 15%</a:t>
                      </a:r>
                    </a:p>
                  </a:txBody>
                  <a:tcPr marL="111556" marR="111556" marT="137160" marB="137160" anchor="ctr">
                    <a:lnL w="12700" cmpd="sng">
                      <a:noFill/>
                    </a:lnL>
                    <a:lnR w="12700" cmpd="sng">
                      <a:noFill/>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5%, 10%, 15%</a:t>
                      </a:r>
                    </a:p>
                  </a:txBody>
                  <a:tcPr marL="111556" marR="111556" marT="137160" marB="137160" anchor="ctr">
                    <a:lnL w="12700" cmpd="sng">
                      <a:noFill/>
                    </a:lnL>
                    <a:lnR w="12700" cmpd="sng">
                      <a:noFill/>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5%, 10%, 15%</a:t>
                      </a:r>
                    </a:p>
                  </a:txBody>
                  <a:tcPr marL="111556" marR="111556" marT="137160" marB="137160" anchor="ctr">
                    <a:lnL w="12700" cmpd="sng">
                      <a:noFill/>
                    </a:lnL>
                    <a:lnR w="12700" cmpd="sng">
                      <a:noFill/>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5%, 10%, 15%</a:t>
                      </a:r>
                    </a:p>
                  </a:txBody>
                  <a:tcPr marL="111556" marR="111556" marT="137160" marB="137160" anchor="ctr">
                    <a:lnL w="12700" cmpd="sng">
                      <a:noFill/>
                    </a:lnL>
                    <a:lnR w="12700" cmpd="sng">
                      <a:noFill/>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38405630"/>
                  </a:ext>
                </a:extLst>
              </a:tr>
              <a:tr h="0">
                <a:tc>
                  <a:txBody>
                    <a:bodyPr/>
                    <a:lstStyle/>
                    <a:p>
                      <a:pPr marL="0" marR="0" lvl="0" indent="0" algn="l" defTabSz="914377" rtl="0" eaLnBrk="1" fontAlgn="auto" latinLnBrk="0" hangingPunct="1">
                        <a:lnSpc>
                          <a:spcPct val="11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solidFill>
                          <a:effectLst/>
                          <a:uLnTx/>
                          <a:uFillTx/>
                          <a:latin typeface="Poppins SemiBold" pitchFamily="2" charset="77"/>
                          <a:ea typeface="+mn-ea"/>
                          <a:cs typeface="Poppins SemiBold" pitchFamily="2" charset="77"/>
                        </a:rPr>
                        <a:t>Specific guidance?</a:t>
                      </a:r>
                    </a:p>
                  </a:txBody>
                  <a:tcPr marL="111556" marR="111556" marT="137160" marB="137160" anchor="ctr">
                    <a:lnL w="12700" cmpd="sng">
                      <a:noFill/>
                    </a:lnL>
                    <a:lnR w="12700" cmpd="sng">
                      <a:noFill/>
                    </a:lnR>
                    <a:lnT w="12700" cap="flat" cmpd="sng" algn="ctr">
                      <a:solidFill>
                        <a:schemeClr val="bg1">
                          <a:lumMod val="75000"/>
                        </a:schemeClr>
                      </a:solidFill>
                      <a:prstDash val="sysDot"/>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[Client]</a:t>
                      </a:r>
                      <a:r>
                        <a:rPr kumimoji="0" lang="en-US" sz="1100" b="0"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 Feedback:</a:t>
                      </a:r>
                    </a:p>
                    <a:p>
                      <a:pPr marL="228600" marR="0" lvl="0" indent="-228600" algn="l" defTabSz="914400" rtl="0" eaLnBrk="1" fontAlgn="auto" latinLnBrk="0" hangingPunct="1">
                        <a:lnSpc>
                          <a:spcPct val="110000"/>
                        </a:lnSpc>
                        <a:spcBef>
                          <a:spcPts val="0"/>
                        </a:spcBef>
                        <a:spcAft>
                          <a:spcPts val="0"/>
                        </a:spcAft>
                        <a:buClrTx/>
                        <a:buSzTx/>
                        <a:buFontTx/>
                        <a:buAutoNum type="arabicPeriod"/>
                        <a:tabLst/>
                        <a:defRPr/>
                      </a:pPr>
                      <a:r>
                        <a:rPr kumimoji="0" lang="en-US" sz="1100" b="0"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A</a:t>
                      </a:r>
                    </a:p>
                    <a:p>
                      <a:pPr marL="228600" marR="0" lvl="0" indent="-228600" algn="l" defTabSz="914400" rtl="0" eaLnBrk="1" fontAlgn="auto" latinLnBrk="0" hangingPunct="1">
                        <a:lnSpc>
                          <a:spcPct val="110000"/>
                        </a:lnSpc>
                        <a:spcBef>
                          <a:spcPts val="0"/>
                        </a:spcBef>
                        <a:spcAft>
                          <a:spcPts val="0"/>
                        </a:spcAft>
                        <a:buClrTx/>
                        <a:buSzTx/>
                        <a:buFontTx/>
                        <a:buAutoNum type="arabicPeriod"/>
                        <a:tabLst/>
                        <a:defRPr/>
                      </a:pPr>
                      <a:r>
                        <a:rPr kumimoji="0" lang="en-US" sz="1100" b="0"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B</a:t>
                      </a:r>
                    </a:p>
                    <a:p>
                      <a:pPr marL="228600" marR="0" lvl="0" indent="-228600" algn="l" defTabSz="914400" rtl="0" eaLnBrk="1" fontAlgn="auto" latinLnBrk="0" hangingPunct="1">
                        <a:lnSpc>
                          <a:spcPct val="110000"/>
                        </a:lnSpc>
                        <a:spcBef>
                          <a:spcPts val="0"/>
                        </a:spcBef>
                        <a:spcAft>
                          <a:spcPts val="0"/>
                        </a:spcAft>
                        <a:buClrTx/>
                        <a:buSzTx/>
                        <a:buFontTx/>
                        <a:buAutoNum type="arabicPeriod"/>
                        <a:tabLst/>
                        <a:defRPr/>
                      </a:pPr>
                      <a:r>
                        <a:rPr kumimoji="0" lang="en-US" sz="1100" b="0"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C</a:t>
                      </a:r>
                    </a:p>
                  </a:txBody>
                  <a:tcPr marL="111556" marR="111556" marT="137160" marB="137160" anchor="ctr">
                    <a:lnL w="12700" cmpd="sng">
                      <a:noFill/>
                    </a:lnL>
                    <a:lnR w="12700" cmpd="sng">
                      <a:noFill/>
                    </a:lnR>
                    <a:lnT w="12700" cap="flat" cmpd="sng" algn="ctr">
                      <a:solidFill>
                        <a:schemeClr val="bg1">
                          <a:lumMod val="75000"/>
                        </a:schemeClr>
                      </a:solidFill>
                      <a:prstDash val="sysDot"/>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[Client]</a:t>
                      </a:r>
                      <a:r>
                        <a:rPr kumimoji="0" lang="en-US" sz="1100" b="0"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 Feedback:</a:t>
                      </a:r>
                    </a:p>
                    <a:p>
                      <a:pPr marL="228600" marR="0" lvl="0" indent="-228600" algn="l" defTabSz="914400" rtl="0" eaLnBrk="1" fontAlgn="auto" latinLnBrk="0" hangingPunct="1">
                        <a:lnSpc>
                          <a:spcPct val="110000"/>
                        </a:lnSpc>
                        <a:spcBef>
                          <a:spcPts val="0"/>
                        </a:spcBef>
                        <a:spcAft>
                          <a:spcPts val="0"/>
                        </a:spcAft>
                        <a:buClrTx/>
                        <a:buSzTx/>
                        <a:buFontTx/>
                        <a:buAutoNum type="arabicPeriod"/>
                        <a:tabLst/>
                        <a:defRPr/>
                      </a:pPr>
                      <a:r>
                        <a:rPr kumimoji="0" lang="en-US" sz="1100" b="0"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A</a:t>
                      </a:r>
                    </a:p>
                    <a:p>
                      <a:pPr marL="228600" marR="0" lvl="0" indent="-228600" algn="l" defTabSz="914400" rtl="0" eaLnBrk="1" fontAlgn="auto" latinLnBrk="0" hangingPunct="1">
                        <a:lnSpc>
                          <a:spcPct val="110000"/>
                        </a:lnSpc>
                        <a:spcBef>
                          <a:spcPts val="0"/>
                        </a:spcBef>
                        <a:spcAft>
                          <a:spcPts val="0"/>
                        </a:spcAft>
                        <a:buClrTx/>
                        <a:buSzTx/>
                        <a:buFontTx/>
                        <a:buAutoNum type="arabicPeriod"/>
                        <a:tabLst/>
                        <a:defRPr/>
                      </a:pPr>
                      <a:r>
                        <a:rPr kumimoji="0" lang="en-US" sz="1100" b="0"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B</a:t>
                      </a:r>
                    </a:p>
                    <a:p>
                      <a:pPr marL="228600" marR="0" lvl="0" indent="-228600" algn="l" defTabSz="914400" rtl="0" eaLnBrk="1" fontAlgn="auto" latinLnBrk="0" hangingPunct="1">
                        <a:lnSpc>
                          <a:spcPct val="110000"/>
                        </a:lnSpc>
                        <a:spcBef>
                          <a:spcPts val="0"/>
                        </a:spcBef>
                        <a:spcAft>
                          <a:spcPts val="0"/>
                        </a:spcAft>
                        <a:buClrTx/>
                        <a:buSzTx/>
                        <a:buFontTx/>
                        <a:buAutoNum type="arabicPeriod"/>
                        <a:tabLst/>
                        <a:defRPr/>
                      </a:pPr>
                      <a:r>
                        <a:rPr kumimoji="0" lang="en-US" sz="1100" b="0"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C</a:t>
                      </a:r>
                    </a:p>
                  </a:txBody>
                  <a:tcPr marL="111556" marR="111556" marT="137160" marB="137160" anchor="ctr">
                    <a:lnL w="12700" cmpd="sng">
                      <a:noFill/>
                    </a:lnL>
                    <a:lnR w="12700" cmpd="sng">
                      <a:noFill/>
                    </a:lnR>
                    <a:lnT w="12700" cap="flat" cmpd="sng" algn="ctr">
                      <a:solidFill>
                        <a:schemeClr val="bg1">
                          <a:lumMod val="75000"/>
                        </a:schemeClr>
                      </a:solidFill>
                      <a:prstDash val="sysDot"/>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[Client]</a:t>
                      </a:r>
                      <a:r>
                        <a:rPr kumimoji="0" lang="en-US" sz="1100" b="0"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 Feedback:</a:t>
                      </a:r>
                    </a:p>
                    <a:p>
                      <a:pPr marL="228600" marR="0" lvl="0" indent="-228600" algn="l" defTabSz="914400" rtl="0" eaLnBrk="1" fontAlgn="auto" latinLnBrk="0" hangingPunct="1">
                        <a:lnSpc>
                          <a:spcPct val="110000"/>
                        </a:lnSpc>
                        <a:spcBef>
                          <a:spcPts val="0"/>
                        </a:spcBef>
                        <a:spcAft>
                          <a:spcPts val="0"/>
                        </a:spcAft>
                        <a:buClrTx/>
                        <a:buSzTx/>
                        <a:buFontTx/>
                        <a:buAutoNum type="arabicPeriod"/>
                        <a:tabLst/>
                        <a:defRPr/>
                      </a:pPr>
                      <a:r>
                        <a:rPr kumimoji="0" lang="en-US" sz="1100" b="0"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A</a:t>
                      </a:r>
                    </a:p>
                    <a:p>
                      <a:pPr marL="228600" marR="0" lvl="0" indent="-228600" algn="l" defTabSz="914400" rtl="0" eaLnBrk="1" fontAlgn="auto" latinLnBrk="0" hangingPunct="1">
                        <a:lnSpc>
                          <a:spcPct val="110000"/>
                        </a:lnSpc>
                        <a:spcBef>
                          <a:spcPts val="0"/>
                        </a:spcBef>
                        <a:spcAft>
                          <a:spcPts val="0"/>
                        </a:spcAft>
                        <a:buClrTx/>
                        <a:buSzTx/>
                        <a:buFontTx/>
                        <a:buAutoNum type="arabicPeriod"/>
                        <a:tabLst/>
                        <a:defRPr/>
                      </a:pPr>
                      <a:r>
                        <a:rPr kumimoji="0" lang="en-US" sz="1100" b="0"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B</a:t>
                      </a:r>
                    </a:p>
                    <a:p>
                      <a:pPr marL="228600" marR="0" lvl="0" indent="-228600" algn="l" defTabSz="914400" rtl="0" eaLnBrk="1" fontAlgn="auto" latinLnBrk="0" hangingPunct="1">
                        <a:lnSpc>
                          <a:spcPct val="110000"/>
                        </a:lnSpc>
                        <a:spcBef>
                          <a:spcPts val="0"/>
                        </a:spcBef>
                        <a:spcAft>
                          <a:spcPts val="0"/>
                        </a:spcAft>
                        <a:buClrTx/>
                        <a:buSzTx/>
                        <a:buFontTx/>
                        <a:buAutoNum type="arabicPeriod"/>
                        <a:tabLst/>
                        <a:defRPr/>
                      </a:pPr>
                      <a:r>
                        <a:rPr kumimoji="0" lang="en-US" sz="1100" b="0"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C</a:t>
                      </a:r>
                    </a:p>
                  </a:txBody>
                  <a:tcPr marL="111556" marR="111556" marT="137160" marB="137160" anchor="ctr">
                    <a:lnL w="12700" cmpd="sng">
                      <a:noFill/>
                    </a:lnL>
                    <a:lnR w="12700" cmpd="sng">
                      <a:noFill/>
                    </a:lnR>
                    <a:lnT w="12700" cap="flat" cmpd="sng" algn="ctr">
                      <a:solidFill>
                        <a:schemeClr val="bg1">
                          <a:lumMod val="75000"/>
                        </a:schemeClr>
                      </a:solidFill>
                      <a:prstDash val="sysDot"/>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[Client]</a:t>
                      </a:r>
                      <a:r>
                        <a:rPr kumimoji="0" lang="en-US" sz="1100" b="0"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 Feedback:</a:t>
                      </a:r>
                    </a:p>
                    <a:p>
                      <a:pPr marL="228600" marR="0" lvl="0" indent="-228600" algn="l" defTabSz="914400" rtl="0" eaLnBrk="1" fontAlgn="auto" latinLnBrk="0" hangingPunct="1">
                        <a:lnSpc>
                          <a:spcPct val="110000"/>
                        </a:lnSpc>
                        <a:spcBef>
                          <a:spcPts val="0"/>
                        </a:spcBef>
                        <a:spcAft>
                          <a:spcPts val="0"/>
                        </a:spcAft>
                        <a:buClrTx/>
                        <a:buSzTx/>
                        <a:buFontTx/>
                        <a:buAutoNum type="arabicPeriod"/>
                        <a:tabLst/>
                        <a:defRPr/>
                      </a:pPr>
                      <a:r>
                        <a:rPr kumimoji="0" lang="en-US" sz="1100" b="0"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A</a:t>
                      </a:r>
                    </a:p>
                    <a:p>
                      <a:pPr marL="228600" marR="0" lvl="0" indent="-228600" algn="l" defTabSz="914400" rtl="0" eaLnBrk="1" fontAlgn="auto" latinLnBrk="0" hangingPunct="1">
                        <a:lnSpc>
                          <a:spcPct val="110000"/>
                        </a:lnSpc>
                        <a:spcBef>
                          <a:spcPts val="0"/>
                        </a:spcBef>
                        <a:spcAft>
                          <a:spcPts val="0"/>
                        </a:spcAft>
                        <a:buClrTx/>
                        <a:buSzTx/>
                        <a:buFontTx/>
                        <a:buAutoNum type="arabicPeriod"/>
                        <a:tabLst/>
                        <a:defRPr/>
                      </a:pPr>
                      <a:r>
                        <a:rPr kumimoji="0" lang="en-US" sz="1100" b="0"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B</a:t>
                      </a:r>
                    </a:p>
                    <a:p>
                      <a:pPr marL="228600" marR="0" lvl="0" indent="-228600" algn="l" defTabSz="914400" rtl="0" eaLnBrk="1" fontAlgn="auto" latinLnBrk="0" hangingPunct="1">
                        <a:lnSpc>
                          <a:spcPct val="110000"/>
                        </a:lnSpc>
                        <a:spcBef>
                          <a:spcPts val="0"/>
                        </a:spcBef>
                        <a:spcAft>
                          <a:spcPts val="0"/>
                        </a:spcAft>
                        <a:buClrTx/>
                        <a:buSzTx/>
                        <a:buFontTx/>
                        <a:buAutoNum type="arabicPeriod"/>
                        <a:tabLst/>
                        <a:defRPr/>
                      </a:pPr>
                      <a:r>
                        <a:rPr kumimoji="0" lang="en-US" sz="1100" b="0"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C</a:t>
                      </a:r>
                    </a:p>
                  </a:txBody>
                  <a:tcPr marL="111556" marR="111556" marT="137160" marB="137160" anchor="ctr">
                    <a:lnL w="12700" cmpd="sng">
                      <a:noFill/>
                    </a:lnL>
                    <a:lnR w="12700" cmpd="sng">
                      <a:noFill/>
                    </a:lnR>
                    <a:lnT w="12700" cap="flat" cmpd="sng" algn="ctr">
                      <a:solidFill>
                        <a:schemeClr val="bg1">
                          <a:lumMod val="75000"/>
                        </a:schemeClr>
                      </a:solidFill>
                      <a:prstDash val="sysDot"/>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73905573"/>
                  </a:ext>
                </a:extLst>
              </a:tr>
            </a:tbl>
          </a:graphicData>
        </a:graphic>
      </p:graphicFrame>
      <p:sp>
        <p:nvSpPr>
          <p:cNvPr id="5" name="Title 1">
            <a:extLst>
              <a:ext uri="{FF2B5EF4-FFF2-40B4-BE49-F238E27FC236}">
                <a16:creationId xmlns:a16="http://schemas.microsoft.com/office/drawing/2014/main" id="{A0374B98-B3F6-1FF2-F97F-C5742CCDE03A}"/>
              </a:ext>
            </a:extLst>
          </p:cNvPr>
          <p:cNvSpPr txBox="1">
            <a:spLocks/>
          </p:cNvSpPr>
          <p:nvPr/>
        </p:nvSpPr>
        <p:spPr>
          <a:xfrm>
            <a:off x="554989" y="771015"/>
            <a:ext cx="11082019" cy="547842"/>
          </a:xfrm>
          <a:prstGeom prst="rect">
            <a:avLst/>
          </a:prstGeom>
        </p:spPr>
        <p:txBody>
          <a:bodyPr vert="horz" lIns="91440" tIns="45720" rIns="91440" bIns="45720" rtlCol="0" anchor="t">
            <a:spAutoFit/>
          </a:bodyPr>
          <a:lstStyle>
            <a:lvl1pPr algn="l" defTabSz="914377" rtl="0" eaLnBrk="1" latinLnBrk="0" hangingPunct="1">
              <a:lnSpc>
                <a:spcPct val="90000"/>
              </a:lnSpc>
              <a:spcBef>
                <a:spcPct val="0"/>
              </a:spcBef>
              <a:buNone/>
              <a:defRPr sz="3200" b="1" kern="1200">
                <a:solidFill>
                  <a:schemeClr val="accent4"/>
                </a:solidFill>
                <a:latin typeface="Poppins" panose="00000500000000000000" pitchFamily="2" charset="0"/>
                <a:ea typeface="+mj-ea"/>
                <a:cs typeface="Poppins" panose="00000500000000000000" pitchFamily="2" charset="0"/>
              </a:defRPr>
            </a:lvl1pPr>
          </a:lstStyle>
          <a:p>
            <a:pPr algn="ctr"/>
            <a:r>
              <a:rPr lang="en-US" dirty="0">
                <a:solidFill>
                  <a:schemeClr val="accent1"/>
                </a:solidFill>
              </a:rPr>
              <a:t>How Does [Client] Perceive Low Risk?</a:t>
            </a:r>
          </a:p>
        </p:txBody>
      </p:sp>
    </p:spTree>
    <p:extLst>
      <p:ext uri="{BB962C8B-B14F-4D97-AF65-F5344CB8AC3E}">
        <p14:creationId xmlns:p14="http://schemas.microsoft.com/office/powerpoint/2010/main" val="2118800445"/>
      </p:ext>
    </p:extLst>
  </p:cSld>
  <p:clrMapOvr>
    <a:masterClrMapping/>
  </p:clrMapOvr>
  <p:extLst>
    <p:ext uri="{6950BFC3-D8DA-4A85-94F7-54DA5524770B}">
      <p188:commentRel xmlns:p188="http://schemas.microsoft.com/office/powerpoint/2018/8/main" r:id="rId2"/>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33FE44-4CD4-F1B5-4D87-E18F384FA31F}"/>
            </a:ext>
          </a:extLst>
        </p:cNvPr>
        <p:cNvGrpSpPr/>
        <p:nvPr/>
      </p:nvGrpSpPr>
      <p:grpSpPr>
        <a:xfrm>
          <a:off x="0" y="0"/>
          <a:ext cx="0" cy="0"/>
          <a:chOff x="0" y="0"/>
          <a:chExt cx="0" cy="0"/>
        </a:xfrm>
      </p:grpSpPr>
      <p:graphicFrame>
        <p:nvGraphicFramePr>
          <p:cNvPr id="3" name="Table 6">
            <a:extLst>
              <a:ext uri="{FF2B5EF4-FFF2-40B4-BE49-F238E27FC236}">
                <a16:creationId xmlns:a16="http://schemas.microsoft.com/office/drawing/2014/main" id="{8870E06A-0378-E54B-F79D-169B44ED88A0}"/>
              </a:ext>
            </a:extLst>
          </p:cNvPr>
          <p:cNvGraphicFramePr>
            <a:graphicFrameLocks noGrp="1"/>
          </p:cNvGraphicFramePr>
          <p:nvPr>
            <p:extLst>
              <p:ext uri="{D42A27DB-BD31-4B8C-83A1-F6EECF244321}">
                <p14:modId xmlns:p14="http://schemas.microsoft.com/office/powerpoint/2010/main" val="2494189967"/>
              </p:ext>
            </p:extLst>
          </p:nvPr>
        </p:nvGraphicFramePr>
        <p:xfrm>
          <a:off x="554991" y="1919291"/>
          <a:ext cx="10924803" cy="3846703"/>
        </p:xfrm>
        <a:graphic>
          <a:graphicData uri="http://schemas.openxmlformats.org/drawingml/2006/table">
            <a:tbl>
              <a:tblPr firstRow="1" bandRow="1">
                <a:tableStyleId>{073A0DAA-6AF3-43AB-8588-CEC1D06C72B9}</a:tableStyleId>
              </a:tblPr>
              <a:tblGrid>
                <a:gridCol w="4275058">
                  <a:extLst>
                    <a:ext uri="{9D8B030D-6E8A-4147-A177-3AD203B41FA5}">
                      <a16:colId xmlns:a16="http://schemas.microsoft.com/office/drawing/2014/main" val="3214227377"/>
                    </a:ext>
                  </a:extLst>
                </a:gridCol>
                <a:gridCol w="6649745">
                  <a:extLst>
                    <a:ext uri="{9D8B030D-6E8A-4147-A177-3AD203B41FA5}">
                      <a16:colId xmlns:a16="http://schemas.microsoft.com/office/drawing/2014/main" val="3478323516"/>
                    </a:ext>
                  </a:extLst>
                </a:gridCol>
              </a:tblGrid>
              <a:tr h="0">
                <a:tc gridSpan="2">
                  <a:txBody>
                    <a:bodyPr/>
                    <a:lstStyle/>
                    <a:p>
                      <a:pPr algn="l">
                        <a:lnSpc>
                          <a:spcPct val="110000"/>
                        </a:lnSpc>
                      </a:pPr>
                      <a:r>
                        <a:rPr lang="en-US" sz="1400" b="1" i="0" kern="1200" dirty="0">
                          <a:solidFill>
                            <a:schemeClr val="lt1"/>
                          </a:solidFill>
                          <a:latin typeface="Poppins SemiBold" pitchFamily="2" charset="77"/>
                          <a:ea typeface="+mn-ea"/>
                          <a:cs typeface="Poppins SemiBold" pitchFamily="2" charset="77"/>
                        </a:rPr>
                        <a:t>Information to Collect</a:t>
                      </a:r>
                    </a:p>
                  </a:txBody>
                  <a:tcPr marL="111556" marR="111556" marT="137160" marB="137160" anchor="ctr">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hMerge="1">
                  <a:txBody>
                    <a:bodyPr/>
                    <a:lstStyle/>
                    <a:p>
                      <a:endParaRPr dirty="0"/>
                    </a:p>
                  </a:txBody>
                  <a:tcPr marL="111556" marR="111556" marT="137160" marB="137160" anchor="ctr">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672505719"/>
                  </a:ext>
                </a:extLst>
              </a:tr>
              <a:tr h="0">
                <a:tc>
                  <a:txBody>
                    <a:bodyPr/>
                    <a:lstStyle/>
                    <a:p>
                      <a:pPr marL="0" marR="0" lvl="0" indent="0" algn="l" defTabSz="914377" rtl="0" eaLnBrk="1" fontAlgn="auto" latinLnBrk="0" hangingPunct="1">
                        <a:lnSpc>
                          <a:spcPct val="11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solidFill>
                          <a:effectLst/>
                          <a:uLnTx/>
                          <a:uFillTx/>
                          <a:latin typeface="Poppins SemiBold" pitchFamily="2" charset="77"/>
                          <a:ea typeface="+mn-ea"/>
                          <a:cs typeface="Poppins SemiBold" pitchFamily="2" charset="77"/>
                        </a:rPr>
                        <a:t>Documentation Categories</a:t>
                      </a:r>
                    </a:p>
                  </a:txBody>
                  <a:tcPr marL="111556" marR="111556" marT="137160" marB="13716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lnSpc>
                          <a:spcPct val="110000"/>
                        </a:lnSpc>
                      </a:pPr>
                      <a:r>
                        <a:rPr kumimoji="0" lang="en-US" sz="1100" b="1"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Potential category values</a:t>
                      </a:r>
                      <a:endParaRPr lang="en-US" sz="1100" b="1" dirty="0">
                        <a:solidFill>
                          <a:schemeClr val="tx1"/>
                        </a:solidFill>
                        <a:latin typeface="Poppins" pitchFamily="2" charset="77"/>
                        <a:cs typeface="Poppins" pitchFamily="2" charset="77"/>
                      </a:endParaRPr>
                    </a:p>
                  </a:txBody>
                  <a:tcPr marL="111556" marR="111556" marT="137160" marB="13716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244635319"/>
                  </a:ext>
                </a:extLst>
              </a:tr>
              <a:tr h="0">
                <a:tc>
                  <a:txBody>
                    <a:bodyPr/>
                    <a:lstStyle/>
                    <a:p>
                      <a:pPr marL="0" marR="0" lvl="0" indent="0" algn="l" defTabSz="914377" rtl="0" eaLnBrk="1" fontAlgn="auto" latinLnBrk="0" hangingPunct="1">
                        <a:lnSpc>
                          <a:spcPct val="11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solidFill>
                          <a:effectLst/>
                          <a:uLnTx/>
                          <a:uFillTx/>
                          <a:latin typeface="Poppins SemiBold" pitchFamily="2" charset="77"/>
                          <a:ea typeface="+mn-ea"/>
                          <a:cs typeface="Poppins SemiBold" pitchFamily="2" charset="77"/>
                        </a:rPr>
                        <a:t>Client Revenue Model</a:t>
                      </a:r>
                    </a:p>
                  </a:txBody>
                  <a:tcPr marL="111556" marR="111556" marT="137160" marB="13716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Ecom, Lead Gen, Mixed</a:t>
                      </a:r>
                    </a:p>
                  </a:txBody>
                  <a:tcPr marL="111556" marR="111556" marT="137160" marB="13716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91722009"/>
                  </a:ext>
                </a:extLst>
              </a:tr>
              <a:tr h="0">
                <a:tc>
                  <a:txBody>
                    <a:bodyPr/>
                    <a:lstStyle/>
                    <a:p>
                      <a:pPr marL="0" marR="0" lvl="0" indent="0" algn="l" defTabSz="914377" rtl="0" eaLnBrk="1" fontAlgn="auto" latinLnBrk="0" hangingPunct="1">
                        <a:lnSpc>
                          <a:spcPct val="11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solidFill>
                          <a:effectLst/>
                          <a:uLnTx/>
                          <a:uFillTx/>
                          <a:latin typeface="Poppins SemiBold" pitchFamily="2" charset="77"/>
                          <a:ea typeface="+mn-ea"/>
                          <a:cs typeface="Poppins SemiBold" pitchFamily="2" charset="77"/>
                        </a:rPr>
                        <a:t>Client Requires Legal Involvement For Content</a:t>
                      </a:r>
                    </a:p>
                  </a:txBody>
                  <a:tcPr marL="111556" marR="111556" marT="137160" marB="137160" anchor="ctr">
                    <a:lnL w="12700" cmpd="sng">
                      <a:noFill/>
                    </a:lnL>
                    <a:lnR w="12700" cmpd="sng">
                      <a:noFill/>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Yes, No</a:t>
                      </a:r>
                    </a:p>
                  </a:txBody>
                  <a:tcPr marL="111556" marR="111556" marT="137160" marB="137160" anchor="ctr">
                    <a:lnL w="12700" cmpd="sng">
                      <a:noFill/>
                    </a:lnL>
                    <a:lnR w="12700" cmpd="sng">
                      <a:noFill/>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24690203"/>
                  </a:ext>
                </a:extLst>
              </a:tr>
              <a:tr h="0">
                <a:tc>
                  <a:txBody>
                    <a:bodyPr/>
                    <a:lstStyle/>
                    <a:p>
                      <a:pPr marL="0" marR="0" lvl="0" indent="0" algn="l" defTabSz="914377" rtl="0" eaLnBrk="1" fontAlgn="auto" latinLnBrk="0" hangingPunct="1">
                        <a:lnSpc>
                          <a:spcPct val="11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solidFill>
                          <a:effectLst/>
                          <a:uLnTx/>
                          <a:uFillTx/>
                          <a:latin typeface="Poppins SemiBold" pitchFamily="2" charset="77"/>
                          <a:ea typeface="+mn-ea"/>
                          <a:cs typeface="Poppins SemiBold" pitchFamily="2" charset="77"/>
                        </a:rPr>
                        <a:t>Test Idea Types</a:t>
                      </a:r>
                    </a:p>
                  </a:txBody>
                  <a:tcPr marL="111556" marR="111556" marT="137160" marB="137160" anchor="ctr">
                    <a:lnL w="12700" cmpd="sng">
                      <a:noFill/>
                    </a:lnL>
                    <a:lnR w="12700" cmpd="sng">
                      <a:noFill/>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Image Swap, Copy Change, Page or List Ordering, Colors, Element Removal, Other</a:t>
                      </a:r>
                    </a:p>
                  </a:txBody>
                  <a:tcPr marL="111556" marR="111556" marT="137160" marB="137160" anchor="ctr">
                    <a:lnL w="12700" cmpd="sng">
                      <a:noFill/>
                    </a:lnL>
                    <a:lnR w="12700" cmpd="sng">
                      <a:noFill/>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38405630"/>
                  </a:ext>
                </a:extLst>
              </a:tr>
              <a:tr h="0">
                <a:tc>
                  <a:txBody>
                    <a:bodyPr/>
                    <a:lstStyle/>
                    <a:p>
                      <a:pPr marL="0" marR="0" lvl="0" indent="0" algn="l" defTabSz="914377" rtl="0" eaLnBrk="1" fontAlgn="auto" latinLnBrk="0" hangingPunct="1">
                        <a:lnSpc>
                          <a:spcPct val="11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solidFill>
                          <a:effectLst/>
                          <a:uLnTx/>
                          <a:uFillTx/>
                          <a:latin typeface="Poppins SemiBold" pitchFamily="2" charset="77"/>
                          <a:ea typeface="+mn-ea"/>
                          <a:cs typeface="Poppins SemiBold" pitchFamily="2" charset="77"/>
                        </a:rPr>
                        <a:t>Individuals Succeeding Most Often</a:t>
                      </a:r>
                    </a:p>
                  </a:txBody>
                  <a:tcPr marL="111556" marR="111556" marT="137160" marB="137160" anchor="ctr">
                    <a:lnL w="12700" cmpd="sng">
                      <a:noFill/>
                    </a:lnL>
                    <a:lnR w="12700" cmpd="sng">
                      <a:noFill/>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Done by team</a:t>
                      </a:r>
                      <a:r>
                        <a:rPr kumimoji="0" lang="en-US" sz="1100" b="0"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 Account Lead, CRO Lead &amp; PM</a:t>
                      </a:r>
                    </a:p>
                  </a:txBody>
                  <a:tcPr marL="111556" marR="111556" marT="137160" marB="137160" anchor="ctr">
                    <a:lnL w="12700" cmpd="sng">
                      <a:noFill/>
                    </a:lnL>
                    <a:lnR w="12700" cmpd="sng">
                      <a:noFill/>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83758312"/>
                  </a:ext>
                </a:extLst>
              </a:tr>
              <a:tr h="0">
                <a:tc>
                  <a:txBody>
                    <a:bodyPr/>
                    <a:lstStyle/>
                    <a:p>
                      <a:pPr marL="0" marR="0" lvl="0" indent="0" algn="l" defTabSz="914377" rtl="0" eaLnBrk="1" fontAlgn="auto" latinLnBrk="0" hangingPunct="1">
                        <a:lnSpc>
                          <a:spcPct val="11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solidFill>
                          <a:effectLst/>
                          <a:uLnTx/>
                          <a:uFillTx/>
                          <a:latin typeface="Poppins SemiBold" pitchFamily="2" charset="77"/>
                          <a:ea typeface="+mn-ea"/>
                          <a:cs typeface="Poppins SemiBold" pitchFamily="2" charset="77"/>
                        </a:rPr>
                        <a:t>Hours Spent</a:t>
                      </a:r>
                    </a:p>
                  </a:txBody>
                  <a:tcPr marL="111556" marR="111556" marT="137160" marB="137160" anchor="ctr">
                    <a:lnL w="12700" cmpd="sng">
                      <a:noFill/>
                    </a:lnL>
                    <a:lnR w="12700" cmpd="sng">
                      <a:noFill/>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Done by team</a:t>
                      </a:r>
                      <a:r>
                        <a:rPr kumimoji="0" lang="en-US" sz="1100" b="0"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 Accounts, CRO, PM, Design, Dev, QA</a:t>
                      </a:r>
                    </a:p>
                  </a:txBody>
                  <a:tcPr marL="111556" marR="111556" marT="137160" marB="137160" anchor="ctr">
                    <a:lnL w="12700" cmpd="sng">
                      <a:noFill/>
                    </a:lnL>
                    <a:lnR w="12700" cmpd="sng">
                      <a:noFill/>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73905573"/>
                  </a:ext>
                </a:extLst>
              </a:tr>
              <a:tr h="0">
                <a:tc>
                  <a:txBody>
                    <a:bodyPr/>
                    <a:lstStyle/>
                    <a:p>
                      <a:pPr marL="0" marR="0" lvl="0" indent="0" algn="l" defTabSz="914377" rtl="0" eaLnBrk="1" fontAlgn="auto" latinLnBrk="0" hangingPunct="1">
                        <a:lnSpc>
                          <a:spcPct val="11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solidFill>
                          <a:effectLst/>
                          <a:uLnTx/>
                          <a:uFillTx/>
                          <a:latin typeface="Poppins SemiBold" pitchFamily="2" charset="77"/>
                          <a:ea typeface="+mn-ea"/>
                          <a:cs typeface="Poppins SemiBold" pitchFamily="2" charset="77"/>
                        </a:rPr>
                        <a:t>Turnaround Time</a:t>
                      </a:r>
                    </a:p>
                  </a:txBody>
                  <a:tcPr marL="111556" marR="111556" marT="137160" marB="137160" anchor="ctr">
                    <a:lnL w="12700" cmpd="sng">
                      <a:noFill/>
                    </a:lnL>
                    <a:lnR w="12700" cmpd="sng">
                      <a:noFill/>
                    </a:lnR>
                    <a:lnT w="12700" cap="flat" cmpd="sng" algn="ctr">
                      <a:solidFill>
                        <a:schemeClr val="bg1">
                          <a:lumMod val="75000"/>
                        </a:schemeClr>
                      </a:solidFill>
                      <a:prstDash val="sysDot"/>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Workdays spent completing the project</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Done by phase</a:t>
                      </a:r>
                      <a:r>
                        <a:rPr kumimoji="0" lang="en-US" sz="1100" b="0"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 Briefing, design input, dev, QA, client alignment, test run, analysis</a:t>
                      </a:r>
                    </a:p>
                  </a:txBody>
                  <a:tcPr marL="111556" marR="111556" marT="137160" marB="137160" anchor="ctr">
                    <a:lnL w="12700" cmpd="sng">
                      <a:noFill/>
                    </a:lnL>
                    <a:lnR w="12700" cmpd="sng">
                      <a:noFill/>
                    </a:lnR>
                    <a:lnT w="12700" cap="flat" cmpd="sng" algn="ctr">
                      <a:solidFill>
                        <a:schemeClr val="bg1">
                          <a:lumMod val="75000"/>
                        </a:schemeClr>
                      </a:solidFill>
                      <a:prstDash val="sysDot"/>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233788"/>
                  </a:ext>
                </a:extLst>
              </a:tr>
            </a:tbl>
          </a:graphicData>
        </a:graphic>
      </p:graphicFrame>
      <p:sp>
        <p:nvSpPr>
          <p:cNvPr id="2" name="Title 1">
            <a:extLst>
              <a:ext uri="{FF2B5EF4-FFF2-40B4-BE49-F238E27FC236}">
                <a16:creationId xmlns:a16="http://schemas.microsoft.com/office/drawing/2014/main" id="{C41801B8-1CFB-4187-778E-134075F6795B}"/>
              </a:ext>
            </a:extLst>
          </p:cNvPr>
          <p:cNvSpPr txBox="1">
            <a:spLocks/>
          </p:cNvSpPr>
          <p:nvPr/>
        </p:nvSpPr>
        <p:spPr>
          <a:xfrm>
            <a:off x="554989" y="505194"/>
            <a:ext cx="11082019" cy="982833"/>
          </a:xfrm>
          <a:prstGeom prst="rect">
            <a:avLst/>
          </a:prstGeom>
        </p:spPr>
        <p:txBody>
          <a:bodyPr vert="horz" lIns="91440" tIns="45720" rIns="91440" bIns="45720" rtlCol="0" anchor="t">
            <a:spAutoFit/>
          </a:bodyPr>
          <a:lstStyle>
            <a:lvl1pPr algn="l" defTabSz="914377" rtl="0" eaLnBrk="1" latinLnBrk="0" hangingPunct="1">
              <a:lnSpc>
                <a:spcPct val="90000"/>
              </a:lnSpc>
              <a:spcBef>
                <a:spcPct val="0"/>
              </a:spcBef>
              <a:buNone/>
              <a:defRPr sz="3200" b="1" kern="1200">
                <a:solidFill>
                  <a:schemeClr val="accent4"/>
                </a:solidFill>
                <a:latin typeface="Poppins" panose="00000500000000000000" pitchFamily="2" charset="0"/>
                <a:ea typeface="+mj-ea"/>
                <a:cs typeface="Poppins" panose="00000500000000000000" pitchFamily="2" charset="0"/>
              </a:defRPr>
            </a:lvl1pPr>
          </a:lstStyle>
          <a:p>
            <a:pPr algn="ctr"/>
            <a:r>
              <a:rPr lang="en-US" dirty="0">
                <a:solidFill>
                  <a:schemeClr val="accent1"/>
                </a:solidFill>
              </a:rPr>
              <a:t>Document Successes To Refine Flash Process Criteria: </a:t>
            </a:r>
            <a:r>
              <a:rPr lang="en-US" altLang="en-US" b="0" dirty="0">
                <a:solidFill>
                  <a:srgbClr val="0070C0"/>
                </a:solidFill>
                <a:latin typeface="Arial" panose="020B0604020202020204" pitchFamily="34" charset="0"/>
                <a:hlinkClick r:id="rId2">
                  <a:extLst>
                    <a:ext uri="{A12FA001-AC4F-418D-AE19-62706E023703}">
                      <ahyp:hlinkClr xmlns:ahyp="http://schemas.microsoft.com/office/drawing/2018/hyperlinkcolor" val="tx"/>
                    </a:ext>
                  </a:extLst>
                </a:hlinkClick>
              </a:rPr>
              <a:t>CRO - Flash Process Attempt Tracking.xlsx</a:t>
            </a:r>
            <a:endParaRPr lang="en-US" dirty="0">
              <a:solidFill>
                <a:schemeClr val="accent1"/>
              </a:solidFill>
            </a:endParaRPr>
          </a:p>
        </p:txBody>
      </p:sp>
    </p:spTree>
    <p:extLst>
      <p:ext uri="{BB962C8B-B14F-4D97-AF65-F5344CB8AC3E}">
        <p14:creationId xmlns:p14="http://schemas.microsoft.com/office/powerpoint/2010/main" val="31460706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572A5-8144-D415-6324-0457B9B93D3F}"/>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0915BE81-9F15-6ADA-2CBF-817297B5EB31}"/>
              </a:ext>
            </a:extLst>
          </p:cNvPr>
          <p:cNvGrpSpPr/>
          <p:nvPr/>
        </p:nvGrpSpPr>
        <p:grpSpPr>
          <a:xfrm>
            <a:off x="4380784" y="744632"/>
            <a:ext cx="7146289" cy="5641814"/>
            <a:chOff x="4380784" y="744632"/>
            <a:chExt cx="7146289" cy="5641814"/>
          </a:xfrm>
        </p:grpSpPr>
        <p:sp>
          <p:nvSpPr>
            <p:cNvPr id="4" name="Rounded Rectangle 3">
              <a:extLst>
                <a:ext uri="{FF2B5EF4-FFF2-40B4-BE49-F238E27FC236}">
                  <a16:creationId xmlns:a16="http://schemas.microsoft.com/office/drawing/2014/main" id="{5DBA3753-F6BC-3949-D732-1F9738532D44}"/>
                </a:ext>
              </a:extLst>
            </p:cNvPr>
            <p:cNvSpPr/>
            <p:nvPr/>
          </p:nvSpPr>
          <p:spPr>
            <a:xfrm>
              <a:off x="4380785" y="744632"/>
              <a:ext cx="7146288" cy="5641814"/>
            </a:xfrm>
            <a:prstGeom prst="roundRect">
              <a:avLst>
                <a:gd name="adj" fmla="val 4005"/>
              </a:avLst>
            </a:prstGeom>
            <a:solidFill>
              <a:schemeClr val="bg1">
                <a:lumMod val="95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Poppins"/>
                <a:ea typeface="+mn-ea"/>
                <a:cs typeface="+mn-cs"/>
              </a:endParaRPr>
            </a:p>
          </p:txBody>
        </p:sp>
        <p:cxnSp>
          <p:nvCxnSpPr>
            <p:cNvPr id="5" name="Straight Arrow Connector 4">
              <a:extLst>
                <a:ext uri="{FF2B5EF4-FFF2-40B4-BE49-F238E27FC236}">
                  <a16:creationId xmlns:a16="http://schemas.microsoft.com/office/drawing/2014/main" id="{AE8EA2BF-4698-B0CB-2080-E09CE2E70BE3}"/>
                </a:ext>
              </a:extLst>
            </p:cNvPr>
            <p:cNvCxnSpPr>
              <a:cxnSpLocks/>
            </p:cNvCxnSpPr>
            <p:nvPr/>
          </p:nvCxnSpPr>
          <p:spPr>
            <a:xfrm>
              <a:off x="7932414" y="1371681"/>
              <a:ext cx="0" cy="4300551"/>
            </a:xfrm>
            <a:prstGeom prst="straightConnector1">
              <a:avLst/>
            </a:prstGeom>
            <a:solidFill>
              <a:schemeClr val="accent1"/>
            </a:solidFill>
            <a:ln w="25400">
              <a:solidFill>
                <a:schemeClr val="bg1">
                  <a:lumMod val="50000"/>
                </a:schemeClr>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FBC6E1C8-468E-04A0-ACFD-29CFBC6E368B}"/>
                </a:ext>
              </a:extLst>
            </p:cNvPr>
            <p:cNvCxnSpPr>
              <a:cxnSpLocks/>
            </p:cNvCxnSpPr>
            <p:nvPr/>
          </p:nvCxnSpPr>
          <p:spPr>
            <a:xfrm rot="5400000">
              <a:off x="7932414" y="1821776"/>
              <a:ext cx="0" cy="6628520"/>
            </a:xfrm>
            <a:prstGeom prst="straightConnector1">
              <a:avLst/>
            </a:prstGeom>
            <a:solidFill>
              <a:schemeClr val="accent1"/>
            </a:solidFill>
            <a:ln w="25400">
              <a:solidFill>
                <a:schemeClr val="bg1">
                  <a:lumMod val="50000"/>
                </a:schemeClr>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DF683689-6781-5EC0-F5BE-8916E41EC8A4}"/>
                </a:ext>
              </a:extLst>
            </p:cNvPr>
            <p:cNvSpPr txBox="1"/>
            <p:nvPr/>
          </p:nvSpPr>
          <p:spPr>
            <a:xfrm>
              <a:off x="6927858" y="1580560"/>
              <a:ext cx="2251899" cy="411777"/>
            </a:xfrm>
            <a:prstGeom prst="roundRect">
              <a:avLst>
                <a:gd name="adj" fmla="val 50000"/>
              </a:avLst>
            </a:prstGeom>
            <a:solidFill>
              <a:schemeClr val="accent2"/>
            </a:solidFill>
            <a:ln>
              <a:noFill/>
            </a:ln>
          </p:spPr>
          <p:txBody>
            <a:bodyPr wrap="square" lIns="91440" tIns="45720" rIns="91440" bIns="45720" rtlCol="0" anchor="ctr">
              <a:no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100" b="0" i="0" u="none" strike="noStrike" cap="none" spc="0" normalizeH="0" baseline="0">
                  <a:ln>
                    <a:noFill/>
                  </a:ln>
                  <a:solidFill>
                    <a:srgbClr val="FFFFFF"/>
                  </a:solidFill>
                  <a:effectLst/>
                  <a:uLnTx/>
                  <a:uFillTx/>
                  <a:latin typeface="Poppins SemiBold" pitchFamily="2" charset="77"/>
                  <a:cs typeface="Poppins SemiBold" pitchFamily="2" charset="77"/>
                </a:defRPr>
              </a:lvl1pPr>
            </a:lstStyle>
            <a:p>
              <a:r>
                <a:rPr lang="en-US">
                  <a:solidFill>
                    <a:schemeClr val="bg1"/>
                  </a:solidFill>
                </a:rPr>
                <a:t>Devry’s New Template Re-directs</a:t>
              </a:r>
            </a:p>
          </p:txBody>
        </p:sp>
        <p:sp>
          <p:nvSpPr>
            <p:cNvPr id="11" name="TextBox 10">
              <a:extLst>
                <a:ext uri="{FF2B5EF4-FFF2-40B4-BE49-F238E27FC236}">
                  <a16:creationId xmlns:a16="http://schemas.microsoft.com/office/drawing/2014/main" id="{292A3FF8-B231-27EB-E493-A22F5382D97D}"/>
                </a:ext>
              </a:extLst>
            </p:cNvPr>
            <p:cNvSpPr txBox="1"/>
            <p:nvPr/>
          </p:nvSpPr>
          <p:spPr>
            <a:xfrm>
              <a:off x="7317542" y="984871"/>
              <a:ext cx="1229746" cy="276999"/>
            </a:xfrm>
            <a:prstGeom prst="rect">
              <a:avLst/>
            </a:prstGeom>
            <a:solidFill>
              <a:schemeClr val="bg1">
                <a:lumMod val="95000"/>
              </a:schemeClr>
            </a:solid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Poppins SemiBold" pitchFamily="2" charset="77"/>
                  <a:ea typeface="+mn-ea"/>
                  <a:cs typeface="Poppins SemiBold" pitchFamily="2" charset="77"/>
                </a:rPr>
                <a:t>High Impact</a:t>
              </a:r>
            </a:p>
          </p:txBody>
        </p:sp>
        <p:sp>
          <p:nvSpPr>
            <p:cNvPr id="12" name="TextBox 11">
              <a:extLst>
                <a:ext uri="{FF2B5EF4-FFF2-40B4-BE49-F238E27FC236}">
                  <a16:creationId xmlns:a16="http://schemas.microsoft.com/office/drawing/2014/main" id="{912BDF14-C49B-D9D1-E017-E983DDA9B0D6}"/>
                </a:ext>
              </a:extLst>
            </p:cNvPr>
            <p:cNvSpPr txBox="1"/>
            <p:nvPr/>
          </p:nvSpPr>
          <p:spPr>
            <a:xfrm>
              <a:off x="8972165" y="4996258"/>
              <a:ext cx="1074334" cy="276999"/>
            </a:xfrm>
            <a:prstGeom prst="rect">
              <a:avLst/>
            </a:prstGeom>
            <a:solidFill>
              <a:schemeClr val="bg1">
                <a:lumMod val="95000"/>
              </a:schemeClr>
            </a:solid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Poppins SemiBold" pitchFamily="2" charset="77"/>
                  <a:ea typeface="+mn-ea"/>
                  <a:cs typeface="Poppins SemiBold" pitchFamily="2" charset="77"/>
                </a:rPr>
                <a:t>High Effort</a:t>
              </a:r>
            </a:p>
          </p:txBody>
        </p:sp>
        <p:sp>
          <p:nvSpPr>
            <p:cNvPr id="15" name="TextBox 14">
              <a:extLst>
                <a:ext uri="{FF2B5EF4-FFF2-40B4-BE49-F238E27FC236}">
                  <a16:creationId xmlns:a16="http://schemas.microsoft.com/office/drawing/2014/main" id="{20B0102C-6CE1-44FF-65CD-A013ED39F134}"/>
                </a:ext>
              </a:extLst>
            </p:cNvPr>
            <p:cNvSpPr txBox="1"/>
            <p:nvPr/>
          </p:nvSpPr>
          <p:spPr>
            <a:xfrm>
              <a:off x="5847573" y="4996258"/>
              <a:ext cx="1010536" cy="276999"/>
            </a:xfrm>
            <a:prstGeom prst="rect">
              <a:avLst/>
            </a:prstGeom>
            <a:solidFill>
              <a:schemeClr val="bg1">
                <a:lumMod val="95000"/>
              </a:schemeClr>
            </a:solid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Poppins SemiBold" pitchFamily="2" charset="77"/>
                  <a:ea typeface="+mn-ea"/>
                  <a:cs typeface="Poppins SemiBold" pitchFamily="2" charset="77"/>
                </a:rPr>
                <a:t>Low Effort</a:t>
              </a:r>
            </a:p>
          </p:txBody>
        </p:sp>
        <p:sp>
          <p:nvSpPr>
            <p:cNvPr id="17" name="TextBox 16">
              <a:extLst>
                <a:ext uri="{FF2B5EF4-FFF2-40B4-BE49-F238E27FC236}">
                  <a16:creationId xmlns:a16="http://schemas.microsoft.com/office/drawing/2014/main" id="{2BE8B173-F10D-8A5F-AC9A-D097DB2CB276}"/>
                </a:ext>
              </a:extLst>
            </p:cNvPr>
            <p:cNvSpPr txBox="1"/>
            <p:nvPr/>
          </p:nvSpPr>
          <p:spPr>
            <a:xfrm>
              <a:off x="6065913" y="2563044"/>
              <a:ext cx="1565991" cy="435755"/>
            </a:xfrm>
            <a:prstGeom prst="roundRect">
              <a:avLst>
                <a:gd name="adj" fmla="val 50000"/>
              </a:avLst>
            </a:prstGeom>
            <a:solidFill>
              <a:schemeClr val="accent2"/>
            </a:solidFill>
            <a:ln>
              <a:noFill/>
            </a:ln>
          </p:spPr>
          <p:txBody>
            <a:bodyPr wrap="square" lIns="91440" tIns="45720" rIns="91440" bIns="45720" rtlCol="0" anchor="ctr">
              <a:noAutofit/>
            </a:bodyPr>
            <a:lstStyle>
              <a:defPPr>
                <a:defRPr lang="en-US"/>
              </a:defPPr>
              <a:lvl1pPr>
                <a:defRPr sz="1200" b="1">
                  <a:solidFill>
                    <a:schemeClr val="bg1"/>
                  </a:solidFill>
                </a:defRPr>
              </a:lvl1pPr>
            </a:lstStyle>
            <a:p>
              <a:pPr marL="9525"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Poppins SemiBold" pitchFamily="2" charset="77"/>
                  <a:ea typeface="+mn-ea"/>
                  <a:cs typeface="Poppins SemiBold" pitchFamily="2" charset="77"/>
                </a:rPr>
                <a:t>Full-Page Redirects</a:t>
              </a:r>
              <a:endParaRPr kumimoji="0" lang="en-US" sz="1100" b="0" i="0" u="none" strike="noStrike" kern="1200" cap="none" spc="0" normalizeH="0" baseline="0" noProof="0">
                <a:ln>
                  <a:noFill/>
                </a:ln>
                <a:solidFill>
                  <a:srgbClr val="FFFFFF"/>
                </a:solidFill>
                <a:effectLst/>
                <a:uLnTx/>
                <a:uFillTx/>
                <a:latin typeface="Poppins SemiBold"/>
                <a:ea typeface="+mn-ea"/>
                <a:cs typeface="Poppins SemiBold" pitchFamily="2" charset="77"/>
              </a:endParaRPr>
            </a:p>
          </p:txBody>
        </p:sp>
        <p:sp>
          <p:nvSpPr>
            <p:cNvPr id="37" name="TextBox 36">
              <a:extLst>
                <a:ext uri="{FF2B5EF4-FFF2-40B4-BE49-F238E27FC236}">
                  <a16:creationId xmlns:a16="http://schemas.microsoft.com/office/drawing/2014/main" id="{C80BA539-3433-6F1F-A349-28B29DC1ABE4}"/>
                </a:ext>
              </a:extLst>
            </p:cNvPr>
            <p:cNvSpPr txBox="1"/>
            <p:nvPr/>
          </p:nvSpPr>
          <p:spPr>
            <a:xfrm>
              <a:off x="4380784" y="6037344"/>
              <a:ext cx="7146281" cy="306964"/>
            </a:xfrm>
            <a:prstGeom prst="rect">
              <a:avLst/>
            </a:prstGeom>
            <a:noFill/>
            <a:ln>
              <a:noFill/>
            </a:ln>
          </p:spPr>
          <p:txBody>
            <a:bodyPr wrap="square" lIns="91440" tIns="45720" rIns="91440" bIns="45720" rtlCol="0" anchor="t">
              <a:noAutofit/>
            </a:bodyPr>
            <a:lstStyle>
              <a:defPPr>
                <a:defRPr lang="en-US"/>
              </a:defPPr>
              <a:lvl1pPr>
                <a:defRPr sz="1200" b="1">
                  <a:solidFill>
                    <a:schemeClr val="bg1"/>
                  </a:solidFill>
                </a:defRPr>
              </a:lvl1pPr>
            </a:lstStyle>
            <a:p>
              <a:pPr lvl="0" algn="ctr" eaLnBrk="1" fontAlgn="auto" hangingPunct="1">
                <a:spcBef>
                  <a:spcPts val="0"/>
                </a:spcBef>
                <a:spcAft>
                  <a:spcPts val="0"/>
                </a:spcAft>
                <a:defRPr/>
              </a:pPr>
              <a:r>
                <a:rPr lang="en-US" sz="1100" b="0">
                  <a:solidFill>
                    <a:schemeClr val="tx1"/>
                  </a:solidFill>
                  <a:latin typeface="Poppins" pitchFamily="2" charset="77"/>
                  <a:cs typeface="Poppins" pitchFamily="2" charset="77"/>
                </a:rPr>
                <a:t>Current Devry Initiative                              </a:t>
              </a:r>
              <a:endParaRPr kumimoji="0" lang="en-US" sz="1100" b="0" i="0" u="none" strike="noStrike" kern="1200" cap="none" spc="0" normalizeH="0" baseline="0" noProof="0">
                <a:ln>
                  <a:noFill/>
                </a:ln>
                <a:solidFill>
                  <a:schemeClr val="tx1"/>
                </a:solidFill>
                <a:effectLst/>
                <a:uLnTx/>
                <a:uFillTx/>
                <a:latin typeface="Poppins" pitchFamily="2" charset="77"/>
                <a:cs typeface="Poppins" pitchFamily="2" charset="77"/>
              </a:endParaRPr>
            </a:p>
          </p:txBody>
        </p:sp>
        <p:sp>
          <p:nvSpPr>
            <p:cNvPr id="40" name="TextBox 39">
              <a:extLst>
                <a:ext uri="{FF2B5EF4-FFF2-40B4-BE49-F238E27FC236}">
                  <a16:creationId xmlns:a16="http://schemas.microsoft.com/office/drawing/2014/main" id="{9BEA7DEF-DD6A-2C99-B5F2-C14810C9478C}"/>
                </a:ext>
              </a:extLst>
            </p:cNvPr>
            <p:cNvSpPr txBox="1"/>
            <p:nvPr/>
          </p:nvSpPr>
          <p:spPr>
            <a:xfrm>
              <a:off x="8808680" y="2987840"/>
              <a:ext cx="2337549" cy="435755"/>
            </a:xfrm>
            <a:prstGeom prst="roundRect">
              <a:avLst>
                <a:gd name="adj" fmla="val 50000"/>
              </a:avLst>
            </a:prstGeom>
            <a:solidFill>
              <a:schemeClr val="accent1"/>
            </a:solidFill>
            <a:ln>
              <a:noFill/>
            </a:ln>
          </p:spPr>
          <p:txBody>
            <a:bodyPr wrap="square" lIns="91440" tIns="45720" rIns="91440" bIns="45720" rtlCol="0" anchor="ctr">
              <a:no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sz="1100" b="1">
                  <a:solidFill>
                    <a:srgbClr val="FFFFFF"/>
                  </a:solidFill>
                  <a:latin typeface="Poppins SemiBold" pitchFamily="2" charset="77"/>
                  <a:cs typeface="Poppins SemiBold" pitchFamily="2" charset="77"/>
                </a:defRPr>
              </a:lvl1pPr>
            </a:lstStyle>
            <a:p>
              <a:r>
                <a:rPr lang="en-US">
                  <a:solidFill>
                    <a:schemeClr val="bg1"/>
                  </a:solidFill>
                </a:rPr>
                <a:t>Build Impactful New Content – Landing Pages</a:t>
              </a:r>
            </a:p>
          </p:txBody>
        </p:sp>
        <p:sp>
          <p:nvSpPr>
            <p:cNvPr id="8" name="TextBox 7">
              <a:extLst>
                <a:ext uri="{FF2B5EF4-FFF2-40B4-BE49-F238E27FC236}">
                  <a16:creationId xmlns:a16="http://schemas.microsoft.com/office/drawing/2014/main" id="{DEE6A9E0-B081-331E-ACAD-C60C03C52A80}"/>
                </a:ext>
              </a:extLst>
            </p:cNvPr>
            <p:cNvSpPr txBox="1"/>
            <p:nvPr/>
          </p:nvSpPr>
          <p:spPr>
            <a:xfrm>
              <a:off x="6715194" y="3008558"/>
              <a:ext cx="1655354" cy="484445"/>
            </a:xfrm>
            <a:prstGeom prst="roundRect">
              <a:avLst>
                <a:gd name="adj" fmla="val 50000"/>
              </a:avLst>
            </a:prstGeom>
            <a:solidFill>
              <a:schemeClr val="accent2"/>
            </a:solidFill>
            <a:ln>
              <a:noFill/>
            </a:ln>
          </p:spPr>
          <p:txBody>
            <a:bodyPr wrap="square" lIns="91440" tIns="45720" rIns="91440" bIns="45720" rtlCol="0" anchor="ctr">
              <a:no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sz="1100" b="1">
                  <a:solidFill>
                    <a:srgbClr val="FFFFFF"/>
                  </a:solidFill>
                  <a:latin typeface="Poppins SemiBold" pitchFamily="2" charset="77"/>
                  <a:cs typeface="Poppins SemiBold" pitchFamily="2" charset="77"/>
                </a:defRPr>
              </a:lvl1pPr>
            </a:lstStyle>
            <a:p>
              <a:r>
                <a:rPr lang="en-US"/>
                <a:t>Re-direct High Impact Keywords</a:t>
              </a:r>
            </a:p>
          </p:txBody>
        </p:sp>
        <p:sp>
          <p:nvSpPr>
            <p:cNvPr id="16" name="TextBox 15">
              <a:extLst>
                <a:ext uri="{FF2B5EF4-FFF2-40B4-BE49-F238E27FC236}">
                  <a16:creationId xmlns:a16="http://schemas.microsoft.com/office/drawing/2014/main" id="{9A0C9B33-87D9-4363-19FD-355F22E62D16}"/>
                </a:ext>
              </a:extLst>
            </p:cNvPr>
            <p:cNvSpPr txBox="1"/>
            <p:nvPr/>
          </p:nvSpPr>
          <p:spPr>
            <a:xfrm>
              <a:off x="8807855" y="2429527"/>
              <a:ext cx="2337549" cy="480115"/>
            </a:xfrm>
            <a:prstGeom prst="roundRect">
              <a:avLst>
                <a:gd name="adj" fmla="val 50000"/>
              </a:avLst>
            </a:prstGeom>
            <a:solidFill>
              <a:schemeClr val="accent3"/>
            </a:solidFill>
            <a:ln>
              <a:noFill/>
            </a:ln>
          </p:spPr>
          <p:txBody>
            <a:bodyPr wrap="square" lIns="91440" tIns="45720" rIns="91440" bIns="45720" rtlCol="0" anchor="ctr">
              <a:no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100" b="0" i="0" u="none" strike="noStrike" cap="none" spc="0" normalizeH="0" baseline="0">
                  <a:ln>
                    <a:noFill/>
                  </a:ln>
                  <a:solidFill>
                    <a:srgbClr val="FFFFFF"/>
                  </a:solidFill>
                  <a:effectLst/>
                  <a:uLnTx/>
                  <a:uFillTx/>
                  <a:latin typeface="Poppins SemiBold" pitchFamily="2" charset="77"/>
                  <a:cs typeface="Poppins SemiBold" pitchFamily="2" charset="77"/>
                </a:defRPr>
              </a:lvl1pPr>
            </a:lstStyle>
            <a:p>
              <a:r>
                <a:rPr lang="en-US">
                  <a:solidFill>
                    <a:schemeClr val="tx1"/>
                  </a:solidFill>
                </a:rPr>
                <a:t>Onsite UX – Searchable Selections &amp; </a:t>
              </a:r>
            </a:p>
            <a:p>
              <a:r>
                <a:rPr lang="en-US">
                  <a:solidFill>
                    <a:schemeClr val="tx1"/>
                  </a:solidFill>
                </a:rPr>
                <a:t>Pre-filled Form Values</a:t>
              </a:r>
            </a:p>
          </p:txBody>
        </p:sp>
        <p:sp>
          <p:nvSpPr>
            <p:cNvPr id="13" name="TextBox 12">
              <a:extLst>
                <a:ext uri="{FF2B5EF4-FFF2-40B4-BE49-F238E27FC236}">
                  <a16:creationId xmlns:a16="http://schemas.microsoft.com/office/drawing/2014/main" id="{3752F315-0480-2C4E-FC05-69E9D11DFBDE}"/>
                </a:ext>
              </a:extLst>
            </p:cNvPr>
            <p:cNvSpPr txBox="1"/>
            <p:nvPr/>
          </p:nvSpPr>
          <p:spPr>
            <a:xfrm>
              <a:off x="9454832" y="1418237"/>
              <a:ext cx="1854882" cy="474592"/>
            </a:xfrm>
            <a:prstGeom prst="roundRect">
              <a:avLst>
                <a:gd name="adj" fmla="val 50000"/>
              </a:avLst>
            </a:prstGeom>
            <a:solidFill>
              <a:srgbClr val="C9D6E5"/>
            </a:solidFill>
            <a:ln>
              <a:noFill/>
            </a:ln>
          </p:spPr>
          <p:txBody>
            <a:bodyPr wrap="square" lIns="91440" tIns="45720" rIns="91440" bIns="45720" rtlCol="0" anchor="ctr">
              <a:noAutofit/>
            </a:bodyPr>
            <a:lstStyle>
              <a:defPPr>
                <a:defRPr lang="en-US"/>
              </a:defPPr>
              <a:lvl1pPr marR="0" lvl="0" indent="0" algn="ctr" fontAlgn="auto">
                <a:lnSpc>
                  <a:spcPct val="100000"/>
                </a:lnSpc>
                <a:spcBef>
                  <a:spcPts val="0"/>
                </a:spcBef>
                <a:spcAft>
                  <a:spcPts val="0"/>
                </a:spcAft>
                <a:buClrTx/>
                <a:buSzTx/>
                <a:buFontTx/>
                <a:buNone/>
                <a:tabLst/>
                <a:defRPr kumimoji="0" sz="1300" b="1" i="0" u="none" strike="noStrike" cap="none" spc="0" normalizeH="0" baseline="0">
                  <a:ln>
                    <a:noFill/>
                  </a:ln>
                  <a:solidFill>
                    <a:srgbClr val="FFFFFF"/>
                  </a:solidFill>
                  <a:effectLst/>
                  <a:uLnTx/>
                  <a:uFillTx/>
                  <a:latin typeface="Poppins SemiBold" pitchFamily="2" charset="77"/>
                  <a:cs typeface="Poppins SemiBold" pitchFamily="2" charset="77"/>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chemeClr val="tx2"/>
                  </a:solidFill>
                  <a:effectLst/>
                  <a:uLnTx/>
                  <a:uFillTx/>
                  <a:latin typeface="Poppins SemiBold" pitchFamily="2" charset="77"/>
                  <a:ea typeface="+mn-ea"/>
                  <a:cs typeface="Poppins SemiBold" pitchFamily="2" charset="77"/>
                </a:rPr>
                <a:t>Full Strategic Audit &amp; Recommendations</a:t>
              </a:r>
            </a:p>
          </p:txBody>
        </p:sp>
        <p:sp>
          <p:nvSpPr>
            <p:cNvPr id="10" name="TextBox 9">
              <a:extLst>
                <a:ext uri="{FF2B5EF4-FFF2-40B4-BE49-F238E27FC236}">
                  <a16:creationId xmlns:a16="http://schemas.microsoft.com/office/drawing/2014/main" id="{CFCA3C5A-5EF2-28F8-FBC5-5A9454206FB2}"/>
                </a:ext>
              </a:extLst>
            </p:cNvPr>
            <p:cNvSpPr txBox="1"/>
            <p:nvPr/>
          </p:nvSpPr>
          <p:spPr>
            <a:xfrm>
              <a:off x="6927858" y="2051263"/>
              <a:ext cx="2044307" cy="474592"/>
            </a:xfrm>
            <a:prstGeom prst="roundRect">
              <a:avLst>
                <a:gd name="adj" fmla="val 50000"/>
              </a:avLst>
            </a:prstGeom>
            <a:solidFill>
              <a:schemeClr val="accent1"/>
            </a:solidFill>
            <a:ln>
              <a:noFill/>
            </a:ln>
          </p:spPr>
          <p:txBody>
            <a:bodyPr wrap="square" lIns="91440" tIns="45720" rIns="91440" bIns="45720" rtlCol="0" anchor="ctr">
              <a:noAutofit/>
            </a:bodyPr>
            <a:lstStyle>
              <a:defPPr>
                <a:defRPr lang="en-US"/>
              </a:defPPr>
              <a:lvl1pPr marR="0" lvl="0" indent="0" algn="ctr" fontAlgn="auto">
                <a:lnSpc>
                  <a:spcPct val="100000"/>
                </a:lnSpc>
                <a:spcBef>
                  <a:spcPts val="0"/>
                </a:spcBef>
                <a:spcAft>
                  <a:spcPts val="0"/>
                </a:spcAft>
                <a:buClrTx/>
                <a:buSzTx/>
                <a:buFontTx/>
                <a:buNone/>
                <a:tabLst/>
                <a:defRPr kumimoji="0" sz="1300" b="1" i="0" u="none" strike="noStrike" cap="none" spc="0" normalizeH="0" baseline="0">
                  <a:ln>
                    <a:noFill/>
                  </a:ln>
                  <a:solidFill>
                    <a:srgbClr val="FFFFFF"/>
                  </a:solidFill>
                  <a:effectLst/>
                  <a:uLnTx/>
                  <a:uFillTx/>
                  <a:latin typeface="Poppins SemiBold" pitchFamily="2" charset="77"/>
                  <a:cs typeface="Poppins SemiBold" pitchFamily="2" charset="77"/>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chemeClr val="bg1"/>
                  </a:solidFill>
                  <a:effectLst/>
                  <a:uLnTx/>
                  <a:uFillTx/>
                  <a:latin typeface="Poppins SemiBold" pitchFamily="2" charset="77"/>
                  <a:ea typeface="+mn-ea"/>
                  <a:cs typeface="Poppins SemiBold" pitchFamily="2" charset="77"/>
                </a:rPr>
                <a:t>New Content – Trust Signals &amp; Accreditation</a:t>
              </a:r>
            </a:p>
          </p:txBody>
        </p:sp>
      </p:grpSp>
      <p:sp>
        <p:nvSpPr>
          <p:cNvPr id="34" name="Title 3">
            <a:extLst>
              <a:ext uri="{FF2B5EF4-FFF2-40B4-BE49-F238E27FC236}">
                <a16:creationId xmlns:a16="http://schemas.microsoft.com/office/drawing/2014/main" id="{28C98230-C58F-4B73-DABB-A47E3FFAE983}"/>
              </a:ext>
            </a:extLst>
          </p:cNvPr>
          <p:cNvSpPr txBox="1">
            <a:spLocks/>
          </p:cNvSpPr>
          <p:nvPr/>
        </p:nvSpPr>
        <p:spPr>
          <a:xfrm>
            <a:off x="511075" y="824984"/>
            <a:ext cx="4207525" cy="1520416"/>
          </a:xfrm>
          <a:prstGeom prst="rect">
            <a:avLst/>
          </a:prstGeom>
        </p:spPr>
        <p:txBody>
          <a:bodyPr vert="horz" lIns="91440" tIns="91440" rIns="91440" bIns="91440" rtlCol="0" anchor="t">
            <a:spAutoFit/>
          </a:bodyPr>
          <a:lstStyle>
            <a:lvl1pPr algn="ctr" defTabSz="914400" rtl="0" eaLnBrk="1" latinLnBrk="0" hangingPunct="1">
              <a:lnSpc>
                <a:spcPct val="100000"/>
              </a:lnSpc>
              <a:spcBef>
                <a:spcPct val="0"/>
              </a:spcBef>
              <a:buNone/>
              <a:defRPr sz="2800" b="1" i="0" kern="1200">
                <a:solidFill>
                  <a:schemeClr val="tx2"/>
                </a:solidFill>
                <a:latin typeface="Poppins SemiBold" pitchFamily="2" charset="77"/>
                <a:ea typeface="+mj-ea"/>
                <a:cs typeface="Poppins SemiBold" pitchFamily="2" charset="77"/>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800" b="0" i="0" u="none" strike="noStrike" kern="1200" cap="none" spc="0" normalizeH="0" baseline="0" noProof="0">
                <a:ln>
                  <a:noFill/>
                </a:ln>
                <a:solidFill>
                  <a:srgbClr val="00196E"/>
                </a:solidFill>
                <a:effectLst/>
                <a:uLnTx/>
                <a:uFillTx/>
                <a:latin typeface="Poppins ExtraLight" panose="00000300000000000000" pitchFamily="2" charset="0"/>
                <a:ea typeface="Arial"/>
                <a:cs typeface="Poppins ExtraLight" panose="00000300000000000000" pitchFamily="2" charset="0"/>
                <a:sym typeface="Arial"/>
              </a:rPr>
              <a:t>IMPACT</a:t>
            </a:r>
            <a:r>
              <a:rPr kumimoji="0" lang="en-US" sz="4800" b="0" i="0" u="none" strike="noStrike" kern="1200" cap="none" spc="0" normalizeH="0" baseline="0" noProof="0">
                <a:ln>
                  <a:noFill/>
                </a:ln>
                <a:solidFill>
                  <a:srgbClr val="00196E"/>
                </a:solidFill>
                <a:effectLst/>
                <a:uLnTx/>
                <a:uFillTx/>
                <a:latin typeface="Poppins ExtraBold" panose="00000900000000000000" pitchFamily="2" charset="0"/>
                <a:ea typeface="Arial"/>
                <a:cs typeface="Poppins ExtraBold" panose="00000900000000000000" pitchFamily="2" charset="0"/>
                <a:sym typeface="Arial"/>
              </a:rPr>
              <a:t> </a:t>
            </a:r>
            <a:br>
              <a:rPr kumimoji="0" lang="en-US" sz="4800" b="1" i="0" u="none" strike="noStrike" kern="1200" cap="none" spc="0" normalizeH="0" baseline="0" noProof="0">
                <a:ln>
                  <a:noFill/>
                </a:ln>
                <a:solidFill>
                  <a:srgbClr val="00196E"/>
                </a:solidFill>
                <a:effectLst/>
                <a:uLnTx/>
                <a:uFillTx/>
                <a:latin typeface="Poppins ExtraBold" panose="00000900000000000000" pitchFamily="2" charset="0"/>
                <a:ea typeface="Arial"/>
                <a:cs typeface="Poppins ExtraBold" panose="00000900000000000000" pitchFamily="2" charset="0"/>
              </a:rPr>
            </a:br>
            <a:r>
              <a:rPr kumimoji="0" lang="en-US" sz="4800" b="0" i="0" u="none" strike="noStrike" kern="1200" cap="none" spc="0" normalizeH="0" baseline="0" noProof="0">
                <a:ln>
                  <a:noFill/>
                </a:ln>
                <a:solidFill>
                  <a:srgbClr val="00196E"/>
                </a:solidFill>
                <a:effectLst/>
                <a:uLnTx/>
                <a:uFillTx/>
                <a:latin typeface="Poppins ExtraBold" panose="00000900000000000000" pitchFamily="2" charset="0"/>
                <a:ea typeface="Arial"/>
                <a:cs typeface="Poppins ExtraBold" panose="00000900000000000000" pitchFamily="2" charset="0"/>
                <a:sym typeface="Arial"/>
              </a:rPr>
              <a:t>VS</a:t>
            </a:r>
            <a:r>
              <a:rPr kumimoji="0" lang="en-US" sz="4800" b="1" i="0" u="none" strike="noStrike" kern="1200" cap="none" spc="0" normalizeH="0" baseline="0" noProof="0">
                <a:ln>
                  <a:noFill/>
                </a:ln>
                <a:solidFill>
                  <a:srgbClr val="00196E"/>
                </a:solidFill>
                <a:effectLst/>
                <a:uLnTx/>
                <a:uFillTx/>
                <a:latin typeface="Poppins ExtraBold" panose="00000900000000000000" pitchFamily="2" charset="0"/>
                <a:ea typeface="Arial"/>
                <a:cs typeface="Poppins ExtraBold" panose="00000900000000000000" pitchFamily="2" charset="0"/>
                <a:sym typeface="Arial"/>
              </a:rPr>
              <a:t> EFFORT</a:t>
            </a:r>
            <a:endParaRPr kumimoji="0" lang="en-US" sz="2000" b="1" i="0" u="none" strike="noStrike" kern="1200" cap="none" spc="0" normalizeH="0" baseline="0" noProof="0">
              <a:ln>
                <a:noFill/>
              </a:ln>
              <a:solidFill>
                <a:srgbClr val="00196E"/>
              </a:solidFill>
              <a:effectLst/>
              <a:uLnTx/>
              <a:uFillTx/>
              <a:latin typeface="Poppins ExtraBold" panose="00000900000000000000" pitchFamily="2" charset="0"/>
              <a:ea typeface="+mj-ea"/>
              <a:cs typeface="Poppins ExtraBold" panose="00000900000000000000" pitchFamily="2" charset="0"/>
            </a:endParaRPr>
          </a:p>
        </p:txBody>
      </p:sp>
      <p:sp>
        <p:nvSpPr>
          <p:cNvPr id="35" name="TextBox 34">
            <a:extLst>
              <a:ext uri="{FF2B5EF4-FFF2-40B4-BE49-F238E27FC236}">
                <a16:creationId xmlns:a16="http://schemas.microsoft.com/office/drawing/2014/main" id="{E1A531E2-BE37-AC13-7B4D-D65FE3B09931}"/>
              </a:ext>
            </a:extLst>
          </p:cNvPr>
          <p:cNvSpPr txBox="1"/>
          <p:nvPr/>
        </p:nvSpPr>
        <p:spPr>
          <a:xfrm>
            <a:off x="550711" y="2261923"/>
            <a:ext cx="3551857" cy="286950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500"/>
              </a:spcAft>
              <a:buClrTx/>
              <a:buSzTx/>
              <a:buFontTx/>
              <a:buNone/>
              <a:tabLst/>
              <a:defRPr/>
            </a:pPr>
            <a:r>
              <a:rPr kumimoji="0" lang="en-US" sz="1800" b="1" i="0" u="none" strike="noStrike" kern="1200" cap="none" spc="0" normalizeH="0" baseline="0" noProof="0">
                <a:ln>
                  <a:noFill/>
                </a:ln>
                <a:solidFill>
                  <a:srgbClr val="009CDD"/>
                </a:solidFill>
                <a:effectLst/>
                <a:uLnTx/>
                <a:uFillTx/>
                <a:latin typeface="Poppins SemiBold" pitchFamily="2" charset="77"/>
                <a:ea typeface="Arial"/>
                <a:cs typeface="Poppins SemiBold" pitchFamily="2" charset="77"/>
                <a:sym typeface="Arial"/>
              </a:rPr>
              <a:t>Prioritized Evolution</a:t>
            </a:r>
            <a:endParaRPr kumimoji="0" lang="en-US" sz="1800" b="1" i="0" u="none" strike="noStrike" kern="1200" cap="none" spc="0" normalizeH="0" baseline="0" noProof="0">
              <a:ln>
                <a:noFill/>
              </a:ln>
              <a:solidFill>
                <a:srgbClr val="009CDD"/>
              </a:solidFill>
              <a:effectLst/>
              <a:uLnTx/>
              <a:uFillTx/>
              <a:latin typeface="Poppins SemiBold" pitchFamily="2" charset="77"/>
              <a:ea typeface="+mn-ea"/>
              <a:cs typeface="Poppins SemiBold" pitchFamily="2" charset="77"/>
            </a:endParaRPr>
          </a:p>
          <a:p>
            <a:pPr eaLnBrk="1" fontAlgn="auto" hangingPunct="1">
              <a:lnSpc>
                <a:spcPct val="112000"/>
              </a:lnSpc>
              <a:spcBef>
                <a:spcPts val="0"/>
              </a:spcBef>
              <a:spcAft>
                <a:spcPts val="0"/>
              </a:spcAft>
              <a:defRPr/>
            </a:pPr>
            <a:r>
              <a:rPr kumimoji="0" lang="en-US" sz="1600" b="0" i="0" u="none" strike="noStrike" kern="1200" cap="none" spc="0" normalizeH="0" baseline="0" noProof="0">
                <a:ln>
                  <a:noFill/>
                </a:ln>
                <a:solidFill>
                  <a:srgbClr val="000000"/>
                </a:solidFill>
                <a:effectLst/>
                <a:uLnTx/>
                <a:uFillTx/>
                <a:latin typeface="Poppins" pitchFamily="2" charset="77"/>
                <a:ea typeface="+mn-ea"/>
                <a:cs typeface="Poppins" pitchFamily="2" charset="77"/>
                <a:sym typeface="Arial"/>
              </a:rPr>
              <a:t>We’ve plotted initiatives on this matrix </a:t>
            </a:r>
            <a:r>
              <a:rPr lang="en-US" sz="1600">
                <a:solidFill>
                  <a:srgbClr val="000000"/>
                </a:solidFill>
                <a:latin typeface="Poppins" pitchFamily="2" charset="77"/>
                <a:cs typeface="Poppins" pitchFamily="2" charset="77"/>
                <a:sym typeface="Arial"/>
              </a:rPr>
              <a:t>based on business impact vs. LOE – tackling quick wins for incremental CVR opportunity while building a framework for strong future performance.</a:t>
            </a:r>
          </a:p>
          <a:p>
            <a:pPr marL="0" marR="0" lvl="0" indent="0" algn="l" defTabSz="914400" rtl="0" eaLnBrk="1" fontAlgn="auto" latinLnBrk="0" hangingPunct="1">
              <a:lnSpc>
                <a:spcPct val="112000"/>
              </a:lnSpc>
              <a:spcBef>
                <a:spcPts val="0"/>
              </a:spcBef>
              <a:spcAft>
                <a:spcPts val="0"/>
              </a:spcAft>
              <a:buClrTx/>
              <a:buSzTx/>
              <a:buFontTx/>
              <a:buNone/>
              <a:tabLst/>
              <a:defRPr/>
            </a:pPr>
            <a:endParaRPr kumimoji="0" lang="en-US" sz="1400" b="1" i="0" u="none" strike="noStrike" kern="1200" cap="none" spc="0" normalizeH="0" baseline="0" noProof="0">
              <a:ln>
                <a:noFill/>
              </a:ln>
              <a:solidFill>
                <a:schemeClr val="accent2"/>
              </a:solidFill>
              <a:effectLst/>
              <a:uLnTx/>
              <a:uFillTx/>
              <a:latin typeface="Poppins" pitchFamily="2" charset="77"/>
              <a:ea typeface="+mn-ea"/>
              <a:cs typeface="Poppins" pitchFamily="2" charset="77"/>
              <a:sym typeface="Arial"/>
            </a:endParaRPr>
          </a:p>
          <a:p>
            <a:pPr marL="342900" lvl="0" indent="-342900" eaLnBrk="1" fontAlgn="auto" hangingPunct="1">
              <a:lnSpc>
                <a:spcPct val="112000"/>
              </a:lnSpc>
              <a:spcBef>
                <a:spcPts val="0"/>
              </a:spcBef>
              <a:spcAft>
                <a:spcPts val="0"/>
              </a:spcAft>
              <a:buFont typeface="+mj-lt"/>
              <a:buAutoNum type="arabicPeriod"/>
              <a:defRPr/>
            </a:pPr>
            <a:endParaRPr kumimoji="0" lang="en-US" sz="1600" b="0" i="0" u="none" strike="noStrike" kern="1200" cap="none" spc="0" normalizeH="0" baseline="0" noProof="0">
              <a:ln>
                <a:noFill/>
              </a:ln>
              <a:solidFill>
                <a:srgbClr val="000000"/>
              </a:solidFill>
              <a:effectLst/>
              <a:highlight>
                <a:srgbClr val="FFFF00"/>
              </a:highlight>
              <a:uLnTx/>
              <a:uFillTx/>
              <a:latin typeface="Poppins" pitchFamily="2" charset="77"/>
              <a:ea typeface="+mn-ea"/>
              <a:cs typeface="Poppins" pitchFamily="2" charset="77"/>
            </a:endParaRPr>
          </a:p>
        </p:txBody>
      </p:sp>
      <p:sp>
        <p:nvSpPr>
          <p:cNvPr id="19" name="Star: 5 Points 18">
            <a:extLst>
              <a:ext uri="{FF2B5EF4-FFF2-40B4-BE49-F238E27FC236}">
                <a16:creationId xmlns:a16="http://schemas.microsoft.com/office/drawing/2014/main" id="{CDEEBBF6-F8F6-7956-ACE0-C666C921C574}"/>
              </a:ext>
            </a:extLst>
          </p:cNvPr>
          <p:cNvSpPr/>
          <p:nvPr/>
        </p:nvSpPr>
        <p:spPr>
          <a:xfrm>
            <a:off x="6741089" y="1464575"/>
            <a:ext cx="269017" cy="185789"/>
          </a:xfrm>
          <a:prstGeom prst="star5">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err="1">
              <a:solidFill>
                <a:schemeClr val="bg1"/>
              </a:solidFill>
              <a:latin typeface="Poppins SemiBold" panose="00000700000000000000" pitchFamily="2" charset="0"/>
              <a:cs typeface="Poppins SemiBold" panose="00000700000000000000" pitchFamily="2" charset="0"/>
            </a:endParaRPr>
          </a:p>
        </p:txBody>
      </p:sp>
      <p:sp>
        <p:nvSpPr>
          <p:cNvPr id="22" name="Star: 5 Points 21">
            <a:extLst>
              <a:ext uri="{FF2B5EF4-FFF2-40B4-BE49-F238E27FC236}">
                <a16:creationId xmlns:a16="http://schemas.microsoft.com/office/drawing/2014/main" id="{00F28DA0-48A2-4D76-5FB4-905343CF291B}"/>
              </a:ext>
            </a:extLst>
          </p:cNvPr>
          <p:cNvSpPr/>
          <p:nvPr/>
        </p:nvSpPr>
        <p:spPr>
          <a:xfrm>
            <a:off x="6858109" y="6053240"/>
            <a:ext cx="269017" cy="185789"/>
          </a:xfrm>
          <a:prstGeom prst="star5">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err="1">
              <a:solidFill>
                <a:schemeClr val="bg1"/>
              </a:solidFill>
              <a:latin typeface="Poppins SemiBold" panose="00000700000000000000" pitchFamily="2" charset="0"/>
              <a:cs typeface="Poppins SemiBold" panose="00000700000000000000" pitchFamily="2" charset="0"/>
            </a:endParaRPr>
          </a:p>
        </p:txBody>
      </p:sp>
    </p:spTree>
    <p:extLst>
      <p:ext uri="{BB962C8B-B14F-4D97-AF65-F5344CB8AC3E}">
        <p14:creationId xmlns:p14="http://schemas.microsoft.com/office/powerpoint/2010/main" val="23381396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0DACED-07A6-ABA7-E46E-DE8CAE4A6DB5}"/>
            </a:ext>
          </a:extLst>
        </p:cNvPr>
        <p:cNvGrpSpPr/>
        <p:nvPr/>
      </p:nvGrpSpPr>
      <p:grpSpPr>
        <a:xfrm>
          <a:off x="0" y="0"/>
          <a:ext cx="0" cy="0"/>
          <a:chOff x="0" y="0"/>
          <a:chExt cx="0" cy="0"/>
        </a:xfrm>
      </p:grpSpPr>
      <p:pic>
        <p:nvPicPr>
          <p:cNvPr id="32" name="Picture 31">
            <a:extLst>
              <a:ext uri="{FF2B5EF4-FFF2-40B4-BE49-F238E27FC236}">
                <a16:creationId xmlns:a16="http://schemas.microsoft.com/office/drawing/2014/main" id="{736E063C-2154-0963-A667-B08D9EC1BA69}"/>
              </a:ext>
            </a:extLst>
          </p:cNvPr>
          <p:cNvPicPr>
            <a:picLocks noChangeAspect="1"/>
          </p:cNvPicPr>
          <p:nvPr/>
        </p:nvPicPr>
        <p:blipFill>
          <a:blip r:embed="rId3"/>
          <a:stretch>
            <a:fillRect/>
          </a:stretch>
        </p:blipFill>
        <p:spPr>
          <a:xfrm>
            <a:off x="10546205" y="6494260"/>
            <a:ext cx="1511794" cy="238158"/>
          </a:xfrm>
          <a:prstGeom prst="rect">
            <a:avLst/>
          </a:prstGeom>
        </p:spPr>
      </p:pic>
      <p:sp>
        <p:nvSpPr>
          <p:cNvPr id="16" name="AutoShape 2" descr="Image result for wendys logo">
            <a:extLst>
              <a:ext uri="{FF2B5EF4-FFF2-40B4-BE49-F238E27FC236}">
                <a16:creationId xmlns:a16="http://schemas.microsoft.com/office/drawing/2014/main" id="{82D71988-5015-4300-705A-A17FE9163CBA}"/>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477"/>
              </a:solidFill>
              <a:effectLst/>
              <a:uLnTx/>
              <a:uFillTx/>
              <a:latin typeface="+mj-lt"/>
              <a:ea typeface="+mn-ea"/>
              <a:cs typeface="+mn-cs"/>
            </a:endParaRPr>
          </a:p>
        </p:txBody>
      </p:sp>
      <p:sp>
        <p:nvSpPr>
          <p:cNvPr id="15" name="Title 3">
            <a:extLst>
              <a:ext uri="{FF2B5EF4-FFF2-40B4-BE49-F238E27FC236}">
                <a16:creationId xmlns:a16="http://schemas.microsoft.com/office/drawing/2014/main" id="{08BA4F8C-7E57-FB92-7AE6-C8102351C1B2}"/>
              </a:ext>
            </a:extLst>
          </p:cNvPr>
          <p:cNvSpPr txBox="1">
            <a:spLocks/>
          </p:cNvSpPr>
          <p:nvPr/>
        </p:nvSpPr>
        <p:spPr>
          <a:xfrm>
            <a:off x="18190" y="346945"/>
            <a:ext cx="12192000" cy="104963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0" marR="0" lvl="0" algn="ctr" defTabSz="914400" rtl="0" eaLnBrk="1" latinLnBrk="0" hangingPunct="1">
              <a:lnSpc>
                <a:spcPct val="100000"/>
              </a:lnSpc>
              <a:spcBef>
                <a:spcPct val="0"/>
              </a:spcBef>
              <a:spcAft>
                <a:spcPts val="0"/>
              </a:spcAft>
              <a:buClr>
                <a:srgbClr val="D60057"/>
              </a:buClr>
              <a:buSzPts val="2200"/>
              <a:buFont typeface="Arial Narrow"/>
              <a:buNone/>
              <a:defRPr lang="en-US" sz="2600" b="1" i="0" u="none" strike="noStrike" kern="1200" cap="none" dirty="0">
                <a:solidFill>
                  <a:schemeClr val="tx1"/>
                </a:solidFill>
                <a:latin typeface="Gotham Black" pitchFamily="2" charset="0"/>
                <a:ea typeface="+mj-ea"/>
                <a:cs typeface="+mj-cs"/>
                <a:sym typeface="Arial Narrow"/>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lvl="0">
              <a:spcBef>
                <a:spcPts val="0"/>
              </a:spcBef>
              <a:defRPr/>
            </a:pPr>
            <a:r>
              <a:rPr lang="en-US" sz="3200">
                <a:solidFill>
                  <a:schemeClr val="accent2"/>
                </a:solidFill>
                <a:latin typeface="+mj-lt"/>
                <a:cs typeface="Poppins SemiBold" panose="00000700000000000000" pitchFamily="2" charset="0"/>
              </a:rPr>
              <a:t>Proposing a Full Strategic Audit: </a:t>
            </a:r>
          </a:p>
          <a:p>
            <a:pPr lvl="0">
              <a:spcBef>
                <a:spcPts val="0"/>
              </a:spcBef>
              <a:defRPr/>
            </a:pPr>
            <a:r>
              <a:rPr lang="en-US" sz="3200">
                <a:solidFill>
                  <a:schemeClr val="accent2"/>
                </a:solidFill>
                <a:latin typeface="+mj-lt"/>
                <a:cs typeface="Poppins SemiBold" panose="00000700000000000000" pitchFamily="2" charset="0"/>
              </a:rPr>
              <a:t>Behavioral Signals Behind Inquiry to Maximize Impact</a:t>
            </a:r>
            <a:endParaRPr kumimoji="0" lang="en-US" sz="3200" b="1" i="0" u="none" strike="noStrike" kern="1200" cap="none" spc="0" normalizeH="0" baseline="0" noProof="0">
              <a:ln>
                <a:noFill/>
              </a:ln>
              <a:solidFill>
                <a:schemeClr val="accent2"/>
              </a:solidFill>
              <a:effectLst/>
              <a:uLnTx/>
              <a:uFillTx/>
              <a:latin typeface="+mj-lt"/>
              <a:sym typeface="Arial Narrow"/>
            </a:endParaRPr>
          </a:p>
        </p:txBody>
      </p:sp>
      <p:sp>
        <p:nvSpPr>
          <p:cNvPr id="35" name="TextBox 34">
            <a:extLst>
              <a:ext uri="{FF2B5EF4-FFF2-40B4-BE49-F238E27FC236}">
                <a16:creationId xmlns:a16="http://schemas.microsoft.com/office/drawing/2014/main" id="{3EC0EBB7-F52A-463E-24EB-09925D973D22}"/>
              </a:ext>
            </a:extLst>
          </p:cNvPr>
          <p:cNvSpPr txBox="1"/>
          <p:nvPr/>
        </p:nvSpPr>
        <p:spPr>
          <a:xfrm>
            <a:off x="698072" y="4331546"/>
            <a:ext cx="1914383" cy="1200329"/>
          </a:xfrm>
          <a:prstGeom prst="rect">
            <a:avLst/>
          </a:prstGeom>
          <a:noFill/>
        </p:spPr>
        <p:txBody>
          <a:bodyPr wrap="square" lIns="91440" tIns="45720" rIns="91440" bIns="45720" rtlCol="0" anchor="t">
            <a:spAutoFit/>
          </a:bodyPr>
          <a:lstStyle>
            <a:defPPr>
              <a:defRPr lang="en-US"/>
            </a:defPPr>
            <a:lvl1pPr algn="ctr">
              <a:defRPr sz="1200">
                <a:latin typeface="+mj-lt"/>
                <a:cs typeface="Arial" panose="020B0604020202020204" pitchFamily="34" charset="0"/>
              </a:defRPr>
            </a:lvl1pPr>
          </a:lstStyle>
          <a:p>
            <a:r>
              <a:rPr lang="en-US"/>
              <a:t>Map high-propensity student segments using education-industry trends and degree/area-of-study demand.</a:t>
            </a:r>
          </a:p>
        </p:txBody>
      </p:sp>
      <p:sp>
        <p:nvSpPr>
          <p:cNvPr id="36" name="Oval 35">
            <a:extLst>
              <a:ext uri="{FF2B5EF4-FFF2-40B4-BE49-F238E27FC236}">
                <a16:creationId xmlns:a16="http://schemas.microsoft.com/office/drawing/2014/main" id="{8155108B-472F-A272-2D2D-0E7DC651FD42}"/>
              </a:ext>
            </a:extLst>
          </p:cNvPr>
          <p:cNvSpPr/>
          <p:nvPr/>
        </p:nvSpPr>
        <p:spPr>
          <a:xfrm>
            <a:off x="984769" y="2903851"/>
            <a:ext cx="1340989" cy="1344168"/>
          </a:xfrm>
          <a:prstGeom prst="ellipse">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latin typeface="+mj-lt"/>
            </a:endParaRPr>
          </a:p>
        </p:txBody>
      </p:sp>
      <p:sp>
        <p:nvSpPr>
          <p:cNvPr id="37" name="Oval 36">
            <a:extLst>
              <a:ext uri="{FF2B5EF4-FFF2-40B4-BE49-F238E27FC236}">
                <a16:creationId xmlns:a16="http://schemas.microsoft.com/office/drawing/2014/main" id="{B374B025-14C8-35A3-1382-E8CADAF82920}"/>
              </a:ext>
            </a:extLst>
          </p:cNvPr>
          <p:cNvSpPr/>
          <p:nvPr/>
        </p:nvSpPr>
        <p:spPr>
          <a:xfrm>
            <a:off x="3245688" y="2903852"/>
            <a:ext cx="1340989" cy="1344168"/>
          </a:xfrm>
          <a:prstGeom prst="ellipse">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latin typeface="+mj-lt"/>
            </a:endParaRPr>
          </a:p>
        </p:txBody>
      </p:sp>
      <p:sp>
        <p:nvSpPr>
          <p:cNvPr id="38" name="Rectangle 37">
            <a:extLst>
              <a:ext uri="{FF2B5EF4-FFF2-40B4-BE49-F238E27FC236}">
                <a16:creationId xmlns:a16="http://schemas.microsoft.com/office/drawing/2014/main" id="{8559B1AC-F625-3220-3D5E-73EEB041F1E8}"/>
              </a:ext>
            </a:extLst>
          </p:cNvPr>
          <p:cNvSpPr/>
          <p:nvPr/>
        </p:nvSpPr>
        <p:spPr>
          <a:xfrm>
            <a:off x="688201" y="2401558"/>
            <a:ext cx="1914383" cy="3724241"/>
          </a:xfrm>
          <a:prstGeom prst="rect">
            <a:avLst/>
          </a:pr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latin typeface="+mj-lt"/>
            </a:endParaRPr>
          </a:p>
        </p:txBody>
      </p:sp>
      <p:sp>
        <p:nvSpPr>
          <p:cNvPr id="39" name="Rectangle 38">
            <a:extLst>
              <a:ext uri="{FF2B5EF4-FFF2-40B4-BE49-F238E27FC236}">
                <a16:creationId xmlns:a16="http://schemas.microsoft.com/office/drawing/2014/main" id="{E52E2678-4FC2-2194-CBCD-83F333A7D499}"/>
              </a:ext>
            </a:extLst>
          </p:cNvPr>
          <p:cNvSpPr/>
          <p:nvPr/>
        </p:nvSpPr>
        <p:spPr>
          <a:xfrm>
            <a:off x="2901935" y="2401558"/>
            <a:ext cx="1914383" cy="3724241"/>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latin typeface="+mj-lt"/>
            </a:endParaRPr>
          </a:p>
        </p:txBody>
      </p:sp>
      <p:sp>
        <p:nvSpPr>
          <p:cNvPr id="40" name="Rectangle 39">
            <a:extLst>
              <a:ext uri="{FF2B5EF4-FFF2-40B4-BE49-F238E27FC236}">
                <a16:creationId xmlns:a16="http://schemas.microsoft.com/office/drawing/2014/main" id="{B0A13387-EF82-1E39-05A1-E99DDD8C7BD7}"/>
              </a:ext>
            </a:extLst>
          </p:cNvPr>
          <p:cNvSpPr/>
          <p:nvPr/>
        </p:nvSpPr>
        <p:spPr>
          <a:xfrm>
            <a:off x="5134996" y="2401558"/>
            <a:ext cx="1914383" cy="3724241"/>
          </a:xfrm>
          <a:prstGeom prst="rect">
            <a:avLst/>
          </a:prstGeom>
          <a:no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latin typeface="+mj-lt"/>
            </a:endParaRPr>
          </a:p>
        </p:txBody>
      </p:sp>
      <p:sp>
        <p:nvSpPr>
          <p:cNvPr id="41" name="Oval 40">
            <a:extLst>
              <a:ext uri="{FF2B5EF4-FFF2-40B4-BE49-F238E27FC236}">
                <a16:creationId xmlns:a16="http://schemas.microsoft.com/office/drawing/2014/main" id="{E17BBF0D-CCF5-85EB-3B50-D7D5ECD38D18}"/>
              </a:ext>
            </a:extLst>
          </p:cNvPr>
          <p:cNvSpPr/>
          <p:nvPr/>
        </p:nvSpPr>
        <p:spPr>
          <a:xfrm>
            <a:off x="5481497" y="2903852"/>
            <a:ext cx="1340989" cy="1344168"/>
          </a:xfrm>
          <a:prstGeom prst="ellipse">
            <a:avLst/>
          </a:prstGeom>
          <a:solidFill>
            <a:schemeClr val="accent5"/>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latin typeface="+mj-lt"/>
            </a:endParaRPr>
          </a:p>
        </p:txBody>
      </p:sp>
      <p:sp>
        <p:nvSpPr>
          <p:cNvPr id="44" name="Rectangle 43">
            <a:extLst>
              <a:ext uri="{FF2B5EF4-FFF2-40B4-BE49-F238E27FC236}">
                <a16:creationId xmlns:a16="http://schemas.microsoft.com/office/drawing/2014/main" id="{3D64D50D-D727-C772-081B-8F287241B314}"/>
              </a:ext>
            </a:extLst>
          </p:cNvPr>
          <p:cNvSpPr/>
          <p:nvPr/>
        </p:nvSpPr>
        <p:spPr>
          <a:xfrm>
            <a:off x="7377672" y="2401558"/>
            <a:ext cx="1914383" cy="3724241"/>
          </a:xfrm>
          <a:prstGeom prst="rect">
            <a:avLst/>
          </a:pr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latin typeface="+mj-lt"/>
            </a:endParaRPr>
          </a:p>
        </p:txBody>
      </p:sp>
      <p:sp>
        <p:nvSpPr>
          <p:cNvPr id="45" name="Oval 44">
            <a:extLst>
              <a:ext uri="{FF2B5EF4-FFF2-40B4-BE49-F238E27FC236}">
                <a16:creationId xmlns:a16="http://schemas.microsoft.com/office/drawing/2014/main" id="{67BF12E9-0302-B53E-DEB0-3F14C36BE5CB}"/>
              </a:ext>
            </a:extLst>
          </p:cNvPr>
          <p:cNvSpPr/>
          <p:nvPr/>
        </p:nvSpPr>
        <p:spPr>
          <a:xfrm>
            <a:off x="7725953" y="2903852"/>
            <a:ext cx="1340989" cy="1344168"/>
          </a:xfrm>
          <a:prstGeom prst="ellipse">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900">
              <a:latin typeface="+mj-lt"/>
            </a:endParaRPr>
          </a:p>
        </p:txBody>
      </p:sp>
      <p:sp>
        <p:nvSpPr>
          <p:cNvPr id="46" name="TextBox 45">
            <a:extLst>
              <a:ext uri="{FF2B5EF4-FFF2-40B4-BE49-F238E27FC236}">
                <a16:creationId xmlns:a16="http://schemas.microsoft.com/office/drawing/2014/main" id="{7005B3A4-E095-3AA5-3F47-4FFA5768F767}"/>
              </a:ext>
            </a:extLst>
          </p:cNvPr>
          <p:cNvSpPr txBox="1"/>
          <p:nvPr/>
        </p:nvSpPr>
        <p:spPr>
          <a:xfrm>
            <a:off x="2911888" y="4331546"/>
            <a:ext cx="1914383" cy="1384995"/>
          </a:xfrm>
          <a:prstGeom prst="rect">
            <a:avLst/>
          </a:prstGeom>
          <a:noFill/>
        </p:spPr>
        <p:txBody>
          <a:bodyPr wrap="square" lIns="91440" tIns="45720" rIns="91440" bIns="45720" rtlCol="0" anchor="t">
            <a:spAutoFit/>
          </a:bodyPr>
          <a:lstStyle>
            <a:defPPr>
              <a:defRPr lang="en-US"/>
            </a:defPPr>
            <a:lvl1pPr algn="ctr">
              <a:defRPr sz="1200">
                <a:latin typeface="+mj-lt"/>
                <a:cs typeface="Arial" panose="020B0604020202020204" pitchFamily="34" charset="0"/>
              </a:defRPr>
            </a:lvl1pPr>
          </a:lstStyle>
          <a:p>
            <a:r>
              <a:rPr lang="en-US"/>
              <a:t>Review competitor offerings to learn which programs, credentials, and messages drive the strongest engagement.</a:t>
            </a:r>
          </a:p>
        </p:txBody>
      </p:sp>
      <p:sp>
        <p:nvSpPr>
          <p:cNvPr id="47" name="TextBox 46">
            <a:extLst>
              <a:ext uri="{FF2B5EF4-FFF2-40B4-BE49-F238E27FC236}">
                <a16:creationId xmlns:a16="http://schemas.microsoft.com/office/drawing/2014/main" id="{8567AAB3-D2B9-CB5D-728A-2627CEF57449}"/>
              </a:ext>
            </a:extLst>
          </p:cNvPr>
          <p:cNvSpPr txBox="1"/>
          <p:nvPr/>
        </p:nvSpPr>
        <p:spPr>
          <a:xfrm>
            <a:off x="5144949" y="4331546"/>
            <a:ext cx="1914383" cy="1200329"/>
          </a:xfrm>
          <a:prstGeom prst="rect">
            <a:avLst/>
          </a:prstGeom>
          <a:noFill/>
        </p:spPr>
        <p:txBody>
          <a:bodyPr wrap="square" lIns="91440" tIns="45720" rIns="91440" bIns="45720" rtlCol="0" anchor="t">
            <a:spAutoFit/>
          </a:bodyPr>
          <a:lstStyle/>
          <a:p>
            <a:pPr algn="ctr"/>
            <a:r>
              <a:rPr lang="en-US" sz="1200">
                <a:latin typeface="+mj-lt"/>
                <a:cs typeface="Arial" panose="020B0604020202020204" pitchFamily="34" charset="0"/>
              </a:rPr>
              <a:t>Use site analytics to pinpoint markets, pages, and pathways where prospects most often convert or fall off.</a:t>
            </a:r>
            <a:endParaRPr lang="en-US" sz="1200">
              <a:solidFill>
                <a:srgbClr val="002477"/>
              </a:solidFill>
              <a:highlight>
                <a:srgbClr val="FFFF00"/>
              </a:highlight>
              <a:latin typeface="+mj-lt"/>
              <a:cs typeface="Arial" panose="020B0604020202020204" pitchFamily="34" charset="0"/>
            </a:endParaRPr>
          </a:p>
        </p:txBody>
      </p:sp>
      <p:sp>
        <p:nvSpPr>
          <p:cNvPr id="48" name="TextBox 47">
            <a:extLst>
              <a:ext uri="{FF2B5EF4-FFF2-40B4-BE49-F238E27FC236}">
                <a16:creationId xmlns:a16="http://schemas.microsoft.com/office/drawing/2014/main" id="{3C694344-C6CB-EA60-9FE5-AF223D0EB09E}"/>
              </a:ext>
            </a:extLst>
          </p:cNvPr>
          <p:cNvSpPr txBox="1"/>
          <p:nvPr/>
        </p:nvSpPr>
        <p:spPr>
          <a:xfrm>
            <a:off x="7387625" y="4331546"/>
            <a:ext cx="1914383" cy="1200329"/>
          </a:xfrm>
          <a:prstGeom prst="rect">
            <a:avLst/>
          </a:prstGeom>
          <a:noFill/>
        </p:spPr>
        <p:txBody>
          <a:bodyPr wrap="square" lIns="91440" tIns="45720" rIns="91440" bIns="45720" rtlCol="0" anchor="t">
            <a:spAutoFit/>
          </a:bodyPr>
          <a:lstStyle/>
          <a:p>
            <a:pPr algn="ctr"/>
            <a:r>
              <a:rPr lang="en-US" sz="1200">
                <a:latin typeface="+mj-lt"/>
                <a:cs typeface="Arial" panose="020B0604020202020204" pitchFamily="34" charset="0"/>
              </a:rPr>
              <a:t>Deep-dive journey timing with segmented KPI data to find moments when content or offers should appear.</a:t>
            </a:r>
            <a:endParaRPr lang="en-US" sz="1200">
              <a:solidFill>
                <a:srgbClr val="002477"/>
              </a:solidFill>
              <a:highlight>
                <a:srgbClr val="FFFF00"/>
              </a:highlight>
              <a:latin typeface="+mj-lt"/>
              <a:cs typeface="Arial" panose="020B0604020202020204" pitchFamily="34" charset="0"/>
            </a:endParaRPr>
          </a:p>
        </p:txBody>
      </p:sp>
      <p:pic>
        <p:nvPicPr>
          <p:cNvPr id="3" name="Graphic 2" descr="User with solid fill">
            <a:extLst>
              <a:ext uri="{FF2B5EF4-FFF2-40B4-BE49-F238E27FC236}">
                <a16:creationId xmlns:a16="http://schemas.microsoft.com/office/drawing/2014/main" id="{356938DF-7D53-A506-D20C-4E6D599D4DB9}"/>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1272386" y="3193058"/>
            <a:ext cx="765753" cy="765753"/>
          </a:xfrm>
          <a:prstGeom prst="rect">
            <a:avLst/>
          </a:prstGeom>
        </p:spPr>
      </p:pic>
      <p:pic>
        <p:nvPicPr>
          <p:cNvPr id="5" name="Graphic 4" descr="Search Inventory with solid fill">
            <a:extLst>
              <a:ext uri="{FF2B5EF4-FFF2-40B4-BE49-F238E27FC236}">
                <a16:creationId xmlns:a16="http://schemas.microsoft.com/office/drawing/2014/main" id="{ABF3BED0-F40F-AF5F-E715-D018DC5AB171}"/>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3533305" y="3193058"/>
            <a:ext cx="765753" cy="765753"/>
          </a:xfrm>
          <a:prstGeom prst="rect">
            <a:avLst/>
          </a:prstGeom>
        </p:spPr>
      </p:pic>
      <p:pic>
        <p:nvPicPr>
          <p:cNvPr id="7" name="Graphic 6" descr="Map with pin with solid fill">
            <a:extLst>
              <a:ext uri="{FF2B5EF4-FFF2-40B4-BE49-F238E27FC236}">
                <a16:creationId xmlns:a16="http://schemas.microsoft.com/office/drawing/2014/main" id="{16609F63-C7C5-618A-4F0D-B6E7D2FA29A9}"/>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5769114" y="3112498"/>
            <a:ext cx="765753" cy="765753"/>
          </a:xfrm>
          <a:prstGeom prst="rect">
            <a:avLst/>
          </a:prstGeom>
        </p:spPr>
      </p:pic>
      <p:pic>
        <p:nvPicPr>
          <p:cNvPr id="9" name="Graphic 8" descr="Clock with solid fill">
            <a:extLst>
              <a:ext uri="{FF2B5EF4-FFF2-40B4-BE49-F238E27FC236}">
                <a16:creationId xmlns:a16="http://schemas.microsoft.com/office/drawing/2014/main" id="{6BEFF1BB-0ACA-67AD-BF8B-991F27BB41AC}"/>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8013570" y="3185549"/>
            <a:ext cx="765753" cy="765753"/>
          </a:xfrm>
          <a:prstGeom prst="rect">
            <a:avLst/>
          </a:prstGeom>
        </p:spPr>
      </p:pic>
      <p:sp>
        <p:nvSpPr>
          <p:cNvPr id="2" name="Rectangle 1">
            <a:extLst>
              <a:ext uri="{FF2B5EF4-FFF2-40B4-BE49-F238E27FC236}">
                <a16:creationId xmlns:a16="http://schemas.microsoft.com/office/drawing/2014/main" id="{32EC4E01-9C6C-B7B0-7105-B8746DA089A8}"/>
              </a:ext>
            </a:extLst>
          </p:cNvPr>
          <p:cNvSpPr/>
          <p:nvPr/>
        </p:nvSpPr>
        <p:spPr>
          <a:xfrm>
            <a:off x="9620348" y="2401558"/>
            <a:ext cx="1914383" cy="3724241"/>
          </a:xfrm>
          <a:prstGeom prst="rect">
            <a:avLst/>
          </a:pr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latin typeface="+mj-lt"/>
            </a:endParaRPr>
          </a:p>
        </p:txBody>
      </p:sp>
      <p:sp>
        <p:nvSpPr>
          <p:cNvPr id="4" name="Oval 3">
            <a:extLst>
              <a:ext uri="{FF2B5EF4-FFF2-40B4-BE49-F238E27FC236}">
                <a16:creationId xmlns:a16="http://schemas.microsoft.com/office/drawing/2014/main" id="{2D03C80A-9AE2-1454-0D59-ACA46560D426}"/>
              </a:ext>
            </a:extLst>
          </p:cNvPr>
          <p:cNvSpPr/>
          <p:nvPr/>
        </p:nvSpPr>
        <p:spPr>
          <a:xfrm>
            <a:off x="9968627" y="2903851"/>
            <a:ext cx="1340989" cy="1344168"/>
          </a:xfrm>
          <a:prstGeom prst="ellips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900">
              <a:latin typeface="+mj-lt"/>
            </a:endParaRPr>
          </a:p>
        </p:txBody>
      </p:sp>
      <p:sp>
        <p:nvSpPr>
          <p:cNvPr id="6" name="TextBox 5">
            <a:extLst>
              <a:ext uri="{FF2B5EF4-FFF2-40B4-BE49-F238E27FC236}">
                <a16:creationId xmlns:a16="http://schemas.microsoft.com/office/drawing/2014/main" id="{500F03C4-FD36-BCCE-130F-A010847B0799}"/>
              </a:ext>
            </a:extLst>
          </p:cNvPr>
          <p:cNvSpPr txBox="1"/>
          <p:nvPr/>
        </p:nvSpPr>
        <p:spPr>
          <a:xfrm>
            <a:off x="9630301" y="4331546"/>
            <a:ext cx="1914383" cy="1200329"/>
          </a:xfrm>
          <a:prstGeom prst="rect">
            <a:avLst/>
          </a:prstGeom>
          <a:noFill/>
        </p:spPr>
        <p:txBody>
          <a:bodyPr wrap="square" lIns="91440" tIns="45720" rIns="91440" bIns="45720" rtlCol="0" anchor="t">
            <a:spAutoFit/>
          </a:bodyPr>
          <a:lstStyle/>
          <a:p>
            <a:pPr algn="ctr"/>
            <a:r>
              <a:rPr lang="en-US" sz="1200">
                <a:latin typeface="+mj-lt"/>
                <a:cs typeface="Arial" panose="020B0604020202020204" pitchFamily="34" charset="0"/>
              </a:rPr>
              <a:t>Synthesize surveys and behavioral signals to uncover pain points and reasons people do or don’t inquire.</a:t>
            </a:r>
          </a:p>
        </p:txBody>
      </p:sp>
      <p:pic>
        <p:nvPicPr>
          <p:cNvPr id="8" name="Graphic 7" descr="Puzzle with solid fill">
            <a:extLst>
              <a:ext uri="{FF2B5EF4-FFF2-40B4-BE49-F238E27FC236}">
                <a16:creationId xmlns:a16="http://schemas.microsoft.com/office/drawing/2014/main" id="{43E5ACC2-AC1D-E2CD-C5A8-1D58D78BC210}"/>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10256244" y="3193056"/>
            <a:ext cx="765753" cy="765753"/>
          </a:xfrm>
          <a:prstGeom prst="rect">
            <a:avLst/>
          </a:prstGeom>
        </p:spPr>
      </p:pic>
      <p:sp>
        <p:nvSpPr>
          <p:cNvPr id="12" name="Rectangle 11">
            <a:extLst>
              <a:ext uri="{FF2B5EF4-FFF2-40B4-BE49-F238E27FC236}">
                <a16:creationId xmlns:a16="http://schemas.microsoft.com/office/drawing/2014/main" id="{2BDF3597-210A-DEEE-E65F-0DEFF2342CFC}"/>
              </a:ext>
            </a:extLst>
          </p:cNvPr>
          <p:cNvSpPr/>
          <p:nvPr/>
        </p:nvSpPr>
        <p:spPr>
          <a:xfrm>
            <a:off x="683695" y="2401558"/>
            <a:ext cx="1914383" cy="43299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latin typeface="+mj-lt"/>
              </a:rPr>
              <a:t>Who</a:t>
            </a:r>
          </a:p>
        </p:txBody>
      </p:sp>
      <p:sp>
        <p:nvSpPr>
          <p:cNvPr id="13" name="Rectangle 12">
            <a:extLst>
              <a:ext uri="{FF2B5EF4-FFF2-40B4-BE49-F238E27FC236}">
                <a16:creationId xmlns:a16="http://schemas.microsoft.com/office/drawing/2014/main" id="{D31D612E-41CB-9F4B-D3DB-40C2BCF35B0A}"/>
              </a:ext>
            </a:extLst>
          </p:cNvPr>
          <p:cNvSpPr/>
          <p:nvPr/>
        </p:nvSpPr>
        <p:spPr>
          <a:xfrm>
            <a:off x="2897332" y="2401558"/>
            <a:ext cx="1923935" cy="43299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latin typeface="+mj-lt"/>
              </a:rPr>
              <a:t>What</a:t>
            </a:r>
          </a:p>
        </p:txBody>
      </p:sp>
      <p:sp>
        <p:nvSpPr>
          <p:cNvPr id="14" name="Rectangle 13">
            <a:extLst>
              <a:ext uri="{FF2B5EF4-FFF2-40B4-BE49-F238E27FC236}">
                <a16:creationId xmlns:a16="http://schemas.microsoft.com/office/drawing/2014/main" id="{7CECACD1-9F20-7FF5-F25F-AAC5954ABD85}"/>
              </a:ext>
            </a:extLst>
          </p:cNvPr>
          <p:cNvSpPr/>
          <p:nvPr/>
        </p:nvSpPr>
        <p:spPr>
          <a:xfrm>
            <a:off x="5142278" y="2401558"/>
            <a:ext cx="1914383" cy="43299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latin typeface="+mj-lt"/>
              </a:rPr>
              <a:t>Where</a:t>
            </a:r>
          </a:p>
        </p:txBody>
      </p:sp>
      <p:sp>
        <p:nvSpPr>
          <p:cNvPr id="17" name="Rectangle 16">
            <a:extLst>
              <a:ext uri="{FF2B5EF4-FFF2-40B4-BE49-F238E27FC236}">
                <a16:creationId xmlns:a16="http://schemas.microsoft.com/office/drawing/2014/main" id="{B3FE9B28-AFEF-8C81-045F-1D15555B13CC}"/>
              </a:ext>
            </a:extLst>
          </p:cNvPr>
          <p:cNvSpPr/>
          <p:nvPr/>
        </p:nvSpPr>
        <p:spPr>
          <a:xfrm>
            <a:off x="7383429" y="2401558"/>
            <a:ext cx="1914383" cy="43299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latin typeface="+mj-lt"/>
              </a:rPr>
              <a:t>When</a:t>
            </a:r>
          </a:p>
        </p:txBody>
      </p:sp>
      <p:sp>
        <p:nvSpPr>
          <p:cNvPr id="18" name="Rectangle 17">
            <a:extLst>
              <a:ext uri="{FF2B5EF4-FFF2-40B4-BE49-F238E27FC236}">
                <a16:creationId xmlns:a16="http://schemas.microsoft.com/office/drawing/2014/main" id="{8A9F7D3A-D795-3FDC-9EDA-C65468C1BFA9}"/>
              </a:ext>
            </a:extLst>
          </p:cNvPr>
          <p:cNvSpPr/>
          <p:nvPr/>
        </p:nvSpPr>
        <p:spPr>
          <a:xfrm>
            <a:off x="9620348" y="2401558"/>
            <a:ext cx="1914383" cy="43299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latin typeface="+mj-lt"/>
              </a:rPr>
              <a:t>Why</a:t>
            </a:r>
          </a:p>
        </p:txBody>
      </p:sp>
      <p:sp>
        <p:nvSpPr>
          <p:cNvPr id="10" name="TextBox 9">
            <a:extLst>
              <a:ext uri="{FF2B5EF4-FFF2-40B4-BE49-F238E27FC236}">
                <a16:creationId xmlns:a16="http://schemas.microsoft.com/office/drawing/2014/main" id="{002AB1A9-265A-938A-1939-BC210337EE59}"/>
              </a:ext>
            </a:extLst>
          </p:cNvPr>
          <p:cNvSpPr txBox="1"/>
          <p:nvPr/>
        </p:nvSpPr>
        <p:spPr>
          <a:xfrm>
            <a:off x="1466008" y="1602210"/>
            <a:ext cx="9621859" cy="461665"/>
          </a:xfrm>
          <a:prstGeom prst="rect">
            <a:avLst/>
          </a:prstGeom>
          <a:noFill/>
        </p:spPr>
        <p:txBody>
          <a:bodyPr wrap="square" rtlCol="0">
            <a:spAutoFit/>
          </a:bodyPr>
          <a:lstStyle/>
          <a:p>
            <a:pPr algn="ctr"/>
            <a:r>
              <a:rPr lang="en-US" sz="1200" i="1">
                <a:solidFill>
                  <a:schemeClr val="accent2"/>
                </a:solidFill>
              </a:rPr>
              <a:t>Evaluate industry trends, competitor activities, site analytics, and survey data if available to better understand DeVry’s users and how to meet their needs along the path to inquiry</a:t>
            </a:r>
          </a:p>
        </p:txBody>
      </p:sp>
    </p:spTree>
    <p:extLst>
      <p:ext uri="{BB962C8B-B14F-4D97-AF65-F5344CB8AC3E}">
        <p14:creationId xmlns:p14="http://schemas.microsoft.com/office/powerpoint/2010/main" val="38743290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9DF70-00C0-B194-A8BA-7878B792A69C}"/>
            </a:ext>
          </a:extLst>
        </p:cNvPr>
        <p:cNvGrpSpPr/>
        <p:nvPr/>
      </p:nvGrpSpPr>
      <p:grpSpPr>
        <a:xfrm>
          <a:off x="0" y="0"/>
          <a:ext cx="0" cy="0"/>
          <a:chOff x="0" y="0"/>
          <a:chExt cx="0" cy="0"/>
        </a:xfrm>
      </p:grpSpPr>
      <p:sp>
        <p:nvSpPr>
          <p:cNvPr id="75" name="Rectangle 74">
            <a:extLst>
              <a:ext uri="{FF2B5EF4-FFF2-40B4-BE49-F238E27FC236}">
                <a16:creationId xmlns:a16="http://schemas.microsoft.com/office/drawing/2014/main" id="{E737972B-F456-C2F4-5FDF-1F23453E7EB1}"/>
              </a:ext>
            </a:extLst>
          </p:cNvPr>
          <p:cNvSpPr/>
          <p:nvPr/>
        </p:nvSpPr>
        <p:spPr>
          <a:xfrm>
            <a:off x="0" y="3644801"/>
            <a:ext cx="12192000" cy="3214914"/>
          </a:xfrm>
          <a:prstGeom prst="rect">
            <a:avLst/>
          </a:prstGeom>
          <a:solidFill>
            <a:srgbClr val="01239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Title 1">
            <a:extLst>
              <a:ext uri="{FF2B5EF4-FFF2-40B4-BE49-F238E27FC236}">
                <a16:creationId xmlns:a16="http://schemas.microsoft.com/office/drawing/2014/main" id="{0E7EC8F3-6B46-64C1-9A2A-EC012D3DA82A}"/>
              </a:ext>
            </a:extLst>
          </p:cNvPr>
          <p:cNvSpPr txBox="1">
            <a:spLocks/>
          </p:cNvSpPr>
          <p:nvPr/>
        </p:nvSpPr>
        <p:spPr>
          <a:xfrm>
            <a:off x="554990" y="457836"/>
            <a:ext cx="11082019" cy="480131"/>
          </a:xfrm>
          <a:prstGeom prst="rect">
            <a:avLst/>
          </a:prstGeom>
        </p:spPr>
        <p:txBody>
          <a:bodyPr vert="horz" lIns="91440" tIns="45720" rIns="91440" bIns="45720" rtlCol="0" anchor="t">
            <a:spAutoFit/>
          </a:bodyPr>
          <a:lstStyle>
            <a:lvl1pPr algn="l" defTabSz="914377" rtl="0" eaLnBrk="1" latinLnBrk="0" hangingPunct="1">
              <a:lnSpc>
                <a:spcPct val="90000"/>
              </a:lnSpc>
              <a:spcBef>
                <a:spcPct val="0"/>
              </a:spcBef>
              <a:buNone/>
              <a:defRPr sz="3200" b="1" kern="1200">
                <a:solidFill>
                  <a:schemeClr val="accent4"/>
                </a:solidFill>
                <a:latin typeface="Poppins" panose="00000500000000000000" pitchFamily="2" charset="0"/>
                <a:ea typeface="+mj-ea"/>
                <a:cs typeface="Poppins" panose="00000500000000000000" pitchFamily="2" charset="0"/>
              </a:defRPr>
            </a:lvl1pPr>
          </a:lstStyle>
          <a:p>
            <a:pPr algn="ctr"/>
            <a:r>
              <a:rPr lang="en-US" sz="2800">
                <a:solidFill>
                  <a:schemeClr val="accent2"/>
                </a:solidFill>
                <a:latin typeface="+mn-lt"/>
              </a:rPr>
              <a:t>ROI-Driven Testing: How We Prioritize Test Ideas</a:t>
            </a:r>
          </a:p>
        </p:txBody>
      </p:sp>
      <p:sp>
        <p:nvSpPr>
          <p:cNvPr id="77" name="Rectangle: Rounded Corners 9">
            <a:extLst>
              <a:ext uri="{FF2B5EF4-FFF2-40B4-BE49-F238E27FC236}">
                <a16:creationId xmlns:a16="http://schemas.microsoft.com/office/drawing/2014/main" id="{233C629D-7EF7-8003-EBCE-8115C172605D}"/>
              </a:ext>
            </a:extLst>
          </p:cNvPr>
          <p:cNvSpPr/>
          <p:nvPr/>
        </p:nvSpPr>
        <p:spPr>
          <a:xfrm>
            <a:off x="739515" y="1838800"/>
            <a:ext cx="3530340" cy="3847662"/>
          </a:xfrm>
          <a:prstGeom prst="roundRect">
            <a:avLst/>
          </a:prstGeom>
          <a:solidFill>
            <a:schemeClr val="accent1"/>
          </a:solidFill>
          <a:ln w="28575">
            <a:solidFill>
              <a:schemeClr val="bg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400">
              <a:solidFill>
                <a:schemeClr val="bg1"/>
              </a:solidFill>
            </a:endParaRPr>
          </a:p>
        </p:txBody>
      </p:sp>
      <p:sp>
        <p:nvSpPr>
          <p:cNvPr id="78" name="Oval 77">
            <a:extLst>
              <a:ext uri="{FF2B5EF4-FFF2-40B4-BE49-F238E27FC236}">
                <a16:creationId xmlns:a16="http://schemas.microsoft.com/office/drawing/2014/main" id="{1BBB0A31-EA5B-CBD2-A3A6-EFA83F14ACAA}"/>
              </a:ext>
            </a:extLst>
          </p:cNvPr>
          <p:cNvSpPr/>
          <p:nvPr/>
        </p:nvSpPr>
        <p:spPr>
          <a:xfrm>
            <a:off x="1847543" y="1260806"/>
            <a:ext cx="1201378" cy="1196296"/>
          </a:xfrm>
          <a:prstGeom prst="ellipse">
            <a:avLst/>
          </a:prstGeom>
          <a:solidFill>
            <a:schemeClr val="accent1"/>
          </a:solidFill>
          <a:ln w="19050">
            <a:solidFill>
              <a:schemeClr val="bg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400">
              <a:solidFill>
                <a:schemeClr val="bg1"/>
              </a:solidFill>
            </a:endParaRPr>
          </a:p>
        </p:txBody>
      </p:sp>
      <p:sp>
        <p:nvSpPr>
          <p:cNvPr id="79" name="Rectangle: Rounded Corners 9">
            <a:extLst>
              <a:ext uri="{FF2B5EF4-FFF2-40B4-BE49-F238E27FC236}">
                <a16:creationId xmlns:a16="http://schemas.microsoft.com/office/drawing/2014/main" id="{D4C10410-E5D4-1DC4-2E9B-90A76085916B}"/>
              </a:ext>
            </a:extLst>
          </p:cNvPr>
          <p:cNvSpPr/>
          <p:nvPr/>
        </p:nvSpPr>
        <p:spPr>
          <a:xfrm>
            <a:off x="4372923" y="1821227"/>
            <a:ext cx="3530340" cy="3847662"/>
          </a:xfrm>
          <a:prstGeom prst="roundRect">
            <a:avLst/>
          </a:prstGeom>
          <a:solidFill>
            <a:schemeClr val="accent5">
              <a:lumMod val="75000"/>
            </a:schemeClr>
          </a:solidFill>
          <a:ln w="28575">
            <a:solidFill>
              <a:schemeClr val="bg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400">
              <a:solidFill>
                <a:schemeClr val="bg1"/>
              </a:solidFill>
            </a:endParaRPr>
          </a:p>
        </p:txBody>
      </p:sp>
      <p:sp>
        <p:nvSpPr>
          <p:cNvPr id="80" name="Oval 79">
            <a:extLst>
              <a:ext uri="{FF2B5EF4-FFF2-40B4-BE49-F238E27FC236}">
                <a16:creationId xmlns:a16="http://schemas.microsoft.com/office/drawing/2014/main" id="{A0E8302A-F6CE-6593-504F-D56DBB49E3E6}"/>
              </a:ext>
            </a:extLst>
          </p:cNvPr>
          <p:cNvSpPr/>
          <p:nvPr/>
        </p:nvSpPr>
        <p:spPr>
          <a:xfrm>
            <a:off x="5548784" y="1243233"/>
            <a:ext cx="1201378" cy="1196296"/>
          </a:xfrm>
          <a:prstGeom prst="ellipse">
            <a:avLst/>
          </a:prstGeom>
          <a:solidFill>
            <a:schemeClr val="accent5">
              <a:lumMod val="7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400">
              <a:solidFill>
                <a:schemeClr val="bg1"/>
              </a:solidFill>
            </a:endParaRPr>
          </a:p>
        </p:txBody>
      </p:sp>
      <p:sp>
        <p:nvSpPr>
          <p:cNvPr id="81" name="Rectangle: Rounded Corners 9">
            <a:extLst>
              <a:ext uri="{FF2B5EF4-FFF2-40B4-BE49-F238E27FC236}">
                <a16:creationId xmlns:a16="http://schemas.microsoft.com/office/drawing/2014/main" id="{FD4B2963-1F2C-667E-B946-8A1299D06FA2}"/>
              </a:ext>
            </a:extLst>
          </p:cNvPr>
          <p:cNvSpPr/>
          <p:nvPr/>
        </p:nvSpPr>
        <p:spPr>
          <a:xfrm>
            <a:off x="8007932" y="1821227"/>
            <a:ext cx="3530340" cy="3847662"/>
          </a:xfrm>
          <a:prstGeom prst="roundRect">
            <a:avLst/>
          </a:prstGeom>
          <a:solidFill>
            <a:srgbClr val="FFC000"/>
          </a:solidFill>
          <a:ln w="28575">
            <a:solidFill>
              <a:schemeClr val="bg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400">
              <a:solidFill>
                <a:schemeClr val="bg1"/>
              </a:solidFill>
            </a:endParaRPr>
          </a:p>
        </p:txBody>
      </p:sp>
      <p:sp>
        <p:nvSpPr>
          <p:cNvPr id="82" name="Oval 81">
            <a:extLst>
              <a:ext uri="{FF2B5EF4-FFF2-40B4-BE49-F238E27FC236}">
                <a16:creationId xmlns:a16="http://schemas.microsoft.com/office/drawing/2014/main" id="{F1597C4F-A174-BE33-5EF8-0D9940B9E801}"/>
              </a:ext>
            </a:extLst>
          </p:cNvPr>
          <p:cNvSpPr/>
          <p:nvPr/>
        </p:nvSpPr>
        <p:spPr>
          <a:xfrm>
            <a:off x="9194554" y="1224193"/>
            <a:ext cx="1201378" cy="1196296"/>
          </a:xfrm>
          <a:prstGeom prst="ellipse">
            <a:avLst/>
          </a:prstGeom>
          <a:solidFill>
            <a:srgbClr val="FFC000"/>
          </a:solidFill>
          <a:ln w="19050">
            <a:solidFill>
              <a:schemeClr val="bg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400">
              <a:solidFill>
                <a:schemeClr val="bg1"/>
              </a:solidFill>
            </a:endParaRPr>
          </a:p>
        </p:txBody>
      </p:sp>
      <p:sp>
        <p:nvSpPr>
          <p:cNvPr id="83" name="TextBox 82">
            <a:extLst>
              <a:ext uri="{FF2B5EF4-FFF2-40B4-BE49-F238E27FC236}">
                <a16:creationId xmlns:a16="http://schemas.microsoft.com/office/drawing/2014/main" id="{3F715D68-7CCD-4E53-B3DA-6FC531526A3D}"/>
              </a:ext>
            </a:extLst>
          </p:cNvPr>
          <p:cNvSpPr txBox="1"/>
          <p:nvPr/>
        </p:nvSpPr>
        <p:spPr>
          <a:xfrm>
            <a:off x="737914" y="2599333"/>
            <a:ext cx="353034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defTabSz="457200"/>
            <a:r>
              <a:rPr lang="en-US" sz="2000" b="1">
                <a:solidFill>
                  <a:schemeClr val="bg1"/>
                </a:solidFill>
                <a:ea typeface="+mn-lt"/>
                <a:cs typeface="Poppins SemiBold"/>
              </a:rPr>
              <a:t>Impact</a:t>
            </a:r>
            <a:endParaRPr lang="en-US" sz="2000" b="1">
              <a:solidFill>
                <a:schemeClr val="bg1"/>
              </a:solidFill>
              <a:cs typeface="Poppins"/>
            </a:endParaRPr>
          </a:p>
        </p:txBody>
      </p:sp>
      <p:sp>
        <p:nvSpPr>
          <p:cNvPr id="84" name="TextBox 83">
            <a:extLst>
              <a:ext uri="{FF2B5EF4-FFF2-40B4-BE49-F238E27FC236}">
                <a16:creationId xmlns:a16="http://schemas.microsoft.com/office/drawing/2014/main" id="{1A71A76D-BCE9-1857-0506-D2D684C7D557}"/>
              </a:ext>
            </a:extLst>
          </p:cNvPr>
          <p:cNvSpPr txBox="1"/>
          <p:nvPr/>
        </p:nvSpPr>
        <p:spPr>
          <a:xfrm>
            <a:off x="877366" y="3135338"/>
            <a:ext cx="3253038" cy="2277547"/>
          </a:xfrm>
          <a:prstGeom prst="rect">
            <a:avLst/>
          </a:prstGeom>
          <a:noFill/>
        </p:spPr>
        <p:txBody>
          <a:bodyPr wrap="square" lIns="0" tIns="0" rIns="0" bIns="0" rtlCol="0" anchor="t">
            <a:spAutoFit/>
          </a:bodyPr>
          <a:lstStyle/>
          <a:p>
            <a:pPr algn="ctr">
              <a:spcAft>
                <a:spcPts val="1200"/>
              </a:spcAft>
            </a:pPr>
            <a:r>
              <a:rPr lang="en-MY" sz="1600">
                <a:solidFill>
                  <a:schemeClr val="bg1"/>
                </a:solidFill>
                <a:ea typeface="Open Sans SemiBold"/>
                <a:cs typeface="Arial" panose="020B0604020202020204" pitchFamily="34" charset="0"/>
              </a:rPr>
              <a:t>Will the test reach high-traffic pages or priority audiences?</a:t>
            </a:r>
          </a:p>
          <a:p>
            <a:pPr algn="ctr">
              <a:spcAft>
                <a:spcPts val="1200"/>
              </a:spcAft>
            </a:pPr>
            <a:r>
              <a:rPr lang="en-MY" sz="1600">
                <a:solidFill>
                  <a:schemeClr val="bg1"/>
                </a:solidFill>
                <a:ea typeface="Open Sans SemiBold"/>
                <a:cs typeface="Arial" panose="020B0604020202020204" pitchFamily="34" charset="0"/>
              </a:rPr>
              <a:t>Is the change significantly different enough to drive measurable behavior?</a:t>
            </a:r>
          </a:p>
          <a:p>
            <a:pPr algn="ctr">
              <a:spcAft>
                <a:spcPts val="1200"/>
              </a:spcAft>
            </a:pPr>
            <a:r>
              <a:rPr lang="en-MY" sz="1600">
                <a:solidFill>
                  <a:schemeClr val="bg1"/>
                </a:solidFill>
                <a:ea typeface="Open Sans SemiBold"/>
                <a:cs typeface="Arial" panose="020B0604020202020204" pitchFamily="34" charset="0"/>
              </a:rPr>
              <a:t>Will it influence high-value </a:t>
            </a:r>
            <a:r>
              <a:rPr lang="en-MY" sz="1600" err="1">
                <a:solidFill>
                  <a:schemeClr val="bg1"/>
                </a:solidFill>
                <a:ea typeface="Open Sans SemiBold"/>
                <a:cs typeface="Arial" panose="020B0604020202020204" pitchFamily="34" charset="0"/>
              </a:rPr>
              <a:t>behaviors</a:t>
            </a:r>
            <a:r>
              <a:rPr lang="en-MY" sz="1600">
                <a:solidFill>
                  <a:schemeClr val="bg1"/>
                </a:solidFill>
                <a:ea typeface="Open Sans SemiBold"/>
                <a:cs typeface="Arial" panose="020B0604020202020204" pitchFamily="34" charset="0"/>
              </a:rPr>
              <a:t> based on weighted KPI scoring?</a:t>
            </a:r>
          </a:p>
        </p:txBody>
      </p:sp>
      <p:sp>
        <p:nvSpPr>
          <p:cNvPr id="85" name="TextBox 84">
            <a:extLst>
              <a:ext uri="{FF2B5EF4-FFF2-40B4-BE49-F238E27FC236}">
                <a16:creationId xmlns:a16="http://schemas.microsoft.com/office/drawing/2014/main" id="{00A6A755-11E7-362C-B32D-AA19B9BAA856}"/>
              </a:ext>
            </a:extLst>
          </p:cNvPr>
          <p:cNvSpPr txBox="1"/>
          <p:nvPr/>
        </p:nvSpPr>
        <p:spPr>
          <a:xfrm>
            <a:off x="4372923" y="2639634"/>
            <a:ext cx="353034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defTabSz="457200"/>
            <a:r>
              <a:rPr lang="en-US" sz="2000" b="1">
                <a:solidFill>
                  <a:schemeClr val="bg1"/>
                </a:solidFill>
                <a:ea typeface="+mn-lt"/>
                <a:cs typeface="Poppins SemiBold"/>
              </a:rPr>
              <a:t>Ease of Execution</a:t>
            </a:r>
            <a:endParaRPr lang="en-US" sz="2000" b="1">
              <a:solidFill>
                <a:schemeClr val="bg1"/>
              </a:solidFill>
              <a:cs typeface="Poppins"/>
            </a:endParaRPr>
          </a:p>
        </p:txBody>
      </p:sp>
      <p:sp>
        <p:nvSpPr>
          <p:cNvPr id="86" name="TextBox 85">
            <a:extLst>
              <a:ext uri="{FF2B5EF4-FFF2-40B4-BE49-F238E27FC236}">
                <a16:creationId xmlns:a16="http://schemas.microsoft.com/office/drawing/2014/main" id="{38CE81F3-5023-B02A-A884-DBF2EDCF338E}"/>
              </a:ext>
            </a:extLst>
          </p:cNvPr>
          <p:cNvSpPr txBox="1"/>
          <p:nvPr/>
        </p:nvSpPr>
        <p:spPr>
          <a:xfrm>
            <a:off x="8006331" y="2584377"/>
            <a:ext cx="353194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defTabSz="457200"/>
            <a:r>
              <a:rPr lang="en-US" sz="2000" b="1">
                <a:solidFill>
                  <a:schemeClr val="bg1"/>
                </a:solidFill>
                <a:ea typeface="+mn-lt"/>
                <a:cs typeface="Poppins SemiBold"/>
              </a:rPr>
              <a:t>Confidence</a:t>
            </a:r>
            <a:endParaRPr lang="en-US" sz="2000" b="1">
              <a:solidFill>
                <a:schemeClr val="bg1"/>
              </a:solidFill>
              <a:cs typeface="Poppins"/>
            </a:endParaRPr>
          </a:p>
        </p:txBody>
      </p:sp>
      <p:sp>
        <p:nvSpPr>
          <p:cNvPr id="87" name="TextBox 86">
            <a:extLst>
              <a:ext uri="{FF2B5EF4-FFF2-40B4-BE49-F238E27FC236}">
                <a16:creationId xmlns:a16="http://schemas.microsoft.com/office/drawing/2014/main" id="{689AF75F-C0F3-BA96-955E-4919220851E6}"/>
              </a:ext>
            </a:extLst>
          </p:cNvPr>
          <p:cNvSpPr txBox="1"/>
          <p:nvPr/>
        </p:nvSpPr>
        <p:spPr>
          <a:xfrm>
            <a:off x="4581596" y="3135338"/>
            <a:ext cx="3103718" cy="2277547"/>
          </a:xfrm>
          <a:prstGeom prst="rect">
            <a:avLst/>
          </a:prstGeom>
          <a:noFill/>
        </p:spPr>
        <p:txBody>
          <a:bodyPr wrap="square" lIns="0" tIns="0" rIns="0" bIns="0" rtlCol="0" anchor="t">
            <a:spAutoFit/>
          </a:bodyPr>
          <a:lstStyle/>
          <a:p>
            <a:pPr algn="ctr">
              <a:spcAft>
                <a:spcPts val="1200"/>
              </a:spcAft>
            </a:pPr>
            <a:r>
              <a:rPr lang="en-US" sz="1600">
                <a:solidFill>
                  <a:schemeClr val="bg1"/>
                </a:solidFill>
                <a:cs typeface="Arial" panose="020B0604020202020204" pitchFamily="34" charset="0"/>
              </a:rPr>
              <a:t>How many hours are required to build and launch?</a:t>
            </a:r>
          </a:p>
          <a:p>
            <a:pPr algn="ctr">
              <a:spcAft>
                <a:spcPts val="1200"/>
              </a:spcAft>
            </a:pPr>
            <a:r>
              <a:rPr lang="en-US" sz="1600">
                <a:solidFill>
                  <a:schemeClr val="bg1"/>
                </a:solidFill>
                <a:cs typeface="Arial" panose="020B0604020202020204" pitchFamily="34" charset="0"/>
              </a:rPr>
              <a:t>What level of effort is needed from dev, client, or internal teams?</a:t>
            </a:r>
          </a:p>
          <a:p>
            <a:pPr algn="ctr">
              <a:spcAft>
                <a:spcPts val="1200"/>
              </a:spcAft>
            </a:pPr>
            <a:r>
              <a:rPr lang="en-US" sz="1600">
                <a:solidFill>
                  <a:schemeClr val="bg1"/>
                </a:solidFill>
                <a:cs typeface="Arial" panose="020B0604020202020204" pitchFamily="34" charset="0"/>
              </a:rPr>
              <a:t>Does the test rely on net-new assets, custom code, or additional resources?</a:t>
            </a:r>
            <a:endParaRPr lang="en-US" sz="1600">
              <a:solidFill>
                <a:schemeClr val="bg1"/>
              </a:solidFill>
              <a:ea typeface="Open Sans SemiBold"/>
              <a:cs typeface="Arial" panose="020B0604020202020204" pitchFamily="34" charset="0"/>
            </a:endParaRPr>
          </a:p>
        </p:txBody>
      </p:sp>
      <p:sp>
        <p:nvSpPr>
          <p:cNvPr id="88" name="TextBox 87">
            <a:extLst>
              <a:ext uri="{FF2B5EF4-FFF2-40B4-BE49-F238E27FC236}">
                <a16:creationId xmlns:a16="http://schemas.microsoft.com/office/drawing/2014/main" id="{417F6311-0ED3-E56B-4F8B-3BFB30055C80}"/>
              </a:ext>
            </a:extLst>
          </p:cNvPr>
          <p:cNvSpPr txBox="1"/>
          <p:nvPr/>
        </p:nvSpPr>
        <p:spPr>
          <a:xfrm>
            <a:off x="8228368" y="3120348"/>
            <a:ext cx="3086266" cy="2123658"/>
          </a:xfrm>
          <a:prstGeom prst="rect">
            <a:avLst/>
          </a:prstGeom>
          <a:noFill/>
        </p:spPr>
        <p:txBody>
          <a:bodyPr wrap="square" lIns="0" tIns="0" rIns="0" bIns="0" rtlCol="0" anchor="t">
            <a:spAutoFit/>
          </a:bodyPr>
          <a:lstStyle/>
          <a:p>
            <a:pPr algn="ctr">
              <a:spcAft>
                <a:spcPts val="1200"/>
              </a:spcAft>
            </a:pPr>
            <a:r>
              <a:rPr lang="en-US" sz="1600">
                <a:solidFill>
                  <a:schemeClr val="bg1"/>
                </a:solidFill>
                <a:cs typeface="Arial" panose="020B0604020202020204" pitchFamily="34" charset="0"/>
              </a:rPr>
              <a:t>How strong is the supporting evidence or stakeholder consensus that this test will perform?</a:t>
            </a:r>
          </a:p>
          <a:p>
            <a:pPr algn="ctr">
              <a:spcAft>
                <a:spcPts val="1200"/>
              </a:spcAft>
            </a:pPr>
            <a:r>
              <a:rPr lang="en-US" sz="1600">
                <a:solidFill>
                  <a:schemeClr val="bg1"/>
                </a:solidFill>
                <a:cs typeface="Arial" panose="020B0604020202020204" pitchFamily="34" charset="0"/>
              </a:rPr>
              <a:t>Does historical data, competitive insight, or analysis support the hypothesis?</a:t>
            </a:r>
          </a:p>
        </p:txBody>
      </p:sp>
      <p:pic>
        <p:nvPicPr>
          <p:cNvPr id="89" name="Graphic 88" descr="Checklist with solid fill">
            <a:extLst>
              <a:ext uri="{FF2B5EF4-FFF2-40B4-BE49-F238E27FC236}">
                <a16:creationId xmlns:a16="http://schemas.microsoft.com/office/drawing/2014/main" id="{0BA00DCE-13D9-7C28-4A54-E829C751C62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425508" y="1452606"/>
            <a:ext cx="739469" cy="739469"/>
          </a:xfrm>
          <a:prstGeom prst="rect">
            <a:avLst/>
          </a:prstGeom>
        </p:spPr>
      </p:pic>
      <p:pic>
        <p:nvPicPr>
          <p:cNvPr id="90" name="Graphic 89" descr="Gears with solid fill">
            <a:extLst>
              <a:ext uri="{FF2B5EF4-FFF2-40B4-BE49-F238E27FC236}">
                <a16:creationId xmlns:a16="http://schemas.microsoft.com/office/drawing/2014/main" id="{69481FDB-8B95-9520-086A-15FA6E38464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780649" y="1436749"/>
            <a:ext cx="750407" cy="750407"/>
          </a:xfrm>
          <a:prstGeom prst="rect">
            <a:avLst/>
          </a:prstGeom>
        </p:spPr>
      </p:pic>
      <p:pic>
        <p:nvPicPr>
          <p:cNvPr id="91" name="Graphic 90" descr="Bullseye with solid fill">
            <a:extLst>
              <a:ext uri="{FF2B5EF4-FFF2-40B4-BE49-F238E27FC236}">
                <a16:creationId xmlns:a16="http://schemas.microsoft.com/office/drawing/2014/main" id="{70CC5EB7-2F2E-3F5B-83C6-972C11E96D2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137082" y="1533598"/>
            <a:ext cx="622300" cy="622300"/>
          </a:xfrm>
          <a:prstGeom prst="rect">
            <a:avLst/>
          </a:prstGeom>
        </p:spPr>
      </p:pic>
      <p:cxnSp>
        <p:nvCxnSpPr>
          <p:cNvPr id="92" name="Straight Connector 91">
            <a:extLst>
              <a:ext uri="{FF2B5EF4-FFF2-40B4-BE49-F238E27FC236}">
                <a16:creationId xmlns:a16="http://schemas.microsoft.com/office/drawing/2014/main" id="{AFE99464-0320-C352-24D2-638C039C8E2B}"/>
              </a:ext>
            </a:extLst>
          </p:cNvPr>
          <p:cNvCxnSpPr>
            <a:cxnSpLocks/>
          </p:cNvCxnSpPr>
          <p:nvPr/>
        </p:nvCxnSpPr>
        <p:spPr>
          <a:xfrm>
            <a:off x="1424065" y="5704749"/>
            <a:ext cx="0" cy="584617"/>
          </a:xfrm>
          <a:prstGeom prst="line">
            <a:avLst/>
          </a:prstGeom>
          <a:ln w="19050" cap="rnd">
            <a:solidFill>
              <a:schemeClr val="bg1"/>
            </a:solidFill>
            <a:prstDash val="solid"/>
            <a:round/>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EDF61739-2036-E32F-0498-C9933EC06EFE}"/>
              </a:ext>
            </a:extLst>
          </p:cNvPr>
          <p:cNvCxnSpPr>
            <a:cxnSpLocks/>
          </p:cNvCxnSpPr>
          <p:nvPr/>
        </p:nvCxnSpPr>
        <p:spPr>
          <a:xfrm>
            <a:off x="10927829" y="5686461"/>
            <a:ext cx="0" cy="605220"/>
          </a:xfrm>
          <a:prstGeom prst="line">
            <a:avLst/>
          </a:prstGeom>
          <a:ln w="19050" cap="rnd">
            <a:solidFill>
              <a:schemeClr val="bg1"/>
            </a:solidFill>
            <a:prstDash val="solid"/>
            <a:round/>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4ADB7FD1-8974-1495-48FF-9515E501DFE4}"/>
              </a:ext>
            </a:extLst>
          </p:cNvPr>
          <p:cNvCxnSpPr>
            <a:cxnSpLocks/>
          </p:cNvCxnSpPr>
          <p:nvPr/>
        </p:nvCxnSpPr>
        <p:spPr>
          <a:xfrm flipH="1">
            <a:off x="1424065" y="6296145"/>
            <a:ext cx="9503764" cy="0"/>
          </a:xfrm>
          <a:prstGeom prst="line">
            <a:avLst/>
          </a:prstGeom>
          <a:ln w="19050" cap="rnd">
            <a:solidFill>
              <a:schemeClr val="bg1"/>
            </a:solidFill>
            <a:prstDash val="solid"/>
            <a:round/>
          </a:ln>
        </p:spPr>
        <p:style>
          <a:lnRef idx="1">
            <a:schemeClr val="accent1"/>
          </a:lnRef>
          <a:fillRef idx="0">
            <a:schemeClr val="accent1"/>
          </a:fillRef>
          <a:effectRef idx="0">
            <a:schemeClr val="accent1"/>
          </a:effectRef>
          <a:fontRef idx="minor">
            <a:schemeClr val="tx1"/>
          </a:fontRef>
        </p:style>
      </p:cxnSp>
      <p:sp>
        <p:nvSpPr>
          <p:cNvPr id="95" name="TextBox 94">
            <a:extLst>
              <a:ext uri="{FF2B5EF4-FFF2-40B4-BE49-F238E27FC236}">
                <a16:creationId xmlns:a16="http://schemas.microsoft.com/office/drawing/2014/main" id="{C01724DF-BAA3-0122-D11F-5828FC5CCB75}"/>
              </a:ext>
            </a:extLst>
          </p:cNvPr>
          <p:cNvSpPr txBox="1"/>
          <p:nvPr/>
        </p:nvSpPr>
        <p:spPr>
          <a:xfrm>
            <a:off x="1661409" y="6087137"/>
            <a:ext cx="9029076" cy="400110"/>
          </a:xfrm>
          <a:prstGeom prst="rect">
            <a:avLst/>
          </a:prstGeom>
          <a:solidFill>
            <a:schemeClr val="accent2"/>
          </a:solidFill>
        </p:spPr>
        <p:txBody>
          <a:bodyPr wrap="square">
            <a:spAutoFit/>
          </a:bodyPr>
          <a:lstStyle/>
          <a:p>
            <a:pPr algn="ctr"/>
            <a:r>
              <a:rPr lang="en-US" sz="2000" b="1">
                <a:solidFill>
                  <a:schemeClr val="bg1"/>
                </a:solidFill>
                <a:cs typeface="Arial" panose="020B0604020202020204" pitchFamily="34" charset="0"/>
              </a:rPr>
              <a:t>KPI lift, minimum hours, and win rate all contribute to ROI</a:t>
            </a:r>
          </a:p>
        </p:txBody>
      </p:sp>
    </p:spTree>
    <p:extLst>
      <p:ext uri="{BB962C8B-B14F-4D97-AF65-F5344CB8AC3E}">
        <p14:creationId xmlns:p14="http://schemas.microsoft.com/office/powerpoint/2010/main" val="42371143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FA2D5-C4DE-A6B7-DA61-215C69AAD5B3}"/>
            </a:ext>
          </a:extLst>
        </p:cNvPr>
        <p:cNvGrpSpPr/>
        <p:nvPr/>
      </p:nvGrpSpPr>
      <p:grpSpPr>
        <a:xfrm>
          <a:off x="0" y="0"/>
          <a:ext cx="0" cy="0"/>
          <a:chOff x="0" y="0"/>
          <a:chExt cx="0" cy="0"/>
        </a:xfrm>
      </p:grpSpPr>
      <p:grpSp>
        <p:nvGrpSpPr>
          <p:cNvPr id="16" name="Group 15">
            <a:extLst>
              <a:ext uri="{FF2B5EF4-FFF2-40B4-BE49-F238E27FC236}">
                <a16:creationId xmlns:a16="http://schemas.microsoft.com/office/drawing/2014/main" id="{2EE091CE-35A8-8BD5-4A51-595B86E86A95}"/>
              </a:ext>
            </a:extLst>
          </p:cNvPr>
          <p:cNvGrpSpPr/>
          <p:nvPr/>
        </p:nvGrpSpPr>
        <p:grpSpPr>
          <a:xfrm rot="5400000">
            <a:off x="9042194" y="537343"/>
            <a:ext cx="1178560" cy="2476174"/>
            <a:chOff x="680720" y="2422091"/>
            <a:chExt cx="1178560" cy="1628914"/>
          </a:xfrm>
          <a:solidFill>
            <a:schemeClr val="accent5">
              <a:lumMod val="90000"/>
            </a:schemeClr>
          </a:solidFill>
        </p:grpSpPr>
        <p:sp>
          <p:nvSpPr>
            <p:cNvPr id="18" name="Flowchart: Alternate Process 17">
              <a:extLst>
                <a:ext uri="{FF2B5EF4-FFF2-40B4-BE49-F238E27FC236}">
                  <a16:creationId xmlns:a16="http://schemas.microsoft.com/office/drawing/2014/main" id="{5886D3F9-ACD9-65DB-33D6-E5D3B7B5B2CD}"/>
                </a:ext>
              </a:extLst>
            </p:cNvPr>
            <p:cNvSpPr/>
            <p:nvPr/>
          </p:nvSpPr>
          <p:spPr>
            <a:xfrm>
              <a:off x="680720" y="2422091"/>
              <a:ext cx="1178560" cy="1628914"/>
            </a:xfrm>
            <a:prstGeom prst="flowChartAlternateProcess">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48F48626-AD2B-9134-50AA-8B1D85256548}"/>
                </a:ext>
              </a:extLst>
            </p:cNvPr>
            <p:cNvSpPr txBox="1"/>
            <p:nvPr/>
          </p:nvSpPr>
          <p:spPr>
            <a:xfrm rot="16200000">
              <a:off x="178976" y="3100599"/>
              <a:ext cx="1398097" cy="276999"/>
            </a:xfrm>
            <a:prstGeom prst="rect">
              <a:avLst/>
            </a:prstGeom>
            <a:grpFill/>
          </p:spPr>
          <p:txBody>
            <a:bodyPr wrap="square" rtlCol="0">
              <a:spAutoFit/>
            </a:bodyPr>
            <a:lstStyle/>
            <a:p>
              <a:pPr algn="ctr"/>
              <a:r>
                <a:rPr lang="en-US" sz="1200"/>
                <a:t>Consideration</a:t>
              </a:r>
            </a:p>
          </p:txBody>
        </p:sp>
      </p:grpSp>
      <p:grpSp>
        <p:nvGrpSpPr>
          <p:cNvPr id="8" name="Group 7">
            <a:extLst>
              <a:ext uri="{FF2B5EF4-FFF2-40B4-BE49-F238E27FC236}">
                <a16:creationId xmlns:a16="http://schemas.microsoft.com/office/drawing/2014/main" id="{EAA7EDED-77B3-C008-D98A-3FE794CD6E3D}"/>
              </a:ext>
            </a:extLst>
          </p:cNvPr>
          <p:cNvGrpSpPr/>
          <p:nvPr/>
        </p:nvGrpSpPr>
        <p:grpSpPr>
          <a:xfrm rot="5400000">
            <a:off x="6528005" y="482873"/>
            <a:ext cx="1178560" cy="2545972"/>
            <a:chOff x="680720" y="2422091"/>
            <a:chExt cx="1178560" cy="1628914"/>
          </a:xfrm>
          <a:solidFill>
            <a:schemeClr val="accent5"/>
          </a:solidFill>
        </p:grpSpPr>
        <p:sp>
          <p:nvSpPr>
            <p:cNvPr id="9" name="Flowchart: Alternate Process 8">
              <a:extLst>
                <a:ext uri="{FF2B5EF4-FFF2-40B4-BE49-F238E27FC236}">
                  <a16:creationId xmlns:a16="http://schemas.microsoft.com/office/drawing/2014/main" id="{27CA6015-5560-5F9A-E68C-D5CD5EF0D516}"/>
                </a:ext>
              </a:extLst>
            </p:cNvPr>
            <p:cNvSpPr/>
            <p:nvPr/>
          </p:nvSpPr>
          <p:spPr>
            <a:xfrm>
              <a:off x="680720" y="2422091"/>
              <a:ext cx="1178560" cy="1628914"/>
            </a:xfrm>
            <a:prstGeom prst="flowChartAlternateProcess">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0E727C88-01EA-C256-16DD-FA3CD5173775}"/>
                </a:ext>
              </a:extLst>
            </p:cNvPr>
            <p:cNvSpPr txBox="1"/>
            <p:nvPr/>
          </p:nvSpPr>
          <p:spPr>
            <a:xfrm rot="16200000">
              <a:off x="342005" y="3107686"/>
              <a:ext cx="1072035" cy="276999"/>
            </a:xfrm>
            <a:prstGeom prst="rect">
              <a:avLst/>
            </a:prstGeom>
            <a:grpFill/>
          </p:spPr>
          <p:txBody>
            <a:bodyPr wrap="square" rtlCol="0">
              <a:spAutoFit/>
            </a:bodyPr>
            <a:lstStyle/>
            <a:p>
              <a:pPr algn="ctr"/>
              <a:r>
                <a:rPr lang="en-US" sz="1200"/>
                <a:t>Awareness</a:t>
              </a:r>
            </a:p>
          </p:txBody>
        </p:sp>
      </p:grpSp>
      <p:grpSp>
        <p:nvGrpSpPr>
          <p:cNvPr id="14" name="Group 13">
            <a:extLst>
              <a:ext uri="{FF2B5EF4-FFF2-40B4-BE49-F238E27FC236}">
                <a16:creationId xmlns:a16="http://schemas.microsoft.com/office/drawing/2014/main" id="{B6D02121-0262-5AC6-D789-3A1C8584EF5C}"/>
              </a:ext>
            </a:extLst>
          </p:cNvPr>
          <p:cNvGrpSpPr/>
          <p:nvPr/>
        </p:nvGrpSpPr>
        <p:grpSpPr>
          <a:xfrm>
            <a:off x="651081" y="2897377"/>
            <a:ext cx="1289304" cy="1395496"/>
            <a:chOff x="651081" y="2292466"/>
            <a:chExt cx="1289304" cy="1395496"/>
          </a:xfrm>
        </p:grpSpPr>
        <p:grpSp>
          <p:nvGrpSpPr>
            <p:cNvPr id="27" name="Group 26">
              <a:extLst>
                <a:ext uri="{FF2B5EF4-FFF2-40B4-BE49-F238E27FC236}">
                  <a16:creationId xmlns:a16="http://schemas.microsoft.com/office/drawing/2014/main" id="{6C2313C2-88B2-401B-2587-9EBA1BB1DFBD}"/>
                </a:ext>
              </a:extLst>
            </p:cNvPr>
            <p:cNvGrpSpPr/>
            <p:nvPr/>
          </p:nvGrpSpPr>
          <p:grpSpPr>
            <a:xfrm>
              <a:off x="651081" y="3345092"/>
              <a:ext cx="1289304" cy="342870"/>
              <a:chOff x="10078627" y="5569307"/>
              <a:chExt cx="1132206" cy="342870"/>
            </a:xfrm>
          </p:grpSpPr>
          <p:sp>
            <p:nvSpPr>
              <p:cNvPr id="11" name="Flowchart: Alternate Process 10">
                <a:extLst>
                  <a:ext uri="{FF2B5EF4-FFF2-40B4-BE49-F238E27FC236}">
                    <a16:creationId xmlns:a16="http://schemas.microsoft.com/office/drawing/2014/main" id="{91E9ADBE-6D86-3ACD-05F0-13CFAFCBF046}"/>
                  </a:ext>
                </a:extLst>
              </p:cNvPr>
              <p:cNvSpPr/>
              <p:nvPr/>
            </p:nvSpPr>
            <p:spPr>
              <a:xfrm rot="5400000">
                <a:off x="10476760" y="5178103"/>
                <a:ext cx="342870" cy="1125277"/>
              </a:xfrm>
              <a:prstGeom prst="flowChartAlternateProcess">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6654A266-ACAC-FAB5-640F-51D75997B0B2}"/>
                  </a:ext>
                </a:extLst>
              </p:cNvPr>
              <p:cNvSpPr txBox="1"/>
              <p:nvPr/>
            </p:nvSpPr>
            <p:spPr>
              <a:xfrm>
                <a:off x="10078627" y="5604748"/>
                <a:ext cx="1127366" cy="276999"/>
              </a:xfrm>
              <a:prstGeom prst="rect">
                <a:avLst/>
              </a:prstGeom>
              <a:noFill/>
            </p:spPr>
            <p:txBody>
              <a:bodyPr wrap="square" rtlCol="0">
                <a:spAutoFit/>
              </a:bodyPr>
              <a:lstStyle/>
              <a:p>
                <a:pPr algn="ctr"/>
                <a:r>
                  <a:rPr lang="en-US" sz="1200"/>
                  <a:t>Guardrail KPI</a:t>
                </a:r>
              </a:p>
            </p:txBody>
          </p:sp>
        </p:grpSp>
        <p:grpSp>
          <p:nvGrpSpPr>
            <p:cNvPr id="28" name="Group 27">
              <a:extLst>
                <a:ext uri="{FF2B5EF4-FFF2-40B4-BE49-F238E27FC236}">
                  <a16:creationId xmlns:a16="http://schemas.microsoft.com/office/drawing/2014/main" id="{CEB36C6A-3FE5-4487-467B-CA529C4AA468}"/>
                </a:ext>
              </a:extLst>
            </p:cNvPr>
            <p:cNvGrpSpPr/>
            <p:nvPr/>
          </p:nvGrpSpPr>
          <p:grpSpPr>
            <a:xfrm>
              <a:off x="651081" y="2801491"/>
              <a:ext cx="1286742" cy="340215"/>
              <a:chOff x="6867141" y="5569307"/>
              <a:chExt cx="1286742" cy="340215"/>
            </a:xfrm>
          </p:grpSpPr>
          <p:sp>
            <p:nvSpPr>
              <p:cNvPr id="5" name="Flowchart: Alternate Process 4">
                <a:extLst>
                  <a:ext uri="{FF2B5EF4-FFF2-40B4-BE49-F238E27FC236}">
                    <a16:creationId xmlns:a16="http://schemas.microsoft.com/office/drawing/2014/main" id="{18AA3741-344C-EDE0-178D-833B12745AB2}"/>
                  </a:ext>
                </a:extLst>
              </p:cNvPr>
              <p:cNvSpPr/>
              <p:nvPr/>
            </p:nvSpPr>
            <p:spPr>
              <a:xfrm rot="5400000">
                <a:off x="7340839" y="5097236"/>
                <a:ext cx="340215" cy="1284357"/>
              </a:xfrm>
              <a:prstGeom prst="flowChartAlternateProcess">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7" name="TextBox 6">
                <a:extLst>
                  <a:ext uri="{FF2B5EF4-FFF2-40B4-BE49-F238E27FC236}">
                    <a16:creationId xmlns:a16="http://schemas.microsoft.com/office/drawing/2014/main" id="{319C6361-C91F-5D82-5200-ADF6188055F0}"/>
                  </a:ext>
                </a:extLst>
              </p:cNvPr>
              <p:cNvSpPr txBox="1"/>
              <p:nvPr/>
            </p:nvSpPr>
            <p:spPr>
              <a:xfrm>
                <a:off x="6867141" y="5599470"/>
                <a:ext cx="1286742" cy="276999"/>
              </a:xfrm>
              <a:prstGeom prst="rect">
                <a:avLst/>
              </a:prstGeom>
              <a:noFill/>
            </p:spPr>
            <p:txBody>
              <a:bodyPr wrap="square" rtlCol="0">
                <a:spAutoFit/>
              </a:bodyPr>
              <a:lstStyle/>
              <a:p>
                <a:pPr algn="ctr"/>
                <a:r>
                  <a:rPr lang="en-US" sz="1200">
                    <a:solidFill>
                      <a:schemeClr val="bg1"/>
                    </a:solidFill>
                  </a:rPr>
                  <a:t>Secondary KPI</a:t>
                </a:r>
              </a:p>
            </p:txBody>
          </p:sp>
        </p:grpSp>
        <p:grpSp>
          <p:nvGrpSpPr>
            <p:cNvPr id="30" name="Group 29">
              <a:extLst>
                <a:ext uri="{FF2B5EF4-FFF2-40B4-BE49-F238E27FC236}">
                  <a16:creationId xmlns:a16="http://schemas.microsoft.com/office/drawing/2014/main" id="{D7898B52-ACCD-7B27-9116-72F0B50EE5E9}"/>
                </a:ext>
              </a:extLst>
            </p:cNvPr>
            <p:cNvGrpSpPr/>
            <p:nvPr/>
          </p:nvGrpSpPr>
          <p:grpSpPr>
            <a:xfrm>
              <a:off x="651081" y="2292466"/>
              <a:ext cx="1289304" cy="335802"/>
              <a:chOff x="3917143" y="5569306"/>
              <a:chExt cx="1289304" cy="335802"/>
            </a:xfrm>
          </p:grpSpPr>
          <p:sp>
            <p:nvSpPr>
              <p:cNvPr id="4" name="Flowchart: Alternate Process 3">
                <a:extLst>
                  <a:ext uri="{FF2B5EF4-FFF2-40B4-BE49-F238E27FC236}">
                    <a16:creationId xmlns:a16="http://schemas.microsoft.com/office/drawing/2014/main" id="{C8331290-F4A5-C6B6-E8D8-427E4CE0F1DD}"/>
                  </a:ext>
                </a:extLst>
              </p:cNvPr>
              <p:cNvSpPr/>
              <p:nvPr/>
            </p:nvSpPr>
            <p:spPr>
              <a:xfrm rot="5400000">
                <a:off x="4393894" y="5092555"/>
                <a:ext cx="335802" cy="1289304"/>
              </a:xfrm>
              <a:prstGeom prst="flowChartAlternateProcess">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6" name="TextBox 5">
                <a:extLst>
                  <a:ext uri="{FF2B5EF4-FFF2-40B4-BE49-F238E27FC236}">
                    <a16:creationId xmlns:a16="http://schemas.microsoft.com/office/drawing/2014/main" id="{CB6E6A3B-D10E-5D03-D8FF-374D63608F68}"/>
                  </a:ext>
                </a:extLst>
              </p:cNvPr>
              <p:cNvSpPr txBox="1"/>
              <p:nvPr/>
            </p:nvSpPr>
            <p:spPr>
              <a:xfrm>
                <a:off x="3917143" y="5599470"/>
                <a:ext cx="1289304" cy="276999"/>
              </a:xfrm>
              <a:prstGeom prst="rect">
                <a:avLst/>
              </a:prstGeom>
              <a:solidFill>
                <a:schemeClr val="accent2"/>
              </a:solidFill>
            </p:spPr>
            <p:txBody>
              <a:bodyPr wrap="square" rtlCol="0">
                <a:spAutoFit/>
              </a:bodyPr>
              <a:lstStyle/>
              <a:p>
                <a:pPr algn="ctr"/>
                <a:r>
                  <a:rPr lang="en-US" sz="1200">
                    <a:solidFill>
                      <a:schemeClr val="bg1"/>
                    </a:solidFill>
                  </a:rPr>
                  <a:t>Primary KPI</a:t>
                </a:r>
              </a:p>
            </p:txBody>
          </p:sp>
        </p:grpSp>
      </p:grpSp>
      <p:sp>
        <p:nvSpPr>
          <p:cNvPr id="2" name="Title 1">
            <a:extLst>
              <a:ext uri="{FF2B5EF4-FFF2-40B4-BE49-F238E27FC236}">
                <a16:creationId xmlns:a16="http://schemas.microsoft.com/office/drawing/2014/main" id="{70CE2DD3-77F2-9AE4-D58D-7967BE5DD6DA}"/>
              </a:ext>
            </a:extLst>
          </p:cNvPr>
          <p:cNvSpPr>
            <a:spLocks noGrp="1"/>
          </p:cNvSpPr>
          <p:nvPr>
            <p:ph type="title"/>
          </p:nvPr>
        </p:nvSpPr>
        <p:spPr>
          <a:xfrm>
            <a:off x="625417" y="289812"/>
            <a:ext cx="10972800" cy="792480"/>
          </a:xfrm>
        </p:spPr>
        <p:txBody>
          <a:bodyPr/>
          <a:lstStyle/>
          <a:p>
            <a:r>
              <a:rPr lang="en-US" b="1">
                <a:solidFill>
                  <a:schemeClr val="accent2"/>
                </a:solidFill>
                <a:latin typeface="+mn-lt"/>
              </a:rPr>
              <a:t>Choosing the Right A/B Test KPI By Funnel Stage</a:t>
            </a:r>
          </a:p>
        </p:txBody>
      </p:sp>
      <p:graphicFrame>
        <p:nvGraphicFramePr>
          <p:cNvPr id="3" name="Table 2">
            <a:extLst>
              <a:ext uri="{FF2B5EF4-FFF2-40B4-BE49-F238E27FC236}">
                <a16:creationId xmlns:a16="http://schemas.microsoft.com/office/drawing/2014/main" id="{9734D930-6BBC-C75F-7F4A-7C4512C7B10B}"/>
              </a:ext>
            </a:extLst>
          </p:cNvPr>
          <p:cNvGraphicFramePr>
            <a:graphicFrameLocks noGrp="1"/>
          </p:cNvGraphicFramePr>
          <p:nvPr/>
        </p:nvGraphicFramePr>
        <p:xfrm>
          <a:off x="2405575" y="1560906"/>
          <a:ext cx="8487636" cy="3773647"/>
        </p:xfrm>
        <a:graphic>
          <a:graphicData uri="http://schemas.openxmlformats.org/drawingml/2006/table">
            <a:tbl>
              <a:tblPr firstRow="1" bandRow="1">
                <a:tableStyleId>{7DF18680-E054-41AD-8BC1-D1AEF772440D}</a:tableStyleId>
              </a:tblPr>
              <a:tblGrid>
                <a:gridCol w="3410840">
                  <a:extLst>
                    <a:ext uri="{9D8B030D-6E8A-4147-A177-3AD203B41FA5}">
                      <a16:colId xmlns:a16="http://schemas.microsoft.com/office/drawing/2014/main" val="2988033198"/>
                    </a:ext>
                  </a:extLst>
                </a:gridCol>
                <a:gridCol w="2582859">
                  <a:extLst>
                    <a:ext uri="{9D8B030D-6E8A-4147-A177-3AD203B41FA5}">
                      <a16:colId xmlns:a16="http://schemas.microsoft.com/office/drawing/2014/main" val="4136781208"/>
                    </a:ext>
                  </a:extLst>
                </a:gridCol>
                <a:gridCol w="2493937">
                  <a:extLst>
                    <a:ext uri="{9D8B030D-6E8A-4147-A177-3AD203B41FA5}">
                      <a16:colId xmlns:a16="http://schemas.microsoft.com/office/drawing/2014/main" val="1361076535"/>
                    </a:ext>
                  </a:extLst>
                </a:gridCol>
              </a:tblGrid>
              <a:tr h="375091">
                <a:tc>
                  <a:txBody>
                    <a:bodyPr/>
                    <a:lstStyle/>
                    <a:p>
                      <a:r>
                        <a:rPr lang="en-US" sz="1200">
                          <a:latin typeface="+mn-lt"/>
                        </a:rPr>
                        <a:t>KPI</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accent2"/>
                    </a:solidFill>
                  </a:tcPr>
                </a:tc>
                <a:tc>
                  <a:txBody>
                    <a:bodyPr/>
                    <a:lstStyle/>
                    <a:p>
                      <a:r>
                        <a:rPr lang="en-US" sz="1200">
                          <a:latin typeface="+mn-lt"/>
                        </a:rPr>
                        <a:t>Program Pages (Get Started)</a:t>
                      </a:r>
                    </a:p>
                  </a:txBody>
                  <a:tcPr anchor="ctr">
                    <a:lnT w="12700" cap="flat" cmpd="sng" algn="ctr">
                      <a:solidFill>
                        <a:schemeClr val="tx1"/>
                      </a:solidFill>
                      <a:prstDash val="solid"/>
                      <a:round/>
                      <a:headEnd type="none" w="med" len="med"/>
                      <a:tailEnd type="none" w="med" len="med"/>
                    </a:lnT>
                    <a:solidFill>
                      <a:schemeClr val="accent2"/>
                    </a:solidFill>
                  </a:tcPr>
                </a:tc>
                <a:tc>
                  <a:txBody>
                    <a:bodyPr/>
                    <a:lstStyle/>
                    <a:p>
                      <a:r>
                        <a:rPr lang="en-US" sz="1200">
                          <a:latin typeface="+mn-lt"/>
                        </a:rPr>
                        <a:t>Thank You (Get Started)</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2"/>
                    </a:solidFill>
                  </a:tcPr>
                </a:tc>
                <a:extLst>
                  <a:ext uri="{0D108BD9-81ED-4DB2-BD59-A6C34878D82A}">
                    <a16:rowId xmlns:a16="http://schemas.microsoft.com/office/drawing/2014/main" val="987714657"/>
                  </a:ext>
                </a:extLst>
              </a:tr>
              <a:tr h="250888">
                <a:tc>
                  <a:txBody>
                    <a:bodyPr/>
                    <a:lstStyle/>
                    <a:p>
                      <a:r>
                        <a:rPr lang="en-US" sz="1400">
                          <a:latin typeface="+mn-lt"/>
                        </a:rPr>
                        <a:t>Form Interactions</a:t>
                      </a:r>
                    </a:p>
                  </a:txBody>
                  <a:tcPr>
                    <a:lnL w="12700" cap="flat" cmpd="sng" algn="ctr">
                      <a:solidFill>
                        <a:schemeClr val="tx1"/>
                      </a:solidFill>
                      <a:prstDash val="solid"/>
                      <a:round/>
                      <a:headEnd type="none" w="med" len="med"/>
                      <a:tailEnd type="none" w="med" len="med"/>
                    </a:lnL>
                  </a:tcPr>
                </a:tc>
                <a:tc>
                  <a:txBody>
                    <a:bodyPr/>
                    <a:lstStyle/>
                    <a:p>
                      <a:pPr algn="ctr"/>
                      <a:r>
                        <a:rPr lang="en-US" sz="1400" b="1">
                          <a:solidFill>
                            <a:schemeClr val="bg1"/>
                          </a:solidFill>
                          <a:highlight>
                            <a:srgbClr val="0059FF"/>
                          </a:highlight>
                          <a:latin typeface="+mn-lt"/>
                        </a:rPr>
                        <a:t>X</a:t>
                      </a:r>
                    </a:p>
                  </a:txBody>
                  <a:tcPr/>
                </a:tc>
                <a:tc>
                  <a:txBody>
                    <a:bodyPr/>
                    <a:lstStyle/>
                    <a:p>
                      <a:pPr algn="ctr"/>
                      <a:endParaRPr lang="en-US" sz="1400" b="1">
                        <a:latin typeface="+mn-lt"/>
                      </a:endParaRP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576641825"/>
                  </a:ext>
                </a:extLst>
              </a:tr>
              <a:tr h="250888">
                <a:tc>
                  <a:txBody>
                    <a:bodyPr/>
                    <a:lstStyle/>
                    <a:p>
                      <a:r>
                        <a:rPr lang="en-US" sz="1400">
                          <a:latin typeface="+mn-lt"/>
                        </a:rPr>
                        <a:t>Classroom Preference Selected</a:t>
                      </a:r>
                    </a:p>
                  </a:txBody>
                  <a:tcPr>
                    <a:lnL w="12700" cap="flat" cmpd="sng" algn="ctr">
                      <a:solidFill>
                        <a:schemeClr val="tx1"/>
                      </a:solidFill>
                      <a:prstDash val="solid"/>
                      <a:round/>
                      <a:headEnd type="none" w="med" len="med"/>
                      <a:tailEnd type="none" w="med" len="med"/>
                    </a:ln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a:solidFill>
                            <a:schemeClr val="bg1"/>
                          </a:solidFill>
                          <a:highlight>
                            <a:srgbClr val="0059FF"/>
                          </a:highlight>
                          <a:latin typeface="+mn-lt"/>
                        </a:rPr>
                        <a:t>X</a:t>
                      </a:r>
                    </a:p>
                  </a:txBody>
                  <a:tcPr anchor="ctr"/>
                </a:tc>
                <a:tc>
                  <a:txBody>
                    <a:bodyPr/>
                    <a:lstStyle/>
                    <a:p>
                      <a:pPr algn="ctr"/>
                      <a:endParaRPr lang="en-US" sz="1400" b="1">
                        <a:latin typeface="+mn-lt"/>
                      </a:endParaRP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4149173892"/>
                  </a:ext>
                </a:extLst>
              </a:tr>
              <a:tr h="250888">
                <a:tc>
                  <a:txBody>
                    <a:bodyPr/>
                    <a:lstStyle/>
                    <a:p>
                      <a:r>
                        <a:rPr lang="en-US" sz="1400">
                          <a:latin typeface="+mn-lt"/>
                        </a:rPr>
                        <a:t>Form Step 1 Complete</a:t>
                      </a:r>
                    </a:p>
                  </a:txBody>
                  <a:tcPr>
                    <a:lnL w="12700" cap="flat" cmpd="sng" algn="ctr">
                      <a:solidFill>
                        <a:schemeClr val="tx1"/>
                      </a:solidFill>
                      <a:prstDash val="solid"/>
                      <a:round/>
                      <a:headEnd type="none" w="med" len="med"/>
                      <a:tailEnd type="none" w="med" len="med"/>
                    </a:lnL>
                  </a:tcPr>
                </a:tc>
                <a:tc>
                  <a:txBody>
                    <a:bodyPr/>
                    <a:lstStyle/>
                    <a:p>
                      <a:pPr algn="ctr"/>
                      <a:r>
                        <a:rPr lang="en-US" sz="1400" b="1">
                          <a:solidFill>
                            <a:schemeClr val="bg1"/>
                          </a:solidFill>
                          <a:highlight>
                            <a:srgbClr val="01239A"/>
                          </a:highlight>
                          <a:latin typeface="+mn-lt"/>
                        </a:rPr>
                        <a:t>X</a:t>
                      </a:r>
                    </a:p>
                  </a:txBody>
                  <a:tcPr anchor="ctr"/>
                </a:tc>
                <a:tc>
                  <a:txBody>
                    <a:bodyPr/>
                    <a:lstStyle/>
                    <a:p>
                      <a:pPr algn="ctr"/>
                      <a:endParaRPr lang="en-US" sz="1400" b="1">
                        <a:latin typeface="+mn-lt"/>
                      </a:endParaRP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4053144064"/>
                  </a:ext>
                </a:extLst>
              </a:tr>
              <a:tr h="250888">
                <a:tc>
                  <a:txBody>
                    <a:bodyPr/>
                    <a:lstStyle/>
                    <a:p>
                      <a:r>
                        <a:rPr lang="en-US" sz="1400">
                          <a:latin typeface="+mn-lt"/>
                        </a:rPr>
                        <a:t>Area of study selected</a:t>
                      </a:r>
                    </a:p>
                  </a:txBody>
                  <a:tcPr>
                    <a:lnL w="12700" cap="flat" cmpd="sng" algn="ctr">
                      <a:solidFill>
                        <a:schemeClr val="tx1"/>
                      </a:solidFill>
                      <a:prstDash val="solid"/>
                      <a:round/>
                      <a:headEnd type="none" w="med" len="med"/>
                      <a:tailEnd type="none" w="med" len="med"/>
                    </a:lnL>
                  </a:tcPr>
                </a:tc>
                <a:tc>
                  <a:txBody>
                    <a:bodyPr/>
                    <a:lstStyle/>
                    <a:p>
                      <a:pPr algn="ctr"/>
                      <a:r>
                        <a:rPr lang="en-US" sz="1400" b="1">
                          <a:solidFill>
                            <a:schemeClr val="bg1"/>
                          </a:solidFill>
                          <a:highlight>
                            <a:srgbClr val="0059FF"/>
                          </a:highlight>
                          <a:latin typeface="+mn-lt"/>
                        </a:rPr>
                        <a:t>X</a:t>
                      </a:r>
                    </a:p>
                  </a:txBody>
                  <a:tcPr/>
                </a:tc>
                <a:tc>
                  <a:txBody>
                    <a:bodyPr/>
                    <a:lstStyle/>
                    <a:p>
                      <a:pPr algn="ctr"/>
                      <a:endParaRPr lang="en-US" sz="1400" b="1">
                        <a:latin typeface="+mn-lt"/>
                      </a:endParaRP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76460275"/>
                  </a:ext>
                </a:extLst>
              </a:tr>
              <a:tr h="250888">
                <a:tc>
                  <a:txBody>
                    <a:bodyPr/>
                    <a:lstStyle/>
                    <a:p>
                      <a:r>
                        <a:rPr lang="en-US" sz="1400" b="1">
                          <a:solidFill>
                            <a:schemeClr val="bg1"/>
                          </a:solidFill>
                          <a:highlight>
                            <a:srgbClr val="000080"/>
                          </a:highlight>
                          <a:latin typeface="+mn-lt"/>
                        </a:rPr>
                        <a:t>Inquiry Rate (V2I)</a:t>
                      </a:r>
                    </a:p>
                  </a:txBody>
                  <a:tcPr>
                    <a:lnL w="12700" cap="flat" cmpd="sng" algn="ctr">
                      <a:solidFill>
                        <a:schemeClr val="tx1"/>
                      </a:solidFill>
                      <a:prstDash val="solid"/>
                      <a:round/>
                      <a:headEnd type="none" w="med" len="med"/>
                      <a:tailEnd type="none" w="med" len="med"/>
                    </a:ln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a:solidFill>
                            <a:schemeClr val="bg1"/>
                          </a:solidFill>
                          <a:highlight>
                            <a:srgbClr val="01239A"/>
                          </a:highlight>
                          <a:latin typeface="+mn-lt"/>
                        </a:rPr>
                        <a:t>X</a:t>
                      </a:r>
                    </a:p>
                  </a:txBody>
                  <a:tcPr/>
                </a:tc>
                <a:tc>
                  <a:txBody>
                    <a:bodyPr/>
                    <a:lstStyle/>
                    <a:p>
                      <a:pPr algn="ctr"/>
                      <a:endParaRPr lang="en-US" sz="1400" b="1">
                        <a:latin typeface="+mn-lt"/>
                      </a:endParaRP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6287793"/>
                  </a:ext>
                </a:extLst>
              </a:tr>
              <a:tr h="35055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latin typeface="+mn-lt"/>
                        </a:rPr>
                        <a:t>Click to Call Rate</a:t>
                      </a:r>
                    </a:p>
                  </a:txBody>
                  <a:tcPr>
                    <a:lnL w="12700" cap="flat" cmpd="sng" algn="ctr">
                      <a:solidFill>
                        <a:schemeClr val="tx1"/>
                      </a:solidFill>
                      <a:prstDash val="solid"/>
                      <a:round/>
                      <a:headEnd type="none" w="med" len="med"/>
                      <a:tailEnd type="none" w="med" len="med"/>
                    </a:lnL>
                  </a:tcPr>
                </a:tc>
                <a:tc>
                  <a:txBody>
                    <a:bodyPr/>
                    <a:lstStyle/>
                    <a:p>
                      <a:pPr algn="ctr"/>
                      <a:r>
                        <a:rPr lang="en-US" sz="1400" b="1">
                          <a:solidFill>
                            <a:schemeClr val="bg1"/>
                          </a:solidFill>
                          <a:highlight>
                            <a:srgbClr val="0059FF"/>
                          </a:highlight>
                          <a:latin typeface="+mn-lt"/>
                        </a:rPr>
                        <a:t>X</a:t>
                      </a:r>
                    </a:p>
                  </a:txBody>
                  <a:tcPr/>
                </a:tc>
                <a:tc>
                  <a:txBody>
                    <a:bodyPr/>
                    <a:lstStyle/>
                    <a:p>
                      <a:pPr algn="ctr"/>
                      <a:r>
                        <a:rPr lang="en-US" sz="1400" b="1">
                          <a:solidFill>
                            <a:schemeClr val="bg1"/>
                          </a:solidFill>
                          <a:highlight>
                            <a:srgbClr val="01239A"/>
                          </a:highlight>
                          <a:latin typeface="+mn-lt"/>
                        </a:rPr>
                        <a:t>X</a:t>
                      </a:r>
                      <a:endParaRPr lang="en-US" sz="1400" b="1">
                        <a:latin typeface="+mn-lt"/>
                      </a:endParaRP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080700034"/>
                  </a:ext>
                </a:extLst>
              </a:tr>
              <a:tr h="250888">
                <a:tc>
                  <a:txBody>
                    <a:bodyPr/>
                    <a:lstStyle/>
                    <a:p>
                      <a:r>
                        <a:rPr lang="en-US" sz="1400">
                          <a:latin typeface="+mn-lt"/>
                        </a:rPr>
                        <a:t>Click to Text Rate</a:t>
                      </a:r>
                    </a:p>
                  </a:txBody>
                  <a:tcPr>
                    <a:lnL w="12700" cap="flat" cmpd="sng" algn="ctr">
                      <a:solidFill>
                        <a:schemeClr val="tx1"/>
                      </a:solidFill>
                      <a:prstDash val="solid"/>
                      <a:round/>
                      <a:headEnd type="none" w="med" len="med"/>
                      <a:tailEnd type="none" w="med" len="med"/>
                    </a:lnL>
                  </a:tcPr>
                </a:tc>
                <a:tc>
                  <a:txBody>
                    <a:bodyPr/>
                    <a:lstStyle/>
                    <a:p>
                      <a:pPr algn="ctr"/>
                      <a:r>
                        <a:rPr lang="en-US" sz="1400" b="1">
                          <a:solidFill>
                            <a:schemeClr val="tx1"/>
                          </a:solidFill>
                          <a:highlight>
                            <a:srgbClr val="FFFF00"/>
                          </a:highlight>
                          <a:latin typeface="+mn-lt"/>
                        </a:rPr>
                        <a:t>X</a:t>
                      </a:r>
                      <a:endParaRPr lang="en-US" sz="1400" b="1">
                        <a:latin typeface="+mn-lt"/>
                      </a:endParaRPr>
                    </a:p>
                  </a:txBody>
                  <a:tcPr/>
                </a:tc>
                <a:tc>
                  <a:txBody>
                    <a:bodyPr/>
                    <a:lstStyle/>
                    <a:p>
                      <a:pPr algn="ctr"/>
                      <a:r>
                        <a:rPr lang="en-US" sz="1400" b="1">
                          <a:solidFill>
                            <a:schemeClr val="bg1"/>
                          </a:solidFill>
                          <a:highlight>
                            <a:srgbClr val="0059FF"/>
                          </a:highlight>
                          <a:latin typeface="+mn-lt"/>
                        </a:rPr>
                        <a:t>X</a:t>
                      </a:r>
                      <a:endParaRPr lang="en-US" sz="1400" b="1">
                        <a:latin typeface="+mn-lt"/>
                      </a:endParaRP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106463649"/>
                  </a:ext>
                </a:extLst>
              </a:tr>
              <a:tr h="0">
                <a:tc>
                  <a:txBody>
                    <a:bodyPr/>
                    <a:lstStyle/>
                    <a:p>
                      <a:r>
                        <a:rPr lang="en-US" sz="1400">
                          <a:latin typeface="+mn-lt"/>
                        </a:rPr>
                        <a:t>Click to Chat Rate</a:t>
                      </a:r>
                    </a:p>
                  </a:txBody>
                  <a:tcPr>
                    <a:lnL w="12700" cap="flat" cmpd="sng" algn="ctr">
                      <a:solidFill>
                        <a:schemeClr val="tx1"/>
                      </a:solidFill>
                      <a:prstDash val="solid"/>
                      <a:round/>
                      <a:headEnd type="none" w="med" len="med"/>
                      <a:tailEnd type="none" w="med" len="med"/>
                    </a:lnL>
                  </a:tcPr>
                </a:tc>
                <a:tc>
                  <a:txBody>
                    <a:bodyPr/>
                    <a:lstStyle/>
                    <a:p>
                      <a:pPr algn="ctr"/>
                      <a:r>
                        <a:rPr lang="en-US" sz="1400" b="1">
                          <a:solidFill>
                            <a:schemeClr val="tx1"/>
                          </a:solidFill>
                          <a:highlight>
                            <a:srgbClr val="FFFF00"/>
                          </a:highlight>
                          <a:latin typeface="+mn-lt"/>
                        </a:rPr>
                        <a:t>X</a:t>
                      </a:r>
                    </a:p>
                  </a:txBody>
                  <a:tcPr/>
                </a:tc>
                <a:tc>
                  <a:txBody>
                    <a:bodyPr/>
                    <a:lstStyle/>
                    <a:p>
                      <a:pPr algn="ctr"/>
                      <a:r>
                        <a:rPr lang="en-US" sz="1400" b="1">
                          <a:solidFill>
                            <a:schemeClr val="bg1"/>
                          </a:solidFill>
                          <a:highlight>
                            <a:srgbClr val="0059FF"/>
                          </a:highlight>
                          <a:latin typeface="+mn-lt"/>
                        </a:rPr>
                        <a:t>X</a:t>
                      </a:r>
                      <a:endParaRPr lang="en-US" sz="1400" b="1">
                        <a:latin typeface="+mn-lt"/>
                      </a:endParaRP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932520283"/>
                  </a:ext>
                </a:extLst>
              </a:tr>
              <a:tr h="0">
                <a:tc>
                  <a:txBody>
                    <a:bodyPr/>
                    <a:lstStyle/>
                    <a:p>
                      <a:r>
                        <a:rPr lang="en-US" sz="1400">
                          <a:latin typeface="+mn-lt"/>
                        </a:rPr>
                        <a:t>Application Rate (I2A)</a:t>
                      </a:r>
                    </a:p>
                  </a:txBody>
                  <a:tcPr>
                    <a:lnL w="12700" cap="flat" cmpd="sng" algn="ctr">
                      <a:solidFill>
                        <a:schemeClr val="tx1"/>
                      </a:solidFill>
                      <a:prstDash val="solid"/>
                      <a:round/>
                      <a:headEnd type="none" w="med" len="med"/>
                      <a:tailEnd type="none" w="med" len="med"/>
                    </a:lnL>
                  </a:tcPr>
                </a:tc>
                <a:tc>
                  <a:txBody>
                    <a:bodyPr/>
                    <a:lstStyle/>
                    <a:p>
                      <a:pPr algn="ctr"/>
                      <a:r>
                        <a:rPr lang="en-US" sz="1400" b="1">
                          <a:solidFill>
                            <a:schemeClr val="tx1"/>
                          </a:solidFill>
                          <a:highlight>
                            <a:srgbClr val="FFFF00"/>
                          </a:highlight>
                          <a:latin typeface="+mn-lt"/>
                        </a:rPr>
                        <a:t>X</a:t>
                      </a:r>
                    </a:p>
                  </a:txBody>
                  <a:tcPr/>
                </a:tc>
                <a:tc>
                  <a:txBody>
                    <a:bodyPr/>
                    <a:lstStyle/>
                    <a:p>
                      <a:pPr algn="ctr"/>
                      <a:r>
                        <a:rPr lang="en-US" sz="1400" b="1">
                          <a:solidFill>
                            <a:schemeClr val="bg1"/>
                          </a:solidFill>
                          <a:highlight>
                            <a:srgbClr val="01239A"/>
                          </a:highlight>
                          <a:latin typeface="+mn-lt"/>
                        </a:rPr>
                        <a:t>X</a:t>
                      </a:r>
                      <a:endParaRPr lang="en-US" sz="1400" b="1">
                        <a:latin typeface="+mn-lt"/>
                      </a:endParaRP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783790802"/>
                  </a:ext>
                </a:extLst>
              </a:tr>
              <a:tr h="250888">
                <a:tc>
                  <a:txBody>
                    <a:bodyPr/>
                    <a:lstStyle/>
                    <a:p>
                      <a:r>
                        <a:rPr lang="en-US" sz="1400">
                          <a:latin typeface="+mn-lt"/>
                        </a:rPr>
                        <a:t>Enrollment Rate</a:t>
                      </a:r>
                    </a:p>
                  </a:txBody>
                  <a:tcPr>
                    <a:lnL w="12700" cap="flat" cmpd="sng" algn="ctr">
                      <a:solidFill>
                        <a:schemeClr val="tx1"/>
                      </a:solidFill>
                      <a:prstDash val="solid"/>
                      <a:round/>
                      <a:headEnd type="none" w="med" len="med"/>
                      <a:tailEnd type="none" w="med" len="med"/>
                    </a:lnL>
                  </a:tcPr>
                </a:tc>
                <a:tc>
                  <a:txBody>
                    <a:bodyPr/>
                    <a:lstStyle/>
                    <a:p>
                      <a:pPr algn="ctr"/>
                      <a:r>
                        <a:rPr lang="en-US" sz="1400" b="1">
                          <a:solidFill>
                            <a:schemeClr val="tx1"/>
                          </a:solidFill>
                          <a:highlight>
                            <a:srgbClr val="FFFF00"/>
                          </a:highlight>
                          <a:latin typeface="+mn-lt"/>
                        </a:rPr>
                        <a:t>X</a:t>
                      </a:r>
                    </a:p>
                  </a:txBody>
                  <a:tcPr/>
                </a:tc>
                <a:tc>
                  <a:txBody>
                    <a:bodyPr/>
                    <a:lstStyle/>
                    <a:p>
                      <a:pPr algn="ctr"/>
                      <a:r>
                        <a:rPr lang="en-US" sz="1400" b="1">
                          <a:solidFill>
                            <a:schemeClr val="tx1"/>
                          </a:solidFill>
                          <a:highlight>
                            <a:srgbClr val="FFFF00"/>
                          </a:highlight>
                          <a:latin typeface="+mn-lt"/>
                        </a:rPr>
                        <a:t>X</a:t>
                      </a:r>
                      <a:endParaRPr lang="en-US" sz="1400" b="1">
                        <a:latin typeface="+mn-lt"/>
                      </a:endParaRP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089527192"/>
                  </a:ext>
                </a:extLst>
              </a:tr>
              <a:tr h="2508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latin typeface="+mn-lt"/>
                        </a:rPr>
                        <a:t>Degree to Cert Ratio</a:t>
                      </a: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a:r>
                        <a:rPr lang="en-US" sz="1400" b="1">
                          <a:solidFill>
                            <a:schemeClr val="tx1"/>
                          </a:solidFill>
                          <a:highlight>
                            <a:srgbClr val="FFFF00"/>
                          </a:highlight>
                          <a:latin typeface="+mn-lt"/>
                        </a:rPr>
                        <a:t>X</a:t>
                      </a:r>
                    </a:p>
                  </a:txBody>
                  <a:tcPr>
                    <a:lnB w="12700" cap="flat" cmpd="sng" algn="ctr">
                      <a:solidFill>
                        <a:schemeClr val="tx1"/>
                      </a:solidFill>
                      <a:prstDash val="solid"/>
                      <a:round/>
                      <a:headEnd type="none" w="med" len="med"/>
                      <a:tailEnd type="none" w="med" len="med"/>
                    </a:lnB>
                  </a:tcPr>
                </a:tc>
                <a:tc>
                  <a:txBody>
                    <a:bodyPr/>
                    <a:lstStyle/>
                    <a:p>
                      <a:pPr algn="ctr"/>
                      <a:r>
                        <a:rPr kumimoji="0" lang="en-US" sz="1400" b="1" i="0" u="none" strike="noStrike" kern="1200" cap="none" spc="0" normalizeH="0" baseline="0" noProof="0">
                          <a:ln>
                            <a:noFill/>
                          </a:ln>
                          <a:solidFill>
                            <a:srgbClr val="000000"/>
                          </a:solidFill>
                          <a:effectLst/>
                          <a:highlight>
                            <a:srgbClr val="FFFF00"/>
                          </a:highlight>
                          <a:uLnTx/>
                          <a:uFillTx/>
                          <a:latin typeface="+mn-lt"/>
                          <a:ea typeface="+mn-ea"/>
                          <a:cs typeface="+mn-cs"/>
                        </a:rPr>
                        <a:t>X</a:t>
                      </a:r>
                      <a:endParaRPr lang="en-US" sz="1400" b="1">
                        <a:latin typeface="+mn-lt"/>
                      </a:endParaRP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83073912"/>
                  </a:ext>
                </a:extLst>
              </a:tr>
            </a:tbl>
          </a:graphicData>
        </a:graphic>
      </p:graphicFrame>
      <p:sp>
        <p:nvSpPr>
          <p:cNvPr id="32" name="TextBox 31">
            <a:extLst>
              <a:ext uri="{FF2B5EF4-FFF2-40B4-BE49-F238E27FC236}">
                <a16:creationId xmlns:a16="http://schemas.microsoft.com/office/drawing/2014/main" id="{729E8A12-415E-34C5-7B68-5048040A67F6}"/>
              </a:ext>
            </a:extLst>
          </p:cNvPr>
          <p:cNvSpPr txBox="1"/>
          <p:nvPr/>
        </p:nvSpPr>
        <p:spPr>
          <a:xfrm>
            <a:off x="2405575" y="1296901"/>
            <a:ext cx="4197426" cy="257506"/>
          </a:xfrm>
          <a:prstGeom prst="rect">
            <a:avLst/>
          </a:prstGeom>
          <a:noFill/>
        </p:spPr>
        <p:txBody>
          <a:bodyPr wrap="square" rtlCol="0">
            <a:spAutoFit/>
          </a:bodyPr>
          <a:lstStyle/>
          <a:p>
            <a:pPr algn="l">
              <a:lnSpc>
                <a:spcPct val="112000"/>
              </a:lnSpc>
            </a:pPr>
            <a:r>
              <a:rPr lang="en-US" sz="1000"/>
              <a:t>Only “Get Started” funnel included</a:t>
            </a:r>
          </a:p>
        </p:txBody>
      </p:sp>
      <p:sp>
        <p:nvSpPr>
          <p:cNvPr id="13" name="TextBox 12">
            <a:extLst>
              <a:ext uri="{FF2B5EF4-FFF2-40B4-BE49-F238E27FC236}">
                <a16:creationId xmlns:a16="http://schemas.microsoft.com/office/drawing/2014/main" id="{0E6E9E3F-1C9A-38DD-01E6-7196D31A8944}"/>
              </a:ext>
            </a:extLst>
          </p:cNvPr>
          <p:cNvSpPr txBox="1"/>
          <p:nvPr/>
        </p:nvSpPr>
        <p:spPr>
          <a:xfrm>
            <a:off x="146126" y="6093992"/>
            <a:ext cx="8011516" cy="602216"/>
          </a:xfrm>
          <a:prstGeom prst="rect">
            <a:avLst/>
          </a:prstGeom>
          <a:noFill/>
        </p:spPr>
        <p:txBody>
          <a:bodyPr wrap="square" rtlCol="0">
            <a:spAutoFit/>
          </a:bodyPr>
          <a:lstStyle/>
          <a:p>
            <a:pPr algn="l">
              <a:lnSpc>
                <a:spcPct val="112000"/>
              </a:lnSpc>
            </a:pPr>
            <a:r>
              <a:rPr lang="en-US" sz="1000" b="1"/>
              <a:t>Primary KPI</a:t>
            </a:r>
            <a:r>
              <a:rPr lang="en-US" sz="1000"/>
              <a:t>: Main experiment goal and most important metric likely to be moved by change</a:t>
            </a:r>
          </a:p>
          <a:p>
            <a:pPr algn="l">
              <a:lnSpc>
                <a:spcPct val="112000"/>
              </a:lnSpc>
            </a:pPr>
            <a:r>
              <a:rPr lang="en-US" sz="1000" b="1"/>
              <a:t>Secondary KPI</a:t>
            </a:r>
            <a:r>
              <a:rPr lang="en-US" sz="1000"/>
              <a:t>: Important metric potentially impacted by experiment and should be monitored closely</a:t>
            </a:r>
          </a:p>
          <a:p>
            <a:pPr algn="l">
              <a:lnSpc>
                <a:spcPct val="112000"/>
              </a:lnSpc>
            </a:pPr>
            <a:r>
              <a:rPr lang="en-US" sz="1000" b="1"/>
              <a:t>Guardrail KPI</a:t>
            </a:r>
            <a:r>
              <a:rPr lang="en-US" sz="1000"/>
              <a:t>: Important metrics unlikely to impacted by experiment and should be monitored for negative surges</a:t>
            </a:r>
          </a:p>
        </p:txBody>
      </p:sp>
    </p:spTree>
    <p:extLst>
      <p:ext uri="{BB962C8B-B14F-4D97-AF65-F5344CB8AC3E}">
        <p14:creationId xmlns:p14="http://schemas.microsoft.com/office/powerpoint/2010/main" val="3313735543"/>
      </p:ext>
    </p:extLst>
  </p:cSld>
  <p:clrMapOvr>
    <a:masterClrMapping/>
  </p:clrMapOvr>
  <p:extLst>
    <p:ext uri="{6950BFC3-D8DA-4A85-94F7-54DA5524770B}">
      <p188:commentRel xmlns:p188="http://schemas.microsoft.com/office/powerpoint/2018/8/main" r:id="rId3"/>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0E9483-9042-A4F5-FAAD-CDB5A81A49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744783-C464-8665-9308-DD2C96BC6097}"/>
              </a:ext>
            </a:extLst>
          </p:cNvPr>
          <p:cNvSpPr>
            <a:spLocks noGrp="1"/>
          </p:cNvSpPr>
          <p:nvPr>
            <p:ph type="title"/>
          </p:nvPr>
        </p:nvSpPr>
        <p:spPr>
          <a:xfrm>
            <a:off x="838200" y="552008"/>
            <a:ext cx="10515600" cy="1003352"/>
          </a:xfrm>
        </p:spPr>
        <p:txBody>
          <a:bodyPr wrap="square" anchor="ctr">
            <a:spAutoFit/>
          </a:bodyPr>
          <a:lstStyle/>
          <a:p>
            <a:r>
              <a:rPr lang="en-US" altLang="en-US" b="0">
                <a:solidFill>
                  <a:srgbClr val="00355B"/>
                </a:solidFill>
                <a:latin typeface="Poppins ExtraLight" pitchFamily="2" charset="77"/>
                <a:cs typeface="Poppins ExtraLight" pitchFamily="2" charset="77"/>
              </a:rPr>
              <a:t>A COLLABORATIVE GROWTH PARTNER FOR</a:t>
            </a:r>
            <a:br>
              <a:rPr lang="en-US" altLang="en-US" b="0">
                <a:solidFill>
                  <a:srgbClr val="00355B"/>
                </a:solidFill>
                <a:latin typeface="Poppins ExtraLight" pitchFamily="2" charset="77"/>
                <a:cs typeface="Poppins ExtraLight" pitchFamily="2" charset="77"/>
              </a:rPr>
            </a:br>
            <a:r>
              <a:rPr lang="en-US" altLang="en-US">
                <a:solidFill>
                  <a:srgbClr val="00355B"/>
                </a:solidFill>
                <a:cs typeface="Poppins SemiBold" panose="00000700000000000000" pitchFamily="2" charset="0"/>
              </a:rPr>
              <a:t>OPTIMIZING DIGITAL EXPERIENCE OUTCOMES</a:t>
            </a:r>
            <a:endParaRPr lang="en-US" altLang="en-US" b="0">
              <a:solidFill>
                <a:schemeClr val="accent2"/>
              </a:solidFill>
              <a:latin typeface="+mj-lt"/>
              <a:cs typeface="Poppins SemiBold" panose="00000700000000000000" pitchFamily="2" charset="0"/>
            </a:endParaRPr>
          </a:p>
        </p:txBody>
      </p:sp>
      <p:grpSp>
        <p:nvGrpSpPr>
          <p:cNvPr id="3" name="Group 2">
            <a:extLst>
              <a:ext uri="{FF2B5EF4-FFF2-40B4-BE49-F238E27FC236}">
                <a16:creationId xmlns:a16="http://schemas.microsoft.com/office/drawing/2014/main" id="{0BFC8E1A-779C-7F0C-6FDC-FC15FEF0B967}"/>
              </a:ext>
            </a:extLst>
          </p:cNvPr>
          <p:cNvGrpSpPr/>
          <p:nvPr/>
        </p:nvGrpSpPr>
        <p:grpSpPr>
          <a:xfrm>
            <a:off x="563880" y="1713561"/>
            <a:ext cx="11064240" cy="4945382"/>
            <a:chOff x="339916" y="1695273"/>
            <a:chExt cx="11064240" cy="4945382"/>
          </a:xfrm>
        </p:grpSpPr>
        <p:sp>
          <p:nvSpPr>
            <p:cNvPr id="5" name="Rectangle 4">
              <a:extLst>
                <a:ext uri="{FF2B5EF4-FFF2-40B4-BE49-F238E27FC236}">
                  <a16:creationId xmlns:a16="http://schemas.microsoft.com/office/drawing/2014/main" id="{DF5DE180-08D8-860E-DBFC-8125A5F73A18}"/>
                </a:ext>
              </a:extLst>
            </p:cNvPr>
            <p:cNvSpPr/>
            <p:nvPr/>
          </p:nvSpPr>
          <p:spPr>
            <a:xfrm>
              <a:off x="339916" y="1885950"/>
              <a:ext cx="3611880" cy="4743450"/>
            </a:xfrm>
            <a:prstGeom prst="rect">
              <a:avLst/>
            </a:prstGeom>
            <a:solidFill>
              <a:srgbClr val="013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9E335239-7399-7B25-F114-914505B93657}"/>
                </a:ext>
              </a:extLst>
            </p:cNvPr>
            <p:cNvSpPr/>
            <p:nvPr/>
          </p:nvSpPr>
          <p:spPr>
            <a:xfrm>
              <a:off x="4061524" y="1885948"/>
              <a:ext cx="3611880" cy="4743451"/>
            </a:xfrm>
            <a:prstGeom prst="rect">
              <a:avLst/>
            </a:prstGeom>
            <a:solidFill>
              <a:srgbClr val="1D69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a:extLst>
                <a:ext uri="{FF2B5EF4-FFF2-40B4-BE49-F238E27FC236}">
                  <a16:creationId xmlns:a16="http://schemas.microsoft.com/office/drawing/2014/main" id="{14E9064B-ED11-0D5C-315A-5C6530E03C96}"/>
                </a:ext>
              </a:extLst>
            </p:cNvPr>
            <p:cNvSpPr/>
            <p:nvPr/>
          </p:nvSpPr>
          <p:spPr>
            <a:xfrm>
              <a:off x="7792276" y="1897203"/>
              <a:ext cx="3611880" cy="4743452"/>
            </a:xfrm>
            <a:prstGeom prst="rect">
              <a:avLst/>
            </a:prstGeom>
            <a:solidFill>
              <a:srgbClr val="046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a:extLst>
                <a:ext uri="{FF2B5EF4-FFF2-40B4-BE49-F238E27FC236}">
                  <a16:creationId xmlns:a16="http://schemas.microsoft.com/office/drawing/2014/main" id="{F56C8F22-E564-A1A8-80E5-864183F03C9A}"/>
                </a:ext>
              </a:extLst>
            </p:cNvPr>
            <p:cNvSpPr txBox="1"/>
            <p:nvPr/>
          </p:nvSpPr>
          <p:spPr>
            <a:xfrm>
              <a:off x="751267" y="1695273"/>
              <a:ext cx="2651760" cy="315471"/>
            </a:xfrm>
            <a:prstGeom prst="rect">
              <a:avLst/>
            </a:prstGeom>
            <a:solidFill>
              <a:schemeClr val="bg1"/>
            </a:solidFill>
            <a:ln>
              <a:solidFill>
                <a:schemeClr val="tx2"/>
              </a:solidFill>
            </a:ln>
          </p:spPr>
          <p:txBody>
            <a:bodyPr wrap="square">
              <a:spAutoFit/>
            </a:bodyPr>
            <a:lstStyle/>
            <a:p>
              <a:pPr algn="ctr"/>
              <a:r>
                <a:rPr sz="1450" b="1">
                  <a:solidFill>
                    <a:schemeClr val="tx2"/>
                  </a:solidFill>
                  <a:latin typeface="+mn-lt"/>
                </a:rPr>
                <a:t>Force Multiplier</a:t>
              </a:r>
            </a:p>
          </p:txBody>
        </p:sp>
        <p:sp>
          <p:nvSpPr>
            <p:cNvPr id="13" name="TextBox 12">
              <a:extLst>
                <a:ext uri="{FF2B5EF4-FFF2-40B4-BE49-F238E27FC236}">
                  <a16:creationId xmlns:a16="http://schemas.microsoft.com/office/drawing/2014/main" id="{B39697A7-D47B-7DA1-E32D-F5D7979C98E5}"/>
                </a:ext>
              </a:extLst>
            </p:cNvPr>
            <p:cNvSpPr txBox="1"/>
            <p:nvPr/>
          </p:nvSpPr>
          <p:spPr>
            <a:xfrm>
              <a:off x="516700" y="2542033"/>
              <a:ext cx="3297936" cy="3077766"/>
            </a:xfrm>
            <a:prstGeom prst="rect">
              <a:avLst/>
            </a:prstGeom>
            <a:noFill/>
          </p:spPr>
          <p:txBody>
            <a:bodyPr wrap="square">
              <a:spAutoFit/>
            </a:bodyPr>
            <a:lstStyle/>
            <a:p>
              <a:pPr>
                <a:spcAft>
                  <a:spcPts val="500"/>
                </a:spcAft>
              </a:pPr>
              <a:r>
                <a:rPr lang="en-US" sz="1300">
                  <a:solidFill>
                    <a:srgbClr val="FFFFFF"/>
                  </a:solidFill>
                  <a:latin typeface="+mn-lt"/>
                </a:rPr>
                <a:t>We work </a:t>
              </a:r>
              <a:r>
                <a:rPr lang="en-US" sz="1300" b="1">
                  <a:solidFill>
                    <a:srgbClr val="FFFFFF"/>
                  </a:solidFill>
                  <a:latin typeface="+mn-lt"/>
                </a:rPr>
                <a:t>alongside clients’ </a:t>
              </a:r>
              <a:r>
                <a:rPr lang="en-US" sz="1300">
                  <a:solidFill>
                    <a:srgbClr val="FFFFFF"/>
                  </a:solidFill>
                  <a:latin typeface="+mn-lt"/>
                </a:rPr>
                <a:t>marketing orgs to scale support</a:t>
              </a:r>
            </a:p>
            <a:p>
              <a:pPr>
                <a:spcAft>
                  <a:spcPts val="500"/>
                </a:spcAft>
              </a:pPr>
              <a:endParaRPr lang="en-US" sz="1300">
                <a:solidFill>
                  <a:srgbClr val="FFFFFF"/>
                </a:solidFill>
                <a:latin typeface="+mn-lt"/>
              </a:endParaRPr>
            </a:p>
            <a:p>
              <a:pPr>
                <a:spcAft>
                  <a:spcPts val="500"/>
                </a:spcAft>
              </a:pPr>
              <a:r>
                <a:rPr lang="en-US" sz="1300">
                  <a:solidFill>
                    <a:srgbClr val="FFFFFF"/>
                  </a:solidFill>
                  <a:latin typeface="+mn-lt"/>
                </a:rPr>
                <a:t>External perspective for insight into </a:t>
              </a:r>
              <a:r>
                <a:rPr lang="en-US" sz="1300" b="1">
                  <a:solidFill>
                    <a:srgbClr val="FFFFFF"/>
                  </a:solidFill>
                  <a:latin typeface="+mn-lt"/>
                </a:rPr>
                <a:t>what works across accounts </a:t>
              </a:r>
              <a:r>
                <a:rPr lang="en-US" sz="1300">
                  <a:solidFill>
                    <a:srgbClr val="FFFFFF"/>
                  </a:solidFill>
                  <a:latin typeface="+mn-lt"/>
                </a:rPr>
                <a:t>&amp; </a:t>
              </a:r>
              <a:br>
                <a:rPr lang="en-US" sz="1300">
                  <a:solidFill>
                    <a:srgbClr val="FFFFFF"/>
                  </a:solidFill>
                  <a:latin typeface="+mn-lt"/>
                </a:rPr>
              </a:br>
              <a:r>
                <a:rPr lang="en-US" sz="1300">
                  <a:solidFill>
                    <a:srgbClr val="FFFFFF"/>
                  </a:solidFill>
                  <a:latin typeface="+mn-lt"/>
                </a:rPr>
                <a:t>a faster path to improvement</a:t>
              </a:r>
            </a:p>
            <a:p>
              <a:pPr>
                <a:spcAft>
                  <a:spcPts val="500"/>
                </a:spcAft>
              </a:pPr>
              <a:endParaRPr lang="en-US" sz="1300">
                <a:solidFill>
                  <a:srgbClr val="FFFFFF"/>
                </a:solidFill>
                <a:latin typeface="+mn-lt"/>
              </a:endParaRPr>
            </a:p>
            <a:p>
              <a:pPr>
                <a:spcAft>
                  <a:spcPts val="500"/>
                </a:spcAft>
              </a:pPr>
              <a:r>
                <a:rPr lang="en-US" sz="1300" b="1">
                  <a:solidFill>
                    <a:srgbClr val="FFFFFF"/>
                  </a:solidFill>
                  <a:latin typeface="+mn-lt"/>
                </a:rPr>
                <a:t>Close alignment within Horizon </a:t>
              </a:r>
              <a:r>
                <a:rPr lang="en-US" sz="1300">
                  <a:solidFill>
                    <a:srgbClr val="FFFFFF"/>
                  </a:solidFill>
                  <a:latin typeface="+mn-lt"/>
                </a:rPr>
                <a:t>&amp; seamless </a:t>
              </a:r>
              <a:r>
                <a:rPr sz="1300">
                  <a:solidFill>
                    <a:srgbClr val="FFFFFF"/>
                  </a:solidFill>
                  <a:latin typeface="+mn-lt"/>
                </a:rPr>
                <a:t>media integration to maximize ad investment</a:t>
              </a:r>
              <a:endParaRPr lang="en-US" sz="1300">
                <a:solidFill>
                  <a:srgbClr val="FFFFFF"/>
                </a:solidFill>
                <a:latin typeface="+mn-lt"/>
              </a:endParaRPr>
            </a:p>
            <a:p>
              <a:pPr>
                <a:spcAft>
                  <a:spcPts val="500"/>
                </a:spcAft>
              </a:pPr>
              <a:endParaRPr lang="en-US" sz="1300">
                <a:solidFill>
                  <a:srgbClr val="FFFFFF"/>
                </a:solidFill>
                <a:latin typeface="+mn-lt"/>
              </a:endParaRPr>
            </a:p>
            <a:p>
              <a:pPr>
                <a:spcAft>
                  <a:spcPts val="1000"/>
                </a:spcAft>
              </a:pPr>
              <a:r>
                <a:rPr sz="1300">
                  <a:solidFill>
                    <a:srgbClr val="FFFFFF"/>
                  </a:solidFill>
                  <a:latin typeface="+mn-lt"/>
                </a:rPr>
                <a:t>Market-leader</a:t>
              </a:r>
              <a:r>
                <a:rPr lang="en-US" sz="1300">
                  <a:solidFill>
                    <a:srgbClr val="FFFFFF"/>
                  </a:solidFill>
                  <a:latin typeface="+mn-lt"/>
                </a:rPr>
                <a:t>ship </a:t>
              </a:r>
              <a:r>
                <a:rPr sz="1300">
                  <a:solidFill>
                    <a:srgbClr val="FFFFFF"/>
                  </a:solidFill>
                  <a:latin typeface="+mn-lt"/>
                </a:rPr>
                <a:t>t</a:t>
              </a:r>
              <a:r>
                <a:rPr lang="en-US" sz="1300">
                  <a:solidFill>
                    <a:srgbClr val="FFFFFF"/>
                  </a:solidFill>
                  <a:latin typeface="+mn-lt"/>
                </a:rPr>
                <a:t>hat </a:t>
              </a:r>
              <a:r>
                <a:rPr sz="1300">
                  <a:solidFill>
                    <a:srgbClr val="FFFFFF"/>
                  </a:solidFill>
                  <a:latin typeface="+mn-lt"/>
                </a:rPr>
                <a:t>unlock</a:t>
              </a:r>
              <a:r>
                <a:rPr lang="en-US" sz="1300">
                  <a:solidFill>
                    <a:srgbClr val="FFFFFF"/>
                  </a:solidFill>
                  <a:latin typeface="+mn-lt"/>
                </a:rPr>
                <a:t>s</a:t>
              </a:r>
              <a:r>
                <a:rPr sz="1300">
                  <a:solidFill>
                    <a:srgbClr val="FFFFFF"/>
                  </a:solidFill>
                  <a:latin typeface="+mn-lt"/>
                </a:rPr>
                <a:t> </a:t>
              </a:r>
              <a:br>
                <a:rPr lang="en-US" sz="1300">
                  <a:solidFill>
                    <a:srgbClr val="FFFFFF"/>
                  </a:solidFill>
                  <a:latin typeface="+mn-lt"/>
                </a:rPr>
              </a:br>
              <a:r>
                <a:rPr sz="1300" b="1">
                  <a:solidFill>
                    <a:srgbClr val="FFFFFF"/>
                  </a:solidFill>
                  <a:latin typeface="+mn-lt"/>
                </a:rPr>
                <a:t>new data &amp; tech capabilities</a:t>
              </a:r>
            </a:p>
          </p:txBody>
        </p:sp>
        <p:sp>
          <p:nvSpPr>
            <p:cNvPr id="14" name="TextBox 13">
              <a:extLst>
                <a:ext uri="{FF2B5EF4-FFF2-40B4-BE49-F238E27FC236}">
                  <a16:creationId xmlns:a16="http://schemas.microsoft.com/office/drawing/2014/main" id="{CB13448A-359C-B562-2C27-052935AA8676}"/>
                </a:ext>
              </a:extLst>
            </p:cNvPr>
            <p:cNvSpPr txBox="1"/>
            <p:nvPr/>
          </p:nvSpPr>
          <p:spPr>
            <a:xfrm>
              <a:off x="4505008" y="1699846"/>
              <a:ext cx="2651760" cy="315471"/>
            </a:xfrm>
            <a:prstGeom prst="rect">
              <a:avLst/>
            </a:prstGeom>
            <a:solidFill>
              <a:schemeClr val="bg1"/>
            </a:solidFill>
            <a:ln>
              <a:solidFill>
                <a:schemeClr val="accent1"/>
              </a:solidFill>
            </a:ln>
          </p:spPr>
          <p:txBody>
            <a:bodyPr wrap="square">
              <a:spAutoFit/>
            </a:bodyPr>
            <a:lstStyle/>
            <a:p>
              <a:pPr algn="ctr"/>
              <a:r>
                <a:rPr sz="1450" b="1">
                  <a:solidFill>
                    <a:schemeClr val="tx2"/>
                  </a:solidFill>
                  <a:latin typeface="+mn-lt"/>
                </a:rPr>
                <a:t>Our Approach</a:t>
              </a:r>
            </a:p>
          </p:txBody>
        </p:sp>
        <p:sp>
          <p:nvSpPr>
            <p:cNvPr id="15" name="TextBox 14">
              <a:extLst>
                <a:ext uri="{FF2B5EF4-FFF2-40B4-BE49-F238E27FC236}">
                  <a16:creationId xmlns:a16="http://schemas.microsoft.com/office/drawing/2014/main" id="{B900C1B6-AF95-1F11-7950-30F518CA7BC5}"/>
                </a:ext>
              </a:extLst>
            </p:cNvPr>
            <p:cNvSpPr txBox="1"/>
            <p:nvPr/>
          </p:nvSpPr>
          <p:spPr>
            <a:xfrm>
              <a:off x="4253548" y="2756970"/>
              <a:ext cx="3401568" cy="2834109"/>
            </a:xfrm>
            <a:prstGeom prst="rect">
              <a:avLst/>
            </a:prstGeom>
            <a:noFill/>
          </p:spPr>
          <p:txBody>
            <a:bodyPr wrap="square">
              <a:spAutoFit/>
            </a:bodyPr>
            <a:lstStyle/>
            <a:p>
              <a:pPr>
                <a:spcAft>
                  <a:spcPts val="200"/>
                </a:spcAft>
              </a:pPr>
              <a:r>
                <a:rPr lang="en-US" sz="1300">
                  <a:solidFill>
                    <a:srgbClr val="FFFFFF"/>
                  </a:solidFill>
                  <a:latin typeface="+mn-lt"/>
                </a:rPr>
                <a:t>A</a:t>
              </a:r>
              <a:r>
                <a:rPr sz="1300">
                  <a:solidFill>
                    <a:srgbClr val="FFFFFF"/>
                  </a:solidFill>
                  <a:latin typeface="+mn-lt"/>
                </a:rPr>
                <a:t>gile processes </a:t>
              </a:r>
              <a:r>
                <a:rPr lang="en-US" sz="1300">
                  <a:solidFill>
                    <a:srgbClr val="FFFFFF"/>
                  </a:solidFill>
                  <a:latin typeface="+mn-lt"/>
                </a:rPr>
                <a:t>&amp; dedicated PM </a:t>
              </a:r>
              <a:r>
                <a:rPr lang="en-US" sz="1300" b="1">
                  <a:solidFill>
                    <a:srgbClr val="FFFFFF"/>
                  </a:solidFill>
                  <a:latin typeface="+mn-lt"/>
                </a:rPr>
                <a:t>enable </a:t>
              </a:r>
              <a:r>
                <a:rPr sz="1300" b="1">
                  <a:solidFill>
                    <a:srgbClr val="FFFFFF"/>
                  </a:solidFill>
                  <a:latin typeface="+mn-lt"/>
                </a:rPr>
                <a:t>quick wins</a:t>
              </a:r>
              <a:r>
                <a:rPr lang="en-US" sz="1300" b="1">
                  <a:solidFill>
                    <a:srgbClr val="FFFFFF"/>
                  </a:solidFill>
                  <a:latin typeface="+mn-lt"/>
                </a:rPr>
                <a:t> &amp; speed to impact</a:t>
              </a:r>
            </a:p>
            <a:p>
              <a:pPr>
                <a:spcAft>
                  <a:spcPts val="200"/>
                </a:spcAft>
              </a:pPr>
              <a:endParaRPr lang="en-US" sz="1300">
                <a:solidFill>
                  <a:srgbClr val="FFFFFF"/>
                </a:solidFill>
                <a:latin typeface="+mn-lt"/>
              </a:endParaRPr>
            </a:p>
            <a:p>
              <a:pPr>
                <a:spcAft>
                  <a:spcPts val="200"/>
                </a:spcAft>
              </a:pPr>
              <a:r>
                <a:rPr lang="en-US" sz="1300">
                  <a:solidFill>
                    <a:srgbClr val="FFFFFF"/>
                  </a:solidFill>
                  <a:latin typeface="+mn-lt"/>
                </a:rPr>
                <a:t>Roadmaps that prioritize &amp; i</a:t>
              </a:r>
              <a:r>
                <a:rPr sz="1300">
                  <a:solidFill>
                    <a:srgbClr val="FFFFFF"/>
                  </a:solidFill>
                  <a:latin typeface="+mn-lt"/>
                </a:rPr>
                <a:t>nnovate boldly</a:t>
              </a:r>
              <a:r>
                <a:rPr lang="en-US" sz="1300">
                  <a:solidFill>
                    <a:srgbClr val="FFFFFF"/>
                  </a:solidFill>
                  <a:latin typeface="+mn-lt"/>
                </a:rPr>
                <a:t> for </a:t>
              </a:r>
              <a:r>
                <a:rPr sz="1300" b="1">
                  <a:solidFill>
                    <a:srgbClr val="FFFFFF"/>
                  </a:solidFill>
                  <a:latin typeface="+mn-lt"/>
                </a:rPr>
                <a:t>smart, decisive action</a:t>
              </a:r>
            </a:p>
            <a:p>
              <a:pPr marL="171450" indent="-171450">
                <a:spcAft>
                  <a:spcPts val="200"/>
                </a:spcAft>
                <a:buFont typeface="Arial" panose="020B0604020202020204" pitchFamily="34" charset="0"/>
                <a:buChar char="•"/>
              </a:pPr>
              <a:endParaRPr lang="en-US" sz="1300">
                <a:solidFill>
                  <a:srgbClr val="FFFFFF"/>
                </a:solidFill>
                <a:latin typeface="+mn-lt"/>
              </a:endParaRPr>
            </a:p>
            <a:p>
              <a:pPr>
                <a:spcAft>
                  <a:spcPts val="200"/>
                </a:spcAft>
              </a:pPr>
              <a:r>
                <a:rPr lang="en-US" sz="1300" b="1">
                  <a:solidFill>
                    <a:srgbClr val="FFFFFF"/>
                  </a:solidFill>
                  <a:latin typeface="+mn-lt"/>
                </a:rPr>
                <a:t>Collaborative, transparent planning </a:t>
              </a:r>
              <a:r>
                <a:rPr lang="en-US" sz="1300">
                  <a:solidFill>
                    <a:srgbClr val="FFFFFF"/>
                  </a:solidFill>
                  <a:latin typeface="+mn-lt"/>
                </a:rPr>
                <a:t>for f</a:t>
              </a:r>
              <a:r>
                <a:rPr sz="1300">
                  <a:solidFill>
                    <a:srgbClr val="FFFFFF"/>
                  </a:solidFill>
                  <a:latin typeface="+mn-lt"/>
                </a:rPr>
                <a:t>ull visibility into </a:t>
              </a:r>
              <a:r>
                <a:rPr lang="en-US" sz="1300">
                  <a:solidFill>
                    <a:srgbClr val="FFFFFF"/>
                  </a:solidFill>
                  <a:latin typeface="+mn-lt"/>
                </a:rPr>
                <a:t>what’s driving recommendations as well as </a:t>
              </a:r>
              <a:r>
                <a:rPr sz="1300">
                  <a:solidFill>
                    <a:srgbClr val="FFFFFF"/>
                  </a:solidFill>
                  <a:latin typeface="+mn-lt"/>
                </a:rPr>
                <a:t>results</a:t>
              </a:r>
              <a:endParaRPr lang="en-US" sz="1300">
                <a:solidFill>
                  <a:srgbClr val="FFFFFF"/>
                </a:solidFill>
                <a:latin typeface="+mn-lt"/>
              </a:endParaRPr>
            </a:p>
            <a:p>
              <a:pPr marL="171450" indent="-171450">
                <a:spcAft>
                  <a:spcPts val="200"/>
                </a:spcAft>
                <a:buFont typeface="Arial" panose="020B0604020202020204" pitchFamily="34" charset="0"/>
                <a:buChar char="•"/>
              </a:pPr>
              <a:endParaRPr lang="en-US" sz="1300">
                <a:solidFill>
                  <a:srgbClr val="FFFFFF"/>
                </a:solidFill>
                <a:latin typeface="+mn-lt"/>
              </a:endParaRPr>
            </a:p>
            <a:p>
              <a:pPr>
                <a:spcAft>
                  <a:spcPts val="200"/>
                </a:spcAft>
              </a:pPr>
              <a:r>
                <a:rPr lang="en-US" sz="1300">
                  <a:solidFill>
                    <a:srgbClr val="FFFFFF"/>
                  </a:solidFill>
                  <a:latin typeface="+mn-lt"/>
                </a:rPr>
                <a:t>Unique </a:t>
              </a:r>
              <a:r>
                <a:rPr lang="en-US" sz="1300" b="1">
                  <a:solidFill>
                    <a:srgbClr val="FFFFFF"/>
                  </a:solidFill>
                  <a:latin typeface="+mn-lt"/>
                </a:rPr>
                <a:t>audience-level insights </a:t>
              </a:r>
              <a:r>
                <a:rPr lang="en-US" sz="1300">
                  <a:solidFill>
                    <a:srgbClr val="FFFFFF"/>
                  </a:solidFill>
                  <a:latin typeface="+mn-lt"/>
                </a:rPr>
                <a:t>mapped to site via the Blu platform</a:t>
              </a:r>
            </a:p>
            <a:p>
              <a:pPr marL="171450" indent="-171450">
                <a:spcAft>
                  <a:spcPts val="200"/>
                </a:spcAft>
                <a:buFont typeface="Arial" panose="020B0604020202020204" pitchFamily="34" charset="0"/>
                <a:buChar char="•"/>
              </a:pPr>
              <a:endParaRPr sz="1050">
                <a:solidFill>
                  <a:srgbClr val="FFFFFF"/>
                </a:solidFill>
                <a:latin typeface="+mn-lt"/>
              </a:endParaRPr>
            </a:p>
          </p:txBody>
        </p:sp>
        <p:sp>
          <p:nvSpPr>
            <p:cNvPr id="16" name="TextBox 15">
              <a:extLst>
                <a:ext uri="{FF2B5EF4-FFF2-40B4-BE49-F238E27FC236}">
                  <a16:creationId xmlns:a16="http://schemas.microsoft.com/office/drawing/2014/main" id="{1559D8D7-AD56-F98C-AACA-EDEB2209A270}"/>
                </a:ext>
              </a:extLst>
            </p:cNvPr>
            <p:cNvSpPr txBox="1"/>
            <p:nvPr/>
          </p:nvSpPr>
          <p:spPr>
            <a:xfrm>
              <a:off x="8308912" y="1695273"/>
              <a:ext cx="2651760" cy="315471"/>
            </a:xfrm>
            <a:prstGeom prst="rect">
              <a:avLst/>
            </a:prstGeom>
            <a:solidFill>
              <a:schemeClr val="bg1"/>
            </a:solidFill>
            <a:ln>
              <a:solidFill>
                <a:schemeClr val="accent2"/>
              </a:solidFill>
            </a:ln>
          </p:spPr>
          <p:txBody>
            <a:bodyPr wrap="square">
              <a:spAutoFit/>
            </a:bodyPr>
            <a:lstStyle/>
            <a:p>
              <a:pPr algn="ctr"/>
              <a:r>
                <a:rPr sz="1450" b="1">
                  <a:solidFill>
                    <a:schemeClr val="tx2"/>
                  </a:solidFill>
                  <a:latin typeface="+mn-lt"/>
                </a:rPr>
                <a:t>Measur</a:t>
              </a:r>
              <a:r>
                <a:rPr lang="en-US" sz="1450" b="1">
                  <a:solidFill>
                    <a:schemeClr val="tx2"/>
                  </a:solidFill>
                  <a:latin typeface="+mn-lt"/>
                </a:rPr>
                <a:t>ing</a:t>
              </a:r>
              <a:r>
                <a:rPr sz="1450" b="1">
                  <a:solidFill>
                    <a:schemeClr val="tx2"/>
                  </a:solidFill>
                  <a:latin typeface="+mn-lt"/>
                </a:rPr>
                <a:t> Success</a:t>
              </a:r>
            </a:p>
          </p:txBody>
        </p:sp>
        <p:sp>
          <p:nvSpPr>
            <p:cNvPr id="17" name="TextBox 16">
              <a:extLst>
                <a:ext uri="{FF2B5EF4-FFF2-40B4-BE49-F238E27FC236}">
                  <a16:creationId xmlns:a16="http://schemas.microsoft.com/office/drawing/2014/main" id="{3DE15152-0175-844A-477C-DD0240DF37F3}"/>
                </a:ext>
              </a:extLst>
            </p:cNvPr>
            <p:cNvSpPr txBox="1"/>
            <p:nvPr/>
          </p:nvSpPr>
          <p:spPr>
            <a:xfrm>
              <a:off x="8002588" y="2542033"/>
              <a:ext cx="3224784" cy="3290644"/>
            </a:xfrm>
            <a:prstGeom prst="rect">
              <a:avLst/>
            </a:prstGeom>
            <a:noFill/>
          </p:spPr>
          <p:txBody>
            <a:bodyPr wrap="square">
              <a:spAutoFit/>
            </a:bodyPr>
            <a:lstStyle/>
            <a:p>
              <a:pPr>
                <a:spcAft>
                  <a:spcPts val="500"/>
                </a:spcAft>
              </a:pPr>
              <a:r>
                <a:rPr sz="1300">
                  <a:solidFill>
                    <a:srgbClr val="FFFFFF"/>
                  </a:solidFill>
                  <a:latin typeface="+mn-lt"/>
                </a:rPr>
                <a:t>We hold ourselves </a:t>
              </a:r>
              <a:r>
                <a:rPr sz="1300" b="1">
                  <a:solidFill>
                    <a:srgbClr val="FFFFFF"/>
                  </a:solidFill>
                  <a:latin typeface="+mn-lt"/>
                </a:rPr>
                <a:t>accountable to improvements</a:t>
              </a:r>
              <a:r>
                <a:rPr sz="1300">
                  <a:solidFill>
                    <a:srgbClr val="FFFFFF"/>
                  </a:solidFill>
                  <a:latin typeface="+mn-lt"/>
                </a:rPr>
                <a:t> we align on together</a:t>
              </a:r>
              <a:endParaRPr lang="en-US" sz="1300">
                <a:solidFill>
                  <a:srgbClr val="FFFFFF"/>
                </a:solidFill>
                <a:latin typeface="+mn-lt"/>
              </a:endParaRPr>
            </a:p>
            <a:p>
              <a:pPr>
                <a:spcAft>
                  <a:spcPts val="500"/>
                </a:spcAft>
              </a:pPr>
              <a:endParaRPr sz="1300">
                <a:solidFill>
                  <a:srgbClr val="FFFFFF"/>
                </a:solidFill>
                <a:latin typeface="+mn-lt"/>
              </a:endParaRPr>
            </a:p>
            <a:p>
              <a:pPr>
                <a:spcAft>
                  <a:spcPts val="700"/>
                </a:spcAft>
              </a:pPr>
              <a:r>
                <a:rPr lang="en-US" sz="1300" b="1">
                  <a:solidFill>
                    <a:srgbClr val="FFFFFF"/>
                  </a:solidFill>
                  <a:latin typeface="+mn-lt"/>
                </a:rPr>
                <a:t>Prioritizing incremental sales</a:t>
              </a:r>
              <a:r>
                <a:rPr lang="en-US" sz="1300">
                  <a:solidFill>
                    <a:srgbClr val="FFFFFF"/>
                  </a:solidFill>
                  <a:latin typeface="+mn-lt"/>
                </a:rPr>
                <a:t> to prove our value from day one &amp; unlock budget for future initiatives</a:t>
              </a:r>
            </a:p>
            <a:p>
              <a:pPr>
                <a:spcAft>
                  <a:spcPts val="700"/>
                </a:spcAft>
              </a:pPr>
              <a:endParaRPr lang="en-US" sz="1300">
                <a:solidFill>
                  <a:srgbClr val="FFFFFF"/>
                </a:solidFill>
                <a:latin typeface="+mn-lt"/>
              </a:endParaRPr>
            </a:p>
            <a:p>
              <a:pPr>
                <a:spcAft>
                  <a:spcPts val="700"/>
                </a:spcAft>
              </a:pPr>
              <a:r>
                <a:rPr lang="en-US" sz="1300">
                  <a:solidFill>
                    <a:srgbClr val="FFFFFF"/>
                  </a:solidFill>
                  <a:latin typeface="+mn-lt"/>
                </a:rPr>
                <a:t>Improvements</a:t>
              </a:r>
              <a:r>
                <a:rPr sz="1300">
                  <a:solidFill>
                    <a:srgbClr val="FFFFFF"/>
                  </a:solidFill>
                  <a:latin typeface="+mn-lt"/>
                </a:rPr>
                <a:t> in </a:t>
              </a:r>
              <a:r>
                <a:rPr lang="en-US" sz="1300">
                  <a:solidFill>
                    <a:srgbClr val="FFFFFF"/>
                  </a:solidFill>
                  <a:latin typeface="+mn-lt"/>
                </a:rPr>
                <a:t>data signal, traffic, </a:t>
              </a:r>
              <a:r>
                <a:rPr sz="1300">
                  <a:solidFill>
                    <a:srgbClr val="FFFFFF"/>
                  </a:solidFill>
                  <a:latin typeface="+mn-lt"/>
                </a:rPr>
                <a:t>subscribers, </a:t>
              </a:r>
              <a:r>
                <a:rPr lang="en-US" sz="1300">
                  <a:solidFill>
                    <a:srgbClr val="FFFFFF"/>
                  </a:solidFill>
                  <a:latin typeface="+mn-lt"/>
                </a:rPr>
                <a:t>time saved, or other </a:t>
              </a:r>
              <a:br>
                <a:rPr lang="en-US" sz="1300">
                  <a:solidFill>
                    <a:srgbClr val="FFFFFF"/>
                  </a:solidFill>
                  <a:latin typeface="+mn-lt"/>
                </a:rPr>
              </a:br>
              <a:r>
                <a:rPr lang="en-US" sz="1300" b="1">
                  <a:solidFill>
                    <a:srgbClr val="FFFFFF"/>
                  </a:solidFill>
                  <a:latin typeface="+mn-lt"/>
                </a:rPr>
                <a:t>KPIs support future growth</a:t>
              </a:r>
            </a:p>
            <a:p>
              <a:pPr algn="l"/>
              <a:endParaRPr lang="en-US" sz="1300">
                <a:solidFill>
                  <a:srgbClr val="FFFFFF"/>
                </a:solidFill>
                <a:latin typeface="+mn-lt"/>
              </a:endParaRPr>
            </a:p>
            <a:p>
              <a:pPr algn="l"/>
              <a:r>
                <a:rPr lang="en-US" sz="1300">
                  <a:solidFill>
                    <a:srgbClr val="FFFFFF"/>
                  </a:solidFill>
                  <a:latin typeface="+mn-lt"/>
                </a:rPr>
                <a:t>We recap </a:t>
              </a:r>
              <a:r>
                <a:rPr sz="1300">
                  <a:solidFill>
                    <a:srgbClr val="FFFFFF"/>
                  </a:solidFill>
                  <a:latin typeface="+mn-lt"/>
                </a:rPr>
                <a:t>gains, project future improvements, and </a:t>
              </a:r>
              <a:r>
                <a:rPr sz="1300" b="1">
                  <a:solidFill>
                    <a:srgbClr val="FFFFFF"/>
                  </a:solidFill>
                  <a:latin typeface="+mn-lt"/>
                </a:rPr>
                <a:t>build the business case </a:t>
              </a:r>
              <a:r>
                <a:rPr sz="1300">
                  <a:solidFill>
                    <a:srgbClr val="FFFFFF"/>
                  </a:solidFill>
                  <a:latin typeface="+mn-lt"/>
                </a:rPr>
                <a:t>for every next step</a:t>
              </a:r>
            </a:p>
          </p:txBody>
        </p:sp>
        <p:sp>
          <p:nvSpPr>
            <p:cNvPr id="19" name="TextBox 18">
              <a:extLst>
                <a:ext uri="{FF2B5EF4-FFF2-40B4-BE49-F238E27FC236}">
                  <a16:creationId xmlns:a16="http://schemas.microsoft.com/office/drawing/2014/main" id="{AFCF3FD7-1D3F-2663-85F4-2DB33D822542}"/>
                </a:ext>
              </a:extLst>
            </p:cNvPr>
            <p:cNvSpPr txBox="1"/>
            <p:nvPr/>
          </p:nvSpPr>
          <p:spPr>
            <a:xfrm>
              <a:off x="614236" y="2026557"/>
              <a:ext cx="2883408" cy="246221"/>
            </a:xfrm>
            <a:prstGeom prst="rect">
              <a:avLst/>
            </a:prstGeom>
            <a:noFill/>
          </p:spPr>
          <p:txBody>
            <a:bodyPr wrap="square">
              <a:spAutoFit/>
            </a:bodyPr>
            <a:lstStyle/>
            <a:p>
              <a:pPr algn="ctr"/>
              <a:r>
                <a:rPr lang="en-US" sz="1000" i="1">
                  <a:solidFill>
                    <a:schemeClr val="bg1"/>
                  </a:solidFill>
                  <a:latin typeface="+mj-lt"/>
                </a:rPr>
                <a:t>Amplifying what Bob’s can achieve</a:t>
              </a:r>
            </a:p>
          </p:txBody>
        </p:sp>
        <p:sp>
          <p:nvSpPr>
            <p:cNvPr id="20" name="TextBox 19">
              <a:extLst>
                <a:ext uri="{FF2B5EF4-FFF2-40B4-BE49-F238E27FC236}">
                  <a16:creationId xmlns:a16="http://schemas.microsoft.com/office/drawing/2014/main" id="{5CCC2333-7A52-A79F-2170-006A32F8C9CA}"/>
                </a:ext>
              </a:extLst>
            </p:cNvPr>
            <p:cNvSpPr txBox="1"/>
            <p:nvPr/>
          </p:nvSpPr>
          <p:spPr>
            <a:xfrm>
              <a:off x="4343399" y="2026272"/>
              <a:ext cx="2974978" cy="400110"/>
            </a:xfrm>
            <a:prstGeom prst="rect">
              <a:avLst/>
            </a:prstGeom>
            <a:noFill/>
          </p:spPr>
          <p:txBody>
            <a:bodyPr wrap="square">
              <a:spAutoFit/>
            </a:bodyPr>
            <a:lstStyle/>
            <a:p>
              <a:pPr algn="ctr"/>
              <a:r>
                <a:rPr lang="en-US" sz="1000" i="1">
                  <a:solidFill>
                    <a:schemeClr val="bg1"/>
                  </a:solidFill>
                  <a:latin typeface="+mj-lt"/>
                </a:rPr>
                <a:t>Immediate impact without sacrificing long-term strategy</a:t>
              </a:r>
            </a:p>
          </p:txBody>
        </p:sp>
        <p:sp>
          <p:nvSpPr>
            <p:cNvPr id="21" name="TextBox 20">
              <a:extLst>
                <a:ext uri="{FF2B5EF4-FFF2-40B4-BE49-F238E27FC236}">
                  <a16:creationId xmlns:a16="http://schemas.microsoft.com/office/drawing/2014/main" id="{AD5AF413-A9E1-075C-3D33-BE383BC4FF3F}"/>
                </a:ext>
              </a:extLst>
            </p:cNvPr>
            <p:cNvSpPr txBox="1"/>
            <p:nvPr/>
          </p:nvSpPr>
          <p:spPr>
            <a:xfrm>
              <a:off x="8039163" y="2026272"/>
              <a:ext cx="3090673" cy="246221"/>
            </a:xfrm>
            <a:prstGeom prst="rect">
              <a:avLst/>
            </a:prstGeom>
            <a:noFill/>
          </p:spPr>
          <p:txBody>
            <a:bodyPr wrap="square">
              <a:spAutoFit/>
            </a:bodyPr>
            <a:lstStyle/>
            <a:p>
              <a:pPr algn="ctr"/>
              <a:r>
                <a:rPr lang="en-US" sz="1000" i="1">
                  <a:solidFill>
                    <a:schemeClr val="bg1"/>
                  </a:solidFill>
                  <a:latin typeface="+mj-lt"/>
                </a:rPr>
                <a:t>Accountable to your growth</a:t>
              </a:r>
            </a:p>
          </p:txBody>
        </p:sp>
      </p:grpSp>
    </p:spTree>
    <p:extLst>
      <p:ext uri="{BB962C8B-B14F-4D97-AF65-F5344CB8AC3E}">
        <p14:creationId xmlns:p14="http://schemas.microsoft.com/office/powerpoint/2010/main" val="15739866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a:extLst>
            <a:ext uri="{FF2B5EF4-FFF2-40B4-BE49-F238E27FC236}">
              <a16:creationId xmlns:a16="http://schemas.microsoft.com/office/drawing/2014/main" id="{3DF16F7D-CB50-F451-2E7D-A934B17B7BD0}"/>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C41DAC42-3A34-090E-E1AC-B60F703E92E6}"/>
              </a:ext>
            </a:extLst>
          </p:cNvPr>
          <p:cNvSpPr txBox="1">
            <a:spLocks/>
          </p:cNvSpPr>
          <p:nvPr/>
        </p:nvSpPr>
        <p:spPr>
          <a:xfrm>
            <a:off x="838200" y="2675973"/>
            <a:ext cx="10515600" cy="1506053"/>
          </a:xfrm>
          <a:prstGeom prst="rect">
            <a:avLst/>
          </a:prstGeom>
        </p:spPr>
        <p:txBody>
          <a:bodyPr vert="horz" lIns="91440" tIns="91440" rIns="91440" bIns="91440" rtlCol="0" anchor="ctr">
            <a:spAutoFit/>
          </a:bodyPr>
          <a:lstStyle>
            <a:lvl1pPr algn="l" defTabSz="914377" rtl="0" eaLnBrk="1" latinLnBrk="0" hangingPunct="1">
              <a:lnSpc>
                <a:spcPct val="95000"/>
              </a:lnSpc>
              <a:spcBef>
                <a:spcPct val="0"/>
              </a:spcBef>
              <a:buNone/>
              <a:defRPr sz="3200" b="1" kern="1200">
                <a:solidFill>
                  <a:schemeClr val="accent4"/>
                </a:solidFill>
                <a:latin typeface="Poppins" panose="00000500000000000000" pitchFamily="2" charset="0"/>
                <a:ea typeface="+mj-ea"/>
                <a:cs typeface="Poppins" panose="00000500000000000000" pitchFamily="2" charset="0"/>
              </a:defRPr>
            </a:lvl1pPr>
          </a:lstStyle>
          <a:p>
            <a:pPr algn="ctr">
              <a:lnSpc>
                <a:spcPct val="112000"/>
              </a:lnSpc>
            </a:pPr>
            <a:r>
              <a:rPr lang="en-US" sz="8000" dirty="0">
                <a:solidFill>
                  <a:schemeClr val="bg1"/>
                </a:solidFill>
                <a:latin typeface="Poppins (Headings)"/>
                <a:cs typeface="Poppins SemiBold" pitchFamily="2" charset="77"/>
              </a:rPr>
              <a:t>Thank you!</a:t>
            </a:r>
            <a:endParaRPr lang="en-US" sz="8000" dirty="0">
              <a:solidFill>
                <a:schemeClr val="bg1"/>
              </a:solidFill>
              <a:latin typeface="Poppins (Headings)"/>
              <a:cs typeface="Poppins" pitchFamily="2" charset="77"/>
            </a:endParaRPr>
          </a:p>
        </p:txBody>
      </p:sp>
    </p:spTree>
    <p:extLst>
      <p:ext uri="{BB962C8B-B14F-4D97-AF65-F5344CB8AC3E}">
        <p14:creationId xmlns:p14="http://schemas.microsoft.com/office/powerpoint/2010/main" val="10165266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F79C0BB-B445-4A50-004F-434F90EEB396}"/>
            </a:ext>
          </a:extLst>
        </p:cNvPr>
        <p:cNvGrpSpPr/>
        <p:nvPr/>
      </p:nvGrpSpPr>
      <p:grpSpPr>
        <a:xfrm>
          <a:off x="0" y="0"/>
          <a:ext cx="0" cy="0"/>
          <a:chOff x="0" y="0"/>
          <a:chExt cx="0" cy="0"/>
        </a:xfrm>
      </p:grpSpPr>
      <p:graphicFrame>
        <p:nvGraphicFramePr>
          <p:cNvPr id="8" name="Chart 7">
            <a:extLst>
              <a:ext uri="{FF2B5EF4-FFF2-40B4-BE49-F238E27FC236}">
                <a16:creationId xmlns:a16="http://schemas.microsoft.com/office/drawing/2014/main" id="{F299AA0E-7A8F-3046-901C-29FB0530F16F}"/>
              </a:ext>
            </a:extLst>
          </p:cNvPr>
          <p:cNvGraphicFramePr>
            <a:graphicFrameLocks/>
          </p:cNvGraphicFramePr>
          <p:nvPr/>
        </p:nvGraphicFramePr>
        <p:xfrm>
          <a:off x="5573367" y="507555"/>
          <a:ext cx="5936589" cy="6009144"/>
        </p:xfrm>
        <a:graphic>
          <a:graphicData uri="http://schemas.openxmlformats.org/drawingml/2006/chart">
            <c:chart xmlns:c="http://schemas.openxmlformats.org/drawingml/2006/chart" xmlns:r="http://schemas.openxmlformats.org/officeDocument/2006/relationships" r:id="rId3"/>
          </a:graphicData>
        </a:graphic>
      </p:graphicFrame>
      <p:sp>
        <p:nvSpPr>
          <p:cNvPr id="2" name="TextBox 1">
            <a:extLst>
              <a:ext uri="{FF2B5EF4-FFF2-40B4-BE49-F238E27FC236}">
                <a16:creationId xmlns:a16="http://schemas.microsoft.com/office/drawing/2014/main" id="{FE197D62-A58D-9F59-12E6-CBE28895B88B}"/>
              </a:ext>
            </a:extLst>
          </p:cNvPr>
          <p:cNvSpPr txBox="1"/>
          <p:nvPr/>
        </p:nvSpPr>
        <p:spPr>
          <a:xfrm>
            <a:off x="843490" y="1010261"/>
            <a:ext cx="4821040" cy="4837478"/>
          </a:xfrm>
          <a:prstGeom prst="rect">
            <a:avLst/>
          </a:prstGeom>
          <a:noFill/>
        </p:spPr>
        <p:txBody>
          <a:bodyPr wrap="square" rtlCol="0" anchor="ctr">
            <a:spAutoFit/>
          </a:bodyPr>
          <a:lstStyle/>
          <a:p>
            <a:pPr>
              <a:lnSpc>
                <a:spcPct val="95000"/>
              </a:lnSpc>
              <a:spcBef>
                <a:spcPct val="0"/>
              </a:spcBef>
              <a:defRPr/>
            </a:pPr>
            <a:r>
              <a:rPr lang="en-US" sz="3200" b="1" dirty="0">
                <a:solidFill>
                  <a:schemeClr val="accent1"/>
                </a:solidFill>
                <a:latin typeface="+mj-lt"/>
                <a:ea typeface="+mj-ea"/>
                <a:cs typeface="+mj-cs"/>
              </a:rPr>
              <a:t>Small change costs by execution phase: Current process vs flash process</a:t>
            </a:r>
          </a:p>
          <a:p>
            <a:pPr marL="285750" indent="-285750">
              <a:lnSpc>
                <a:spcPct val="110000"/>
              </a:lnSpc>
              <a:spcBef>
                <a:spcPts val="1000"/>
              </a:spcBef>
              <a:buClr>
                <a:schemeClr val="accent1"/>
              </a:buClr>
              <a:buFont typeface="Arial" panose="020B0604020202020204" pitchFamily="34" charset="0"/>
              <a:buChar char="•"/>
              <a:defRPr/>
            </a:pPr>
            <a:r>
              <a:rPr lang="en-US" sz="1400" dirty="0">
                <a:latin typeface="Poppins" pitchFamily="2" charset="77"/>
                <a:cs typeface="Poppins" pitchFamily="2" charset="77"/>
              </a:rPr>
              <a:t>Lorem ipsum dolor sit </a:t>
            </a:r>
            <a:r>
              <a:rPr lang="en-US" sz="1400" dirty="0" err="1">
                <a:latin typeface="Poppins" pitchFamily="2" charset="77"/>
                <a:cs typeface="Poppins" pitchFamily="2" charset="77"/>
              </a:rPr>
              <a:t>amet</a:t>
            </a:r>
            <a:r>
              <a:rPr lang="en-US" sz="1400" dirty="0">
                <a:latin typeface="Poppins" pitchFamily="2" charset="77"/>
                <a:cs typeface="Poppins" pitchFamily="2" charset="77"/>
              </a:rPr>
              <a:t>, </a:t>
            </a:r>
            <a:r>
              <a:rPr lang="en-US" sz="1400" dirty="0" err="1">
                <a:latin typeface="Poppins" pitchFamily="2" charset="77"/>
                <a:cs typeface="Poppins" pitchFamily="2" charset="77"/>
              </a:rPr>
              <a:t>consectetur</a:t>
            </a:r>
            <a:r>
              <a:rPr lang="en-US" sz="1400" dirty="0">
                <a:latin typeface="Poppins" pitchFamily="2" charset="77"/>
                <a:cs typeface="Poppins" pitchFamily="2" charset="77"/>
              </a:rPr>
              <a:t> </a:t>
            </a:r>
            <a:r>
              <a:rPr lang="en-US" sz="1400" dirty="0" err="1">
                <a:latin typeface="Poppins" pitchFamily="2" charset="77"/>
                <a:cs typeface="Poppins" pitchFamily="2" charset="77"/>
              </a:rPr>
              <a:t>adipiscing</a:t>
            </a:r>
            <a:r>
              <a:rPr lang="en-US" sz="1400" dirty="0">
                <a:latin typeface="Poppins" pitchFamily="2" charset="77"/>
                <a:cs typeface="Poppins" pitchFamily="2" charset="77"/>
              </a:rPr>
              <a:t> </a:t>
            </a:r>
            <a:r>
              <a:rPr lang="en-US" sz="1400" dirty="0" err="1">
                <a:latin typeface="Poppins" pitchFamily="2" charset="77"/>
                <a:cs typeface="Poppins" pitchFamily="2" charset="77"/>
              </a:rPr>
              <a:t>elit</a:t>
            </a:r>
            <a:r>
              <a:rPr lang="en-US" sz="1400" dirty="0">
                <a:latin typeface="Poppins" pitchFamily="2" charset="77"/>
                <a:cs typeface="Poppins" pitchFamily="2" charset="77"/>
              </a:rPr>
              <a:t> sed do </a:t>
            </a:r>
            <a:r>
              <a:rPr lang="en-US" sz="1400" dirty="0" err="1">
                <a:latin typeface="Poppins" pitchFamily="2" charset="77"/>
                <a:cs typeface="Poppins" pitchFamily="2" charset="77"/>
              </a:rPr>
              <a:t>eiusmod</a:t>
            </a:r>
            <a:r>
              <a:rPr lang="en-US" sz="1400" dirty="0">
                <a:latin typeface="Poppins" pitchFamily="2" charset="77"/>
                <a:cs typeface="Poppins" pitchFamily="2" charset="77"/>
              </a:rPr>
              <a:t> </a:t>
            </a:r>
            <a:r>
              <a:rPr lang="en-US" sz="1400" dirty="0" err="1">
                <a:latin typeface="Poppins" pitchFamily="2" charset="77"/>
                <a:cs typeface="Poppins" pitchFamily="2" charset="77"/>
              </a:rPr>
              <a:t>tempor</a:t>
            </a:r>
            <a:endParaRPr lang="en-US" sz="1400" dirty="0">
              <a:latin typeface="Poppins" pitchFamily="2" charset="77"/>
              <a:cs typeface="Poppins" pitchFamily="2" charset="77"/>
            </a:endParaRPr>
          </a:p>
          <a:p>
            <a:pPr marL="285750" indent="-285750">
              <a:lnSpc>
                <a:spcPct val="110000"/>
              </a:lnSpc>
              <a:spcBef>
                <a:spcPts val="1000"/>
              </a:spcBef>
              <a:buClr>
                <a:schemeClr val="accent1"/>
              </a:buClr>
              <a:buFont typeface="Arial" panose="020B0604020202020204" pitchFamily="34" charset="0"/>
              <a:buChar char="•"/>
              <a:defRPr/>
            </a:pPr>
            <a:r>
              <a:rPr lang="en-US" sz="1400" dirty="0" err="1">
                <a:latin typeface="Poppins" pitchFamily="2" charset="77"/>
                <a:cs typeface="Poppins" pitchFamily="2" charset="77"/>
              </a:rPr>
              <a:t>Incididunt</a:t>
            </a:r>
            <a:r>
              <a:rPr lang="en-US" sz="1400" dirty="0">
                <a:latin typeface="Poppins" pitchFamily="2" charset="77"/>
                <a:cs typeface="Poppins" pitchFamily="2" charset="77"/>
              </a:rPr>
              <a:t> </a:t>
            </a:r>
            <a:r>
              <a:rPr lang="en-US" sz="1400" dirty="0" err="1">
                <a:latin typeface="Poppins" pitchFamily="2" charset="77"/>
                <a:cs typeface="Poppins" pitchFamily="2" charset="77"/>
              </a:rPr>
              <a:t>ut</a:t>
            </a:r>
            <a:r>
              <a:rPr lang="en-US" sz="1400" dirty="0">
                <a:latin typeface="Poppins" pitchFamily="2" charset="77"/>
                <a:cs typeface="Poppins" pitchFamily="2" charset="77"/>
              </a:rPr>
              <a:t> labore et dolore magna </a:t>
            </a:r>
            <a:r>
              <a:rPr lang="en-US" sz="1400" dirty="0" err="1">
                <a:latin typeface="Poppins" pitchFamily="2" charset="77"/>
                <a:cs typeface="Poppins" pitchFamily="2" charset="77"/>
              </a:rPr>
              <a:t>aliqua</a:t>
            </a:r>
            <a:r>
              <a:rPr lang="en-US" sz="1400" dirty="0">
                <a:latin typeface="Poppins" pitchFamily="2" charset="77"/>
                <a:cs typeface="Poppins" pitchFamily="2" charset="77"/>
              </a:rPr>
              <a:t>. </a:t>
            </a:r>
            <a:br>
              <a:rPr lang="en-US" sz="1400" dirty="0">
                <a:latin typeface="Poppins" pitchFamily="2" charset="77"/>
                <a:cs typeface="Poppins" pitchFamily="2" charset="77"/>
              </a:rPr>
            </a:br>
            <a:r>
              <a:rPr lang="en-US" sz="1400" dirty="0">
                <a:latin typeface="Poppins" pitchFamily="2" charset="77"/>
                <a:cs typeface="Poppins" pitchFamily="2" charset="77"/>
              </a:rPr>
              <a:t>Ut </a:t>
            </a:r>
            <a:r>
              <a:rPr lang="en-US" sz="1400" dirty="0" err="1">
                <a:latin typeface="Poppins" pitchFamily="2" charset="77"/>
                <a:cs typeface="Poppins" pitchFamily="2" charset="77"/>
              </a:rPr>
              <a:t>enim</a:t>
            </a:r>
            <a:r>
              <a:rPr lang="en-US" sz="1400" dirty="0">
                <a:latin typeface="Poppins" pitchFamily="2" charset="77"/>
                <a:cs typeface="Poppins" pitchFamily="2" charset="77"/>
              </a:rPr>
              <a:t> ad minim </a:t>
            </a:r>
            <a:r>
              <a:rPr lang="en-US" sz="1400" dirty="0" err="1">
                <a:latin typeface="Poppins" pitchFamily="2" charset="77"/>
                <a:cs typeface="Poppins" pitchFamily="2" charset="77"/>
              </a:rPr>
              <a:t>veniam</a:t>
            </a:r>
            <a:r>
              <a:rPr lang="en-US" sz="1400" dirty="0">
                <a:latin typeface="Poppins" pitchFamily="2" charset="77"/>
                <a:cs typeface="Poppins" pitchFamily="2" charset="77"/>
              </a:rPr>
              <a:t>, </a:t>
            </a:r>
            <a:r>
              <a:rPr lang="en-US" sz="1400" dirty="0" err="1">
                <a:latin typeface="Poppins" pitchFamily="2" charset="77"/>
                <a:cs typeface="Poppins" pitchFamily="2" charset="77"/>
              </a:rPr>
              <a:t>quis</a:t>
            </a:r>
            <a:r>
              <a:rPr lang="en-US" sz="1400" dirty="0">
                <a:latin typeface="Poppins" pitchFamily="2" charset="77"/>
                <a:cs typeface="Poppins" pitchFamily="2" charset="77"/>
              </a:rPr>
              <a:t> </a:t>
            </a:r>
            <a:r>
              <a:rPr lang="en-US" sz="1400" dirty="0" err="1">
                <a:latin typeface="Poppins" pitchFamily="2" charset="77"/>
                <a:cs typeface="Poppins" pitchFamily="2" charset="77"/>
              </a:rPr>
              <a:t>nostrud</a:t>
            </a:r>
            <a:r>
              <a:rPr lang="en-US" sz="1400" dirty="0">
                <a:latin typeface="Poppins" pitchFamily="2" charset="77"/>
                <a:cs typeface="Poppins" pitchFamily="2" charset="77"/>
              </a:rPr>
              <a:t> exercitation </a:t>
            </a:r>
            <a:r>
              <a:rPr lang="en-US" sz="1400" dirty="0" err="1">
                <a:latin typeface="Poppins" pitchFamily="2" charset="77"/>
                <a:cs typeface="Poppins" pitchFamily="2" charset="77"/>
              </a:rPr>
              <a:t>ullamco</a:t>
            </a:r>
            <a:r>
              <a:rPr lang="en-US" sz="1400" dirty="0">
                <a:latin typeface="Poppins" pitchFamily="2" charset="77"/>
                <a:cs typeface="Poppins" pitchFamily="2" charset="77"/>
              </a:rPr>
              <a:t> </a:t>
            </a:r>
            <a:r>
              <a:rPr lang="en-US" sz="1400" dirty="0" err="1">
                <a:latin typeface="Poppins" pitchFamily="2" charset="77"/>
                <a:cs typeface="Poppins" pitchFamily="2" charset="77"/>
              </a:rPr>
              <a:t>laboris</a:t>
            </a:r>
            <a:r>
              <a:rPr lang="en-US" sz="1400" dirty="0">
                <a:latin typeface="Poppins" pitchFamily="2" charset="77"/>
                <a:cs typeface="Poppins" pitchFamily="2" charset="77"/>
              </a:rPr>
              <a:t> nisi </a:t>
            </a:r>
            <a:r>
              <a:rPr lang="en-US" sz="1400" dirty="0" err="1">
                <a:latin typeface="Poppins" pitchFamily="2" charset="77"/>
                <a:cs typeface="Poppins" pitchFamily="2" charset="77"/>
              </a:rPr>
              <a:t>ut</a:t>
            </a:r>
            <a:r>
              <a:rPr lang="en-US" sz="1400" dirty="0">
                <a:latin typeface="Poppins" pitchFamily="2" charset="77"/>
                <a:cs typeface="Poppins" pitchFamily="2" charset="77"/>
              </a:rPr>
              <a:t> </a:t>
            </a:r>
            <a:r>
              <a:rPr lang="en-US" sz="1400" dirty="0" err="1">
                <a:latin typeface="Poppins" pitchFamily="2" charset="77"/>
                <a:cs typeface="Poppins" pitchFamily="2" charset="77"/>
              </a:rPr>
              <a:t>aliquip</a:t>
            </a:r>
            <a:r>
              <a:rPr lang="en-US" sz="1400" dirty="0">
                <a:latin typeface="Poppins" pitchFamily="2" charset="77"/>
                <a:cs typeface="Poppins" pitchFamily="2" charset="77"/>
              </a:rPr>
              <a:t> </a:t>
            </a:r>
            <a:br>
              <a:rPr lang="en-US" sz="1400" dirty="0">
                <a:latin typeface="Poppins" pitchFamily="2" charset="77"/>
                <a:cs typeface="Poppins" pitchFamily="2" charset="77"/>
              </a:rPr>
            </a:br>
            <a:r>
              <a:rPr lang="en-US" sz="1400" dirty="0">
                <a:latin typeface="Poppins" pitchFamily="2" charset="77"/>
                <a:cs typeface="Poppins" pitchFamily="2" charset="77"/>
              </a:rPr>
              <a:t>ex </a:t>
            </a:r>
            <a:r>
              <a:rPr lang="en-US" sz="1400" dirty="0" err="1">
                <a:latin typeface="Poppins" pitchFamily="2" charset="77"/>
                <a:cs typeface="Poppins" pitchFamily="2" charset="77"/>
              </a:rPr>
              <a:t>ea</a:t>
            </a:r>
            <a:r>
              <a:rPr lang="en-US" sz="1400" dirty="0">
                <a:latin typeface="Poppins" pitchFamily="2" charset="77"/>
                <a:cs typeface="Poppins" pitchFamily="2" charset="77"/>
              </a:rPr>
              <a:t> </a:t>
            </a:r>
            <a:r>
              <a:rPr lang="en-US" sz="1400" dirty="0" err="1">
                <a:latin typeface="Poppins" pitchFamily="2" charset="77"/>
                <a:cs typeface="Poppins" pitchFamily="2" charset="77"/>
              </a:rPr>
              <a:t>commodo</a:t>
            </a:r>
            <a:r>
              <a:rPr lang="en-US" sz="1400" dirty="0">
                <a:latin typeface="Poppins" pitchFamily="2" charset="77"/>
                <a:cs typeface="Poppins" pitchFamily="2" charset="77"/>
              </a:rPr>
              <a:t> </a:t>
            </a:r>
            <a:r>
              <a:rPr lang="en-US" sz="1400" dirty="0" err="1">
                <a:latin typeface="Poppins" pitchFamily="2" charset="77"/>
                <a:cs typeface="Poppins" pitchFamily="2" charset="77"/>
              </a:rPr>
              <a:t>consequat</a:t>
            </a:r>
            <a:endParaRPr lang="en-US" sz="1400" dirty="0">
              <a:latin typeface="Poppins" pitchFamily="2" charset="77"/>
              <a:cs typeface="Poppins" pitchFamily="2" charset="77"/>
            </a:endParaRPr>
          </a:p>
          <a:p>
            <a:pPr marL="285750" indent="-285750">
              <a:lnSpc>
                <a:spcPct val="110000"/>
              </a:lnSpc>
              <a:spcBef>
                <a:spcPts val="1000"/>
              </a:spcBef>
              <a:buClr>
                <a:schemeClr val="accent1"/>
              </a:buClr>
              <a:buFont typeface="Arial" panose="020B0604020202020204" pitchFamily="34" charset="0"/>
              <a:buChar char="•"/>
              <a:defRPr/>
            </a:pPr>
            <a:r>
              <a:rPr lang="en-US" sz="1400" dirty="0">
                <a:latin typeface="Poppins" pitchFamily="2" charset="77"/>
                <a:cs typeface="Poppins" pitchFamily="2" charset="77"/>
              </a:rPr>
              <a:t>Duis </a:t>
            </a:r>
            <a:r>
              <a:rPr lang="en-US" sz="1400" dirty="0" err="1">
                <a:latin typeface="Poppins" pitchFamily="2" charset="77"/>
                <a:cs typeface="Poppins" pitchFamily="2" charset="77"/>
              </a:rPr>
              <a:t>aute</a:t>
            </a:r>
            <a:r>
              <a:rPr lang="en-US" sz="1400" dirty="0">
                <a:latin typeface="Poppins" pitchFamily="2" charset="77"/>
                <a:cs typeface="Poppins" pitchFamily="2" charset="77"/>
              </a:rPr>
              <a:t> </a:t>
            </a:r>
            <a:r>
              <a:rPr lang="en-US" sz="1400" dirty="0" err="1">
                <a:latin typeface="Poppins" pitchFamily="2" charset="77"/>
                <a:cs typeface="Poppins" pitchFamily="2" charset="77"/>
              </a:rPr>
              <a:t>irure</a:t>
            </a:r>
            <a:r>
              <a:rPr lang="en-US" sz="1400" dirty="0">
                <a:latin typeface="Poppins" pitchFamily="2" charset="77"/>
                <a:cs typeface="Poppins" pitchFamily="2" charset="77"/>
              </a:rPr>
              <a:t> dolor in </a:t>
            </a:r>
            <a:r>
              <a:rPr lang="en-US" sz="1400" dirty="0" err="1">
                <a:latin typeface="Poppins" pitchFamily="2" charset="77"/>
                <a:cs typeface="Poppins" pitchFamily="2" charset="77"/>
              </a:rPr>
              <a:t>reprehenderit</a:t>
            </a:r>
            <a:r>
              <a:rPr lang="en-US" sz="1400" dirty="0">
                <a:latin typeface="Poppins" pitchFamily="2" charset="77"/>
                <a:cs typeface="Poppins" pitchFamily="2" charset="77"/>
              </a:rPr>
              <a:t> in </a:t>
            </a:r>
            <a:r>
              <a:rPr lang="en-US" sz="1400" dirty="0" err="1">
                <a:latin typeface="Poppins" pitchFamily="2" charset="77"/>
                <a:cs typeface="Poppins" pitchFamily="2" charset="77"/>
              </a:rPr>
              <a:t>voluptate</a:t>
            </a:r>
            <a:r>
              <a:rPr lang="en-US" sz="1400" dirty="0">
                <a:latin typeface="Poppins" pitchFamily="2" charset="77"/>
                <a:cs typeface="Poppins" pitchFamily="2" charset="77"/>
              </a:rPr>
              <a:t> </a:t>
            </a:r>
            <a:r>
              <a:rPr lang="en-US" sz="1400" dirty="0" err="1">
                <a:latin typeface="Poppins" pitchFamily="2" charset="77"/>
                <a:cs typeface="Poppins" pitchFamily="2" charset="77"/>
              </a:rPr>
              <a:t>velit</a:t>
            </a:r>
            <a:r>
              <a:rPr lang="en-US" sz="1400" dirty="0">
                <a:latin typeface="Poppins" pitchFamily="2" charset="77"/>
                <a:cs typeface="Poppins" pitchFamily="2" charset="77"/>
              </a:rPr>
              <a:t> </a:t>
            </a:r>
            <a:r>
              <a:rPr lang="en-US" sz="1400" dirty="0" err="1">
                <a:latin typeface="Poppins" pitchFamily="2" charset="77"/>
                <a:cs typeface="Poppins" pitchFamily="2" charset="77"/>
              </a:rPr>
              <a:t>esse</a:t>
            </a:r>
            <a:r>
              <a:rPr lang="en-US" sz="1400" dirty="0">
                <a:latin typeface="Poppins" pitchFamily="2" charset="77"/>
                <a:cs typeface="Poppins" pitchFamily="2" charset="77"/>
              </a:rPr>
              <a:t> </a:t>
            </a:r>
            <a:r>
              <a:rPr lang="en-US" sz="1400" dirty="0" err="1">
                <a:latin typeface="Poppins" pitchFamily="2" charset="77"/>
                <a:cs typeface="Poppins" pitchFamily="2" charset="77"/>
              </a:rPr>
              <a:t>cillum</a:t>
            </a:r>
            <a:r>
              <a:rPr lang="en-US" sz="1400" dirty="0">
                <a:latin typeface="Poppins" pitchFamily="2" charset="77"/>
                <a:cs typeface="Poppins" pitchFamily="2" charset="77"/>
              </a:rPr>
              <a:t> dolore </a:t>
            </a:r>
            <a:r>
              <a:rPr lang="en-US" sz="1400" dirty="0" err="1">
                <a:latin typeface="Poppins" pitchFamily="2" charset="77"/>
                <a:cs typeface="Poppins" pitchFamily="2" charset="77"/>
              </a:rPr>
              <a:t>eu</a:t>
            </a:r>
            <a:r>
              <a:rPr lang="en-US" sz="1400" dirty="0">
                <a:latin typeface="Poppins" pitchFamily="2" charset="77"/>
                <a:cs typeface="Poppins" pitchFamily="2" charset="77"/>
              </a:rPr>
              <a:t> </a:t>
            </a:r>
            <a:r>
              <a:rPr lang="en-US" sz="1400" dirty="0" err="1">
                <a:latin typeface="Poppins" pitchFamily="2" charset="77"/>
                <a:cs typeface="Poppins" pitchFamily="2" charset="77"/>
              </a:rPr>
              <a:t>fugiat</a:t>
            </a:r>
            <a:r>
              <a:rPr lang="en-US" sz="1400" dirty="0">
                <a:latin typeface="Poppins" pitchFamily="2" charset="77"/>
                <a:cs typeface="Poppins" pitchFamily="2" charset="77"/>
              </a:rPr>
              <a:t> </a:t>
            </a:r>
          </a:p>
          <a:p>
            <a:pPr marL="285750" indent="-285750">
              <a:lnSpc>
                <a:spcPct val="110000"/>
              </a:lnSpc>
              <a:spcBef>
                <a:spcPts val="1000"/>
              </a:spcBef>
              <a:buClr>
                <a:schemeClr val="accent1"/>
              </a:buClr>
              <a:buFont typeface="Arial" panose="020B0604020202020204" pitchFamily="34" charset="0"/>
              <a:buChar char="•"/>
              <a:defRPr/>
            </a:pPr>
            <a:r>
              <a:rPr lang="en-US" sz="1400" dirty="0" err="1">
                <a:latin typeface="Poppins" pitchFamily="2" charset="77"/>
                <a:cs typeface="Poppins" pitchFamily="2" charset="77"/>
              </a:rPr>
              <a:t>Excepteur</a:t>
            </a:r>
            <a:r>
              <a:rPr lang="en-US" sz="1400" dirty="0">
                <a:latin typeface="Poppins" pitchFamily="2" charset="77"/>
                <a:cs typeface="Poppins" pitchFamily="2" charset="77"/>
              </a:rPr>
              <a:t> </a:t>
            </a:r>
            <a:r>
              <a:rPr lang="en-US" sz="1400" dirty="0" err="1">
                <a:latin typeface="Poppins" pitchFamily="2" charset="77"/>
                <a:cs typeface="Poppins" pitchFamily="2" charset="77"/>
              </a:rPr>
              <a:t>sint</a:t>
            </a:r>
            <a:r>
              <a:rPr lang="en-US" sz="1400" dirty="0">
                <a:latin typeface="Poppins" pitchFamily="2" charset="77"/>
                <a:cs typeface="Poppins" pitchFamily="2" charset="77"/>
              </a:rPr>
              <a:t> </a:t>
            </a:r>
            <a:r>
              <a:rPr lang="en-US" sz="1400" dirty="0" err="1">
                <a:latin typeface="Poppins" pitchFamily="2" charset="77"/>
                <a:cs typeface="Poppins" pitchFamily="2" charset="77"/>
              </a:rPr>
              <a:t>occaecat</a:t>
            </a:r>
            <a:r>
              <a:rPr lang="en-US" sz="1400" dirty="0">
                <a:latin typeface="Poppins" pitchFamily="2" charset="77"/>
                <a:cs typeface="Poppins" pitchFamily="2" charset="77"/>
              </a:rPr>
              <a:t> </a:t>
            </a:r>
            <a:r>
              <a:rPr lang="en-US" sz="1400" dirty="0" err="1">
                <a:latin typeface="Poppins" pitchFamily="2" charset="77"/>
                <a:cs typeface="Poppins" pitchFamily="2" charset="77"/>
              </a:rPr>
              <a:t>cupidatat</a:t>
            </a:r>
            <a:r>
              <a:rPr lang="en-US" sz="1400" dirty="0">
                <a:latin typeface="Poppins" pitchFamily="2" charset="77"/>
                <a:cs typeface="Poppins" pitchFamily="2" charset="77"/>
              </a:rPr>
              <a:t> non </a:t>
            </a:r>
            <a:r>
              <a:rPr lang="en-US" sz="1400" dirty="0" err="1">
                <a:latin typeface="Poppins" pitchFamily="2" charset="77"/>
                <a:cs typeface="Poppins" pitchFamily="2" charset="77"/>
              </a:rPr>
              <a:t>proident</a:t>
            </a:r>
            <a:r>
              <a:rPr lang="en-US" sz="1400" dirty="0">
                <a:latin typeface="Poppins" pitchFamily="2" charset="77"/>
                <a:cs typeface="Poppins" pitchFamily="2" charset="77"/>
              </a:rPr>
              <a:t>, sunt in culpa qui </a:t>
            </a:r>
            <a:r>
              <a:rPr lang="en-US" sz="1400" dirty="0" err="1">
                <a:latin typeface="Poppins" pitchFamily="2" charset="77"/>
                <a:cs typeface="Poppins" pitchFamily="2" charset="77"/>
              </a:rPr>
              <a:t>officia</a:t>
            </a:r>
            <a:r>
              <a:rPr lang="en-US" sz="1400" dirty="0">
                <a:latin typeface="Poppins" pitchFamily="2" charset="77"/>
                <a:cs typeface="Poppins" pitchFamily="2" charset="77"/>
              </a:rPr>
              <a:t> </a:t>
            </a:r>
            <a:r>
              <a:rPr lang="en-US" sz="1400" dirty="0" err="1">
                <a:latin typeface="Poppins" pitchFamily="2" charset="77"/>
                <a:cs typeface="Poppins" pitchFamily="2" charset="77"/>
              </a:rPr>
              <a:t>deserunt</a:t>
            </a:r>
            <a:r>
              <a:rPr lang="en-US" sz="1400" dirty="0">
                <a:latin typeface="Poppins" pitchFamily="2" charset="77"/>
                <a:cs typeface="Poppins" pitchFamily="2" charset="77"/>
              </a:rPr>
              <a:t> </a:t>
            </a:r>
            <a:r>
              <a:rPr lang="en-US" sz="1400" dirty="0" err="1">
                <a:latin typeface="Poppins" pitchFamily="2" charset="77"/>
                <a:cs typeface="Poppins" pitchFamily="2" charset="77"/>
              </a:rPr>
              <a:t>mollit</a:t>
            </a:r>
            <a:r>
              <a:rPr lang="en-US" sz="1400" dirty="0">
                <a:latin typeface="Poppins" pitchFamily="2" charset="77"/>
                <a:cs typeface="Poppins" pitchFamily="2" charset="77"/>
              </a:rPr>
              <a:t> </a:t>
            </a:r>
            <a:r>
              <a:rPr lang="en-US" sz="1400" dirty="0" err="1">
                <a:latin typeface="Poppins" pitchFamily="2" charset="77"/>
                <a:cs typeface="Poppins" pitchFamily="2" charset="77"/>
              </a:rPr>
              <a:t>anim</a:t>
            </a:r>
            <a:r>
              <a:rPr lang="en-US" sz="1400" dirty="0">
                <a:latin typeface="Poppins" pitchFamily="2" charset="77"/>
                <a:cs typeface="Poppins" pitchFamily="2" charset="77"/>
              </a:rPr>
              <a:t> id</a:t>
            </a:r>
          </a:p>
        </p:txBody>
      </p:sp>
    </p:spTree>
    <p:extLst>
      <p:ext uri="{BB962C8B-B14F-4D97-AF65-F5344CB8AC3E}">
        <p14:creationId xmlns:p14="http://schemas.microsoft.com/office/powerpoint/2010/main" val="20888205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3" name="Picture 11" descr="国外社交媒体客户端下载安卓APP 苹果IOS客户端| 优易特创意科技">
            <a:extLst>
              <a:ext uri="{FF2B5EF4-FFF2-40B4-BE49-F238E27FC236}">
                <a16:creationId xmlns:a16="http://schemas.microsoft.com/office/drawing/2014/main" id="{8A826678-864E-B70E-6E5B-D3D41B0FD66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3655" t="22884" r="13569" b="73457"/>
          <a:stretch/>
        </p:blipFill>
        <p:spPr bwMode="auto">
          <a:xfrm>
            <a:off x="1364252" y="648146"/>
            <a:ext cx="2687175" cy="292273"/>
          </a:xfrm>
          <a:prstGeom prst="round2SameRect">
            <a:avLst>
              <a:gd name="adj1" fmla="val 50000"/>
              <a:gd name="adj2" fmla="val 0"/>
            </a:avLst>
          </a:prstGeom>
          <a:noFill/>
          <a:extLst>
            <a:ext uri="{909E8E84-426E-40DD-AFC4-6F175D3DCCD1}">
              <a14:hiddenFill xmlns:a14="http://schemas.microsoft.com/office/drawing/2010/main">
                <a:solidFill>
                  <a:srgbClr val="FFFFFF"/>
                </a:solidFill>
              </a14:hiddenFill>
            </a:ext>
          </a:extLst>
        </p:spPr>
      </p:pic>
      <p:pic>
        <p:nvPicPr>
          <p:cNvPr id="2" name="Picture 1" descr="A hand holding a cell phone&#10;&#10;Description automatically generated">
            <a:extLst>
              <a:ext uri="{FF2B5EF4-FFF2-40B4-BE49-F238E27FC236}">
                <a16:creationId xmlns:a16="http://schemas.microsoft.com/office/drawing/2014/main" id="{3C83D7D7-8D9B-A838-3F26-206545CEF918}"/>
              </a:ext>
            </a:extLst>
          </p:cNvPr>
          <p:cNvPicPr>
            <a:picLocks noChangeAspect="1"/>
          </p:cNvPicPr>
          <p:nvPr/>
        </p:nvPicPr>
        <p:blipFill rotWithShape="1">
          <a:blip r:embed="rId4">
            <a:extLst>
              <a:ext uri="{28A0092B-C50C-407E-A947-70E740481C1C}">
                <a14:useLocalDpi xmlns:a14="http://schemas.microsoft.com/office/drawing/2010/main" val="0"/>
              </a:ext>
            </a:extLst>
          </a:blip>
          <a:srcRect b="4371"/>
          <a:stretch/>
        </p:blipFill>
        <p:spPr>
          <a:xfrm>
            <a:off x="827314" y="507145"/>
            <a:ext cx="4603379" cy="6350855"/>
          </a:xfrm>
          <a:prstGeom prst="rect">
            <a:avLst/>
          </a:prstGeom>
        </p:spPr>
      </p:pic>
      <p:sp>
        <p:nvSpPr>
          <p:cNvPr id="4" name="TextBox 3">
            <a:extLst>
              <a:ext uri="{FF2B5EF4-FFF2-40B4-BE49-F238E27FC236}">
                <a16:creationId xmlns:a16="http://schemas.microsoft.com/office/drawing/2014/main" id="{6D84037E-6A70-40BF-C0A4-5DA6D8DC4D70}"/>
              </a:ext>
            </a:extLst>
          </p:cNvPr>
          <p:cNvSpPr txBox="1"/>
          <p:nvPr/>
        </p:nvSpPr>
        <p:spPr>
          <a:xfrm>
            <a:off x="5498618" y="714026"/>
            <a:ext cx="5866068" cy="5429948"/>
          </a:xfrm>
          <a:prstGeom prst="rect">
            <a:avLst/>
          </a:prstGeom>
          <a:noFill/>
        </p:spPr>
        <p:txBody>
          <a:bodyPr wrap="square" rtlCol="0" anchor="ctr">
            <a:spAutoFit/>
          </a:bodyPr>
          <a:lstStyle/>
          <a:p>
            <a:pPr>
              <a:lnSpc>
                <a:spcPct val="95000"/>
              </a:lnSpc>
              <a:spcBef>
                <a:spcPct val="0"/>
              </a:spcBef>
              <a:defRPr/>
            </a:pPr>
            <a:r>
              <a:rPr lang="en-US" sz="3200" b="1">
                <a:solidFill>
                  <a:schemeClr val="accent1"/>
                </a:solidFill>
                <a:latin typeface="+mj-lt"/>
                <a:ea typeface="+mj-ea"/>
                <a:cs typeface="+mj-cs"/>
              </a:rPr>
              <a:t>Lorem ipsum dolor sit </a:t>
            </a:r>
            <a:r>
              <a:rPr lang="en-US" sz="3200" b="1" err="1">
                <a:solidFill>
                  <a:schemeClr val="accent1"/>
                </a:solidFill>
                <a:latin typeface="+mj-lt"/>
                <a:ea typeface="+mj-ea"/>
                <a:cs typeface="+mj-cs"/>
              </a:rPr>
              <a:t>amet</a:t>
            </a:r>
            <a:r>
              <a:rPr lang="en-US" sz="3200" b="1">
                <a:solidFill>
                  <a:schemeClr val="accent1"/>
                </a:solidFill>
                <a:latin typeface="+mj-lt"/>
                <a:ea typeface="+mj-ea"/>
                <a:cs typeface="+mj-cs"/>
              </a:rPr>
              <a:t> et dolore magna</a:t>
            </a:r>
          </a:p>
          <a:p>
            <a:pPr marL="285750" indent="-285750">
              <a:lnSpc>
                <a:spcPct val="110000"/>
              </a:lnSpc>
              <a:spcBef>
                <a:spcPts val="800"/>
              </a:spcBef>
              <a:buClr>
                <a:schemeClr val="accent1"/>
              </a:buClr>
              <a:buFont typeface="Arial" panose="020B0604020202020204" pitchFamily="34" charset="0"/>
              <a:buChar char="•"/>
              <a:defRPr/>
            </a:pPr>
            <a:r>
              <a:rPr lang="en-US" sz="1400">
                <a:latin typeface="Poppins" pitchFamily="2" charset="77"/>
                <a:cs typeface="Poppins" pitchFamily="2" charset="77"/>
              </a:rPr>
              <a:t>Lorem ipsum dolor sit </a:t>
            </a:r>
            <a:r>
              <a:rPr lang="en-US" sz="1400" err="1">
                <a:latin typeface="Poppins" pitchFamily="2" charset="77"/>
                <a:cs typeface="Poppins" pitchFamily="2" charset="77"/>
              </a:rPr>
              <a:t>amet</a:t>
            </a:r>
            <a:r>
              <a:rPr lang="en-US" sz="1400">
                <a:latin typeface="Poppins" pitchFamily="2" charset="77"/>
                <a:cs typeface="Poppins" pitchFamily="2" charset="77"/>
              </a:rPr>
              <a:t>, </a:t>
            </a:r>
            <a:r>
              <a:rPr lang="en-US" sz="1400" err="1">
                <a:latin typeface="Poppins" pitchFamily="2" charset="77"/>
                <a:cs typeface="Poppins" pitchFamily="2" charset="77"/>
              </a:rPr>
              <a:t>consectetur</a:t>
            </a:r>
            <a:r>
              <a:rPr lang="en-US" sz="1400">
                <a:latin typeface="Poppins" pitchFamily="2" charset="77"/>
                <a:cs typeface="Poppins" pitchFamily="2" charset="77"/>
              </a:rPr>
              <a:t> </a:t>
            </a:r>
            <a:r>
              <a:rPr lang="en-US" sz="1400" err="1">
                <a:latin typeface="Poppins" pitchFamily="2" charset="77"/>
                <a:cs typeface="Poppins" pitchFamily="2" charset="77"/>
              </a:rPr>
              <a:t>adipiscing</a:t>
            </a:r>
            <a:r>
              <a:rPr lang="en-US" sz="1400">
                <a:latin typeface="Poppins" pitchFamily="2" charset="77"/>
                <a:cs typeface="Poppins" pitchFamily="2" charset="77"/>
              </a:rPr>
              <a:t> </a:t>
            </a:r>
            <a:r>
              <a:rPr lang="en-US" sz="1400" err="1">
                <a:latin typeface="Poppins" pitchFamily="2" charset="77"/>
                <a:cs typeface="Poppins" pitchFamily="2" charset="77"/>
              </a:rPr>
              <a:t>elit</a:t>
            </a:r>
            <a:r>
              <a:rPr lang="en-US" sz="1400">
                <a:latin typeface="Poppins" pitchFamily="2" charset="77"/>
                <a:cs typeface="Poppins" pitchFamily="2" charset="77"/>
              </a:rPr>
              <a:t>, sed do </a:t>
            </a:r>
            <a:r>
              <a:rPr lang="en-US" sz="1400" err="1">
                <a:latin typeface="Poppins" pitchFamily="2" charset="77"/>
                <a:cs typeface="Poppins" pitchFamily="2" charset="77"/>
              </a:rPr>
              <a:t>eiusmod</a:t>
            </a:r>
            <a:r>
              <a:rPr lang="en-US" sz="1400">
                <a:latin typeface="Poppins" pitchFamily="2" charset="77"/>
                <a:cs typeface="Poppins" pitchFamily="2" charset="77"/>
              </a:rPr>
              <a:t> </a:t>
            </a:r>
            <a:r>
              <a:rPr lang="en-US" sz="1400" err="1">
                <a:latin typeface="Poppins" pitchFamily="2" charset="77"/>
                <a:cs typeface="Poppins" pitchFamily="2" charset="77"/>
              </a:rPr>
              <a:t>tempor</a:t>
            </a:r>
            <a:r>
              <a:rPr lang="en-US" sz="1400">
                <a:latin typeface="Poppins" pitchFamily="2" charset="77"/>
                <a:cs typeface="Poppins" pitchFamily="2" charset="77"/>
              </a:rPr>
              <a:t> </a:t>
            </a:r>
            <a:r>
              <a:rPr lang="en-US" sz="1400" err="1">
                <a:latin typeface="Poppins" pitchFamily="2" charset="77"/>
                <a:cs typeface="Poppins" pitchFamily="2" charset="77"/>
              </a:rPr>
              <a:t>incididunt</a:t>
            </a:r>
            <a:r>
              <a:rPr lang="en-US" sz="1400">
                <a:latin typeface="Poppins" pitchFamily="2" charset="77"/>
                <a:cs typeface="Poppins" pitchFamily="2" charset="77"/>
              </a:rPr>
              <a:t> </a:t>
            </a:r>
            <a:r>
              <a:rPr lang="en-US" sz="1400" err="1">
                <a:latin typeface="Poppins" pitchFamily="2" charset="77"/>
                <a:cs typeface="Poppins" pitchFamily="2" charset="77"/>
              </a:rPr>
              <a:t>ut</a:t>
            </a:r>
            <a:r>
              <a:rPr lang="en-US" sz="1400">
                <a:latin typeface="Poppins" pitchFamily="2" charset="77"/>
                <a:cs typeface="Poppins" pitchFamily="2" charset="77"/>
              </a:rPr>
              <a:t> labore et dolore magna </a:t>
            </a:r>
            <a:r>
              <a:rPr lang="en-US" sz="1400" err="1">
                <a:latin typeface="Poppins" pitchFamily="2" charset="77"/>
                <a:cs typeface="Poppins" pitchFamily="2" charset="77"/>
              </a:rPr>
              <a:t>aliqua</a:t>
            </a:r>
            <a:r>
              <a:rPr lang="en-US" sz="1400">
                <a:latin typeface="Poppins" pitchFamily="2" charset="77"/>
                <a:cs typeface="Poppins" pitchFamily="2" charset="77"/>
              </a:rPr>
              <a:t>. Ut </a:t>
            </a:r>
            <a:r>
              <a:rPr lang="en-US" sz="1400" err="1">
                <a:latin typeface="Poppins" pitchFamily="2" charset="77"/>
                <a:cs typeface="Poppins" pitchFamily="2" charset="77"/>
              </a:rPr>
              <a:t>enim</a:t>
            </a:r>
            <a:r>
              <a:rPr lang="en-US" sz="1400">
                <a:latin typeface="Poppins" pitchFamily="2" charset="77"/>
                <a:cs typeface="Poppins" pitchFamily="2" charset="77"/>
              </a:rPr>
              <a:t> ad minim </a:t>
            </a:r>
            <a:r>
              <a:rPr lang="en-US" sz="1400" err="1">
                <a:latin typeface="Poppins" pitchFamily="2" charset="77"/>
                <a:cs typeface="Poppins" pitchFamily="2" charset="77"/>
              </a:rPr>
              <a:t>veniam</a:t>
            </a:r>
            <a:endParaRPr lang="en-US" sz="1400">
              <a:latin typeface="Poppins" pitchFamily="2" charset="77"/>
              <a:cs typeface="Poppins" pitchFamily="2" charset="77"/>
            </a:endParaRPr>
          </a:p>
          <a:p>
            <a:pPr marL="285750" indent="-285750">
              <a:lnSpc>
                <a:spcPct val="110000"/>
              </a:lnSpc>
              <a:spcBef>
                <a:spcPts val="800"/>
              </a:spcBef>
              <a:buClr>
                <a:schemeClr val="accent1"/>
              </a:buClr>
              <a:buFont typeface="Arial" panose="020B0604020202020204" pitchFamily="34" charset="0"/>
              <a:buChar char="•"/>
              <a:defRPr/>
            </a:pPr>
            <a:r>
              <a:rPr lang="en-US" sz="1400" err="1">
                <a:latin typeface="Poppins" pitchFamily="2" charset="77"/>
                <a:cs typeface="Poppins" pitchFamily="2" charset="77"/>
              </a:rPr>
              <a:t>Quis</a:t>
            </a:r>
            <a:r>
              <a:rPr lang="en-US" sz="1400">
                <a:latin typeface="Poppins" pitchFamily="2" charset="77"/>
                <a:cs typeface="Poppins" pitchFamily="2" charset="77"/>
              </a:rPr>
              <a:t> </a:t>
            </a:r>
            <a:r>
              <a:rPr lang="en-US" sz="1400" err="1">
                <a:latin typeface="Poppins" pitchFamily="2" charset="77"/>
                <a:cs typeface="Poppins" pitchFamily="2" charset="77"/>
              </a:rPr>
              <a:t>nostrud</a:t>
            </a:r>
            <a:r>
              <a:rPr lang="en-US" sz="1400">
                <a:latin typeface="Poppins" pitchFamily="2" charset="77"/>
                <a:cs typeface="Poppins" pitchFamily="2" charset="77"/>
              </a:rPr>
              <a:t> exercitation </a:t>
            </a:r>
            <a:r>
              <a:rPr lang="en-US" sz="1400" err="1">
                <a:latin typeface="Poppins" pitchFamily="2" charset="77"/>
                <a:cs typeface="Poppins" pitchFamily="2" charset="77"/>
              </a:rPr>
              <a:t>ullamco</a:t>
            </a:r>
            <a:r>
              <a:rPr lang="en-US" sz="1400">
                <a:latin typeface="Poppins" pitchFamily="2" charset="77"/>
                <a:cs typeface="Poppins" pitchFamily="2" charset="77"/>
              </a:rPr>
              <a:t> </a:t>
            </a:r>
            <a:r>
              <a:rPr lang="en-US" sz="1400" err="1">
                <a:latin typeface="Poppins" pitchFamily="2" charset="77"/>
                <a:cs typeface="Poppins" pitchFamily="2" charset="77"/>
              </a:rPr>
              <a:t>laboris</a:t>
            </a:r>
            <a:r>
              <a:rPr lang="en-US" sz="1400">
                <a:latin typeface="Poppins" pitchFamily="2" charset="77"/>
                <a:cs typeface="Poppins" pitchFamily="2" charset="77"/>
              </a:rPr>
              <a:t> nisi </a:t>
            </a:r>
            <a:r>
              <a:rPr lang="en-US" sz="1400" err="1">
                <a:latin typeface="Poppins" pitchFamily="2" charset="77"/>
                <a:cs typeface="Poppins" pitchFamily="2" charset="77"/>
              </a:rPr>
              <a:t>ut</a:t>
            </a:r>
            <a:r>
              <a:rPr lang="en-US" sz="1400">
                <a:latin typeface="Poppins" pitchFamily="2" charset="77"/>
                <a:cs typeface="Poppins" pitchFamily="2" charset="77"/>
              </a:rPr>
              <a:t> </a:t>
            </a:r>
            <a:r>
              <a:rPr lang="en-US" sz="1400" err="1">
                <a:latin typeface="Poppins" pitchFamily="2" charset="77"/>
                <a:cs typeface="Poppins" pitchFamily="2" charset="77"/>
              </a:rPr>
              <a:t>aliquip</a:t>
            </a:r>
            <a:r>
              <a:rPr lang="en-US" sz="1400">
                <a:latin typeface="Poppins" pitchFamily="2" charset="77"/>
                <a:cs typeface="Poppins" pitchFamily="2" charset="77"/>
              </a:rPr>
              <a:t> ex </a:t>
            </a:r>
            <a:r>
              <a:rPr lang="en-US" sz="1400" err="1">
                <a:latin typeface="Poppins" pitchFamily="2" charset="77"/>
                <a:cs typeface="Poppins" pitchFamily="2" charset="77"/>
              </a:rPr>
              <a:t>ea</a:t>
            </a:r>
            <a:r>
              <a:rPr lang="en-US" sz="1400">
                <a:latin typeface="Poppins" pitchFamily="2" charset="77"/>
                <a:cs typeface="Poppins" pitchFamily="2" charset="77"/>
              </a:rPr>
              <a:t> </a:t>
            </a:r>
            <a:r>
              <a:rPr lang="en-US" sz="1400" err="1">
                <a:latin typeface="Poppins" pitchFamily="2" charset="77"/>
                <a:cs typeface="Poppins" pitchFamily="2" charset="77"/>
              </a:rPr>
              <a:t>commodo</a:t>
            </a:r>
            <a:r>
              <a:rPr lang="en-US" sz="1400">
                <a:latin typeface="Poppins" pitchFamily="2" charset="77"/>
                <a:cs typeface="Poppins" pitchFamily="2" charset="77"/>
              </a:rPr>
              <a:t> </a:t>
            </a:r>
            <a:r>
              <a:rPr lang="en-US" sz="1400" err="1">
                <a:latin typeface="Poppins" pitchFamily="2" charset="77"/>
                <a:cs typeface="Poppins" pitchFamily="2" charset="77"/>
              </a:rPr>
              <a:t>consequat</a:t>
            </a:r>
            <a:r>
              <a:rPr lang="en-US" sz="1400">
                <a:latin typeface="Poppins" pitchFamily="2" charset="77"/>
                <a:cs typeface="Poppins" pitchFamily="2" charset="77"/>
              </a:rPr>
              <a:t>. Duis </a:t>
            </a:r>
            <a:r>
              <a:rPr lang="en-US" sz="1400" err="1">
                <a:latin typeface="Poppins" pitchFamily="2" charset="77"/>
                <a:cs typeface="Poppins" pitchFamily="2" charset="77"/>
              </a:rPr>
              <a:t>aute</a:t>
            </a:r>
            <a:r>
              <a:rPr lang="en-US" sz="1400">
                <a:latin typeface="Poppins" pitchFamily="2" charset="77"/>
                <a:cs typeface="Poppins" pitchFamily="2" charset="77"/>
              </a:rPr>
              <a:t> </a:t>
            </a:r>
            <a:r>
              <a:rPr lang="en-US" sz="1400" err="1">
                <a:latin typeface="Poppins" pitchFamily="2" charset="77"/>
                <a:cs typeface="Poppins" pitchFamily="2" charset="77"/>
              </a:rPr>
              <a:t>irure</a:t>
            </a:r>
            <a:r>
              <a:rPr lang="en-US" sz="1400">
                <a:latin typeface="Poppins" pitchFamily="2" charset="77"/>
                <a:cs typeface="Poppins" pitchFamily="2" charset="77"/>
              </a:rPr>
              <a:t> dolor in </a:t>
            </a:r>
            <a:r>
              <a:rPr lang="en-US" sz="1400" err="1">
                <a:latin typeface="Poppins" pitchFamily="2" charset="77"/>
                <a:cs typeface="Poppins" pitchFamily="2" charset="77"/>
              </a:rPr>
              <a:t>reprehenderit</a:t>
            </a:r>
            <a:r>
              <a:rPr lang="en-US" sz="1400">
                <a:latin typeface="Poppins" pitchFamily="2" charset="77"/>
                <a:cs typeface="Poppins" pitchFamily="2" charset="77"/>
              </a:rPr>
              <a:t> in </a:t>
            </a:r>
            <a:r>
              <a:rPr lang="en-US" sz="1400" err="1">
                <a:latin typeface="Poppins" pitchFamily="2" charset="77"/>
                <a:cs typeface="Poppins" pitchFamily="2" charset="77"/>
              </a:rPr>
              <a:t>voluptate</a:t>
            </a:r>
            <a:r>
              <a:rPr lang="en-US" sz="1400">
                <a:latin typeface="Poppins" pitchFamily="2" charset="77"/>
                <a:cs typeface="Poppins" pitchFamily="2" charset="77"/>
              </a:rPr>
              <a:t> </a:t>
            </a:r>
            <a:r>
              <a:rPr lang="en-US" sz="1400" err="1">
                <a:latin typeface="Poppins" pitchFamily="2" charset="77"/>
                <a:cs typeface="Poppins" pitchFamily="2" charset="77"/>
              </a:rPr>
              <a:t>velit</a:t>
            </a:r>
            <a:r>
              <a:rPr lang="en-US" sz="1400">
                <a:latin typeface="Poppins" pitchFamily="2" charset="77"/>
                <a:cs typeface="Poppins" pitchFamily="2" charset="77"/>
              </a:rPr>
              <a:t> </a:t>
            </a:r>
            <a:r>
              <a:rPr lang="en-US" sz="1400" err="1">
                <a:latin typeface="Poppins" pitchFamily="2" charset="77"/>
                <a:cs typeface="Poppins" pitchFamily="2" charset="77"/>
              </a:rPr>
              <a:t>esse</a:t>
            </a:r>
            <a:r>
              <a:rPr lang="en-US" sz="1400">
                <a:latin typeface="Poppins" pitchFamily="2" charset="77"/>
                <a:cs typeface="Poppins" pitchFamily="2" charset="77"/>
              </a:rPr>
              <a:t> </a:t>
            </a:r>
            <a:r>
              <a:rPr lang="en-US" sz="1400" err="1">
                <a:latin typeface="Poppins" pitchFamily="2" charset="77"/>
                <a:cs typeface="Poppins" pitchFamily="2" charset="77"/>
              </a:rPr>
              <a:t>cillum</a:t>
            </a:r>
            <a:r>
              <a:rPr lang="en-US" sz="1400">
                <a:latin typeface="Poppins" pitchFamily="2" charset="77"/>
                <a:cs typeface="Poppins" pitchFamily="2" charset="77"/>
              </a:rPr>
              <a:t> dolore </a:t>
            </a:r>
            <a:r>
              <a:rPr lang="en-US" sz="1400" err="1">
                <a:latin typeface="Poppins" pitchFamily="2" charset="77"/>
                <a:cs typeface="Poppins" pitchFamily="2" charset="77"/>
              </a:rPr>
              <a:t>eu</a:t>
            </a:r>
            <a:r>
              <a:rPr lang="en-US" sz="1400">
                <a:latin typeface="Poppins" pitchFamily="2" charset="77"/>
                <a:cs typeface="Poppins" pitchFamily="2" charset="77"/>
              </a:rPr>
              <a:t> </a:t>
            </a:r>
            <a:r>
              <a:rPr lang="en-US" sz="1400" err="1">
                <a:latin typeface="Poppins" pitchFamily="2" charset="77"/>
                <a:cs typeface="Poppins" pitchFamily="2" charset="77"/>
              </a:rPr>
              <a:t>fugiat</a:t>
            </a:r>
            <a:r>
              <a:rPr lang="en-US" sz="1400">
                <a:latin typeface="Poppins" pitchFamily="2" charset="77"/>
                <a:cs typeface="Poppins" pitchFamily="2" charset="77"/>
              </a:rPr>
              <a:t> </a:t>
            </a:r>
            <a:r>
              <a:rPr lang="en-US" sz="1400" err="1">
                <a:latin typeface="Poppins" pitchFamily="2" charset="77"/>
                <a:cs typeface="Poppins" pitchFamily="2" charset="77"/>
              </a:rPr>
              <a:t>nulla</a:t>
            </a:r>
            <a:r>
              <a:rPr lang="en-US" sz="1400">
                <a:latin typeface="Poppins" pitchFamily="2" charset="77"/>
                <a:cs typeface="Poppins" pitchFamily="2" charset="77"/>
              </a:rPr>
              <a:t> </a:t>
            </a:r>
            <a:r>
              <a:rPr lang="en-US" sz="1400" err="1">
                <a:latin typeface="Poppins" pitchFamily="2" charset="77"/>
                <a:cs typeface="Poppins" pitchFamily="2" charset="77"/>
              </a:rPr>
              <a:t>pariatur</a:t>
            </a:r>
            <a:r>
              <a:rPr lang="en-US" sz="1400">
                <a:latin typeface="Poppins" pitchFamily="2" charset="77"/>
                <a:cs typeface="Poppins" pitchFamily="2" charset="77"/>
              </a:rPr>
              <a:t>.</a:t>
            </a:r>
          </a:p>
          <a:p>
            <a:pPr marL="285750" indent="-285750">
              <a:lnSpc>
                <a:spcPct val="110000"/>
              </a:lnSpc>
              <a:spcBef>
                <a:spcPts val="800"/>
              </a:spcBef>
              <a:buClr>
                <a:schemeClr val="accent1"/>
              </a:buClr>
              <a:buFont typeface="Arial" panose="020B0604020202020204" pitchFamily="34" charset="0"/>
              <a:buChar char="•"/>
              <a:defRPr/>
            </a:pPr>
            <a:r>
              <a:rPr lang="en-US" sz="1400" err="1">
                <a:latin typeface="Poppins" pitchFamily="2" charset="77"/>
                <a:cs typeface="Poppins" pitchFamily="2" charset="77"/>
              </a:rPr>
              <a:t>Excepteur</a:t>
            </a:r>
            <a:r>
              <a:rPr lang="en-US" sz="1400">
                <a:latin typeface="Poppins" pitchFamily="2" charset="77"/>
                <a:cs typeface="Poppins" pitchFamily="2" charset="77"/>
              </a:rPr>
              <a:t> </a:t>
            </a:r>
            <a:r>
              <a:rPr lang="en-US" sz="1400" err="1">
                <a:latin typeface="Poppins" pitchFamily="2" charset="77"/>
                <a:cs typeface="Poppins" pitchFamily="2" charset="77"/>
              </a:rPr>
              <a:t>sint</a:t>
            </a:r>
            <a:r>
              <a:rPr lang="en-US" sz="1400">
                <a:latin typeface="Poppins" pitchFamily="2" charset="77"/>
                <a:cs typeface="Poppins" pitchFamily="2" charset="77"/>
              </a:rPr>
              <a:t> </a:t>
            </a:r>
            <a:r>
              <a:rPr lang="en-US" sz="1400" err="1">
                <a:latin typeface="Poppins" pitchFamily="2" charset="77"/>
                <a:cs typeface="Poppins" pitchFamily="2" charset="77"/>
              </a:rPr>
              <a:t>occaecat</a:t>
            </a:r>
            <a:r>
              <a:rPr lang="en-US" sz="1400">
                <a:latin typeface="Poppins" pitchFamily="2" charset="77"/>
                <a:cs typeface="Poppins" pitchFamily="2" charset="77"/>
              </a:rPr>
              <a:t> </a:t>
            </a:r>
            <a:r>
              <a:rPr lang="en-US" sz="1400" err="1">
                <a:latin typeface="Poppins" pitchFamily="2" charset="77"/>
                <a:cs typeface="Poppins" pitchFamily="2" charset="77"/>
              </a:rPr>
              <a:t>cupidatat</a:t>
            </a:r>
            <a:r>
              <a:rPr lang="en-US" sz="1400">
                <a:latin typeface="Poppins" pitchFamily="2" charset="77"/>
                <a:cs typeface="Poppins" pitchFamily="2" charset="77"/>
              </a:rPr>
              <a:t> non </a:t>
            </a:r>
            <a:r>
              <a:rPr lang="en-US" sz="1400" err="1">
                <a:latin typeface="Poppins" pitchFamily="2" charset="77"/>
                <a:cs typeface="Poppins" pitchFamily="2" charset="77"/>
              </a:rPr>
              <a:t>proident</a:t>
            </a:r>
            <a:r>
              <a:rPr lang="en-US" sz="1400">
                <a:latin typeface="Poppins" pitchFamily="2" charset="77"/>
                <a:cs typeface="Poppins" pitchFamily="2" charset="77"/>
              </a:rPr>
              <a:t>, sunt in culpa qui </a:t>
            </a:r>
            <a:r>
              <a:rPr lang="en-US" sz="1400" err="1">
                <a:latin typeface="Poppins" pitchFamily="2" charset="77"/>
                <a:cs typeface="Poppins" pitchFamily="2" charset="77"/>
              </a:rPr>
              <a:t>officia</a:t>
            </a:r>
            <a:r>
              <a:rPr lang="en-US" sz="1400">
                <a:latin typeface="Poppins" pitchFamily="2" charset="77"/>
                <a:cs typeface="Poppins" pitchFamily="2" charset="77"/>
              </a:rPr>
              <a:t> </a:t>
            </a:r>
            <a:r>
              <a:rPr lang="en-US" sz="1400" err="1">
                <a:latin typeface="Poppins" pitchFamily="2" charset="77"/>
                <a:cs typeface="Poppins" pitchFamily="2" charset="77"/>
              </a:rPr>
              <a:t>deserunt</a:t>
            </a:r>
            <a:r>
              <a:rPr lang="en-US" sz="1400">
                <a:latin typeface="Poppins" pitchFamily="2" charset="77"/>
                <a:cs typeface="Poppins" pitchFamily="2" charset="77"/>
              </a:rPr>
              <a:t> </a:t>
            </a:r>
            <a:r>
              <a:rPr lang="en-US" sz="1400" err="1">
                <a:latin typeface="Poppins" pitchFamily="2" charset="77"/>
                <a:cs typeface="Poppins" pitchFamily="2" charset="77"/>
              </a:rPr>
              <a:t>mollit</a:t>
            </a:r>
            <a:r>
              <a:rPr lang="en-US" sz="1400">
                <a:latin typeface="Poppins" pitchFamily="2" charset="77"/>
                <a:cs typeface="Poppins" pitchFamily="2" charset="77"/>
              </a:rPr>
              <a:t> </a:t>
            </a:r>
            <a:r>
              <a:rPr lang="en-US" sz="1400" err="1">
                <a:latin typeface="Poppins" pitchFamily="2" charset="77"/>
                <a:cs typeface="Poppins" pitchFamily="2" charset="77"/>
              </a:rPr>
              <a:t>anim</a:t>
            </a:r>
            <a:r>
              <a:rPr lang="en-US" sz="1400">
                <a:latin typeface="Poppins" pitchFamily="2" charset="77"/>
                <a:cs typeface="Poppins" pitchFamily="2" charset="77"/>
              </a:rPr>
              <a:t> id </a:t>
            </a:r>
            <a:r>
              <a:rPr lang="en-US" sz="1400" err="1">
                <a:latin typeface="Poppins" pitchFamily="2" charset="77"/>
                <a:cs typeface="Poppins" pitchFamily="2" charset="77"/>
              </a:rPr>
              <a:t>est</a:t>
            </a:r>
            <a:r>
              <a:rPr lang="en-US" sz="1400">
                <a:latin typeface="Poppins" pitchFamily="2" charset="77"/>
                <a:cs typeface="Poppins" pitchFamily="2" charset="77"/>
              </a:rPr>
              <a:t> </a:t>
            </a:r>
            <a:r>
              <a:rPr lang="en-US" sz="1400" err="1">
                <a:latin typeface="Poppins" pitchFamily="2" charset="77"/>
                <a:cs typeface="Poppins" pitchFamily="2" charset="77"/>
              </a:rPr>
              <a:t>laborum</a:t>
            </a:r>
            <a:r>
              <a:rPr lang="en-US" sz="1400">
                <a:latin typeface="Poppins" pitchFamily="2" charset="77"/>
                <a:cs typeface="Poppins" pitchFamily="2" charset="77"/>
              </a:rPr>
              <a:t>.</a:t>
            </a:r>
          </a:p>
          <a:p>
            <a:pPr marL="285750" indent="-285750">
              <a:lnSpc>
                <a:spcPct val="110000"/>
              </a:lnSpc>
              <a:spcBef>
                <a:spcPts val="800"/>
              </a:spcBef>
              <a:buClr>
                <a:schemeClr val="accent1"/>
              </a:buClr>
              <a:buFont typeface="Arial" panose="020B0604020202020204" pitchFamily="34" charset="0"/>
              <a:buChar char="•"/>
              <a:defRPr/>
            </a:pPr>
            <a:r>
              <a:rPr lang="en-US" sz="1400">
                <a:latin typeface="Poppins" pitchFamily="2" charset="77"/>
                <a:cs typeface="Poppins" pitchFamily="2" charset="77"/>
              </a:rPr>
              <a:t>Lorem ipsum dolor sit </a:t>
            </a:r>
            <a:r>
              <a:rPr lang="en-US" sz="1400" err="1">
                <a:latin typeface="Poppins" pitchFamily="2" charset="77"/>
                <a:cs typeface="Poppins" pitchFamily="2" charset="77"/>
              </a:rPr>
              <a:t>amet</a:t>
            </a:r>
            <a:r>
              <a:rPr lang="en-US" sz="1400">
                <a:latin typeface="Poppins" pitchFamily="2" charset="77"/>
                <a:cs typeface="Poppins" pitchFamily="2" charset="77"/>
              </a:rPr>
              <a:t>, </a:t>
            </a:r>
            <a:r>
              <a:rPr lang="en-US" sz="1400" err="1">
                <a:latin typeface="Poppins" pitchFamily="2" charset="77"/>
                <a:cs typeface="Poppins" pitchFamily="2" charset="77"/>
              </a:rPr>
              <a:t>consectetur</a:t>
            </a:r>
            <a:r>
              <a:rPr lang="en-US" sz="1400">
                <a:latin typeface="Poppins" pitchFamily="2" charset="77"/>
                <a:cs typeface="Poppins" pitchFamily="2" charset="77"/>
              </a:rPr>
              <a:t> </a:t>
            </a:r>
            <a:r>
              <a:rPr lang="en-US" sz="1400" err="1">
                <a:latin typeface="Poppins" pitchFamily="2" charset="77"/>
                <a:cs typeface="Poppins" pitchFamily="2" charset="77"/>
              </a:rPr>
              <a:t>adipiscing</a:t>
            </a:r>
            <a:r>
              <a:rPr lang="en-US" sz="1400">
                <a:latin typeface="Poppins" pitchFamily="2" charset="77"/>
                <a:cs typeface="Poppins" pitchFamily="2" charset="77"/>
              </a:rPr>
              <a:t> </a:t>
            </a:r>
            <a:r>
              <a:rPr lang="en-US" sz="1400" err="1">
                <a:latin typeface="Poppins" pitchFamily="2" charset="77"/>
                <a:cs typeface="Poppins" pitchFamily="2" charset="77"/>
              </a:rPr>
              <a:t>elit</a:t>
            </a:r>
            <a:r>
              <a:rPr lang="en-US" sz="1400">
                <a:latin typeface="Poppins" pitchFamily="2" charset="77"/>
                <a:cs typeface="Poppins" pitchFamily="2" charset="77"/>
              </a:rPr>
              <a:t>, sed do </a:t>
            </a:r>
            <a:r>
              <a:rPr lang="en-US" sz="1400" err="1">
                <a:latin typeface="Poppins" pitchFamily="2" charset="77"/>
                <a:cs typeface="Poppins" pitchFamily="2" charset="77"/>
              </a:rPr>
              <a:t>eiusmod</a:t>
            </a:r>
            <a:r>
              <a:rPr lang="en-US" sz="1400">
                <a:latin typeface="Poppins" pitchFamily="2" charset="77"/>
                <a:cs typeface="Poppins" pitchFamily="2" charset="77"/>
              </a:rPr>
              <a:t> </a:t>
            </a:r>
            <a:r>
              <a:rPr lang="en-US" sz="1400" err="1">
                <a:latin typeface="Poppins" pitchFamily="2" charset="77"/>
                <a:cs typeface="Poppins" pitchFamily="2" charset="77"/>
              </a:rPr>
              <a:t>tempor</a:t>
            </a:r>
            <a:r>
              <a:rPr lang="en-US" sz="1400">
                <a:latin typeface="Poppins" pitchFamily="2" charset="77"/>
                <a:cs typeface="Poppins" pitchFamily="2" charset="77"/>
              </a:rPr>
              <a:t> </a:t>
            </a:r>
            <a:r>
              <a:rPr lang="en-US" sz="1400" err="1">
                <a:latin typeface="Poppins" pitchFamily="2" charset="77"/>
                <a:cs typeface="Poppins" pitchFamily="2" charset="77"/>
              </a:rPr>
              <a:t>incididunt</a:t>
            </a:r>
            <a:r>
              <a:rPr lang="en-US" sz="1400">
                <a:latin typeface="Poppins" pitchFamily="2" charset="77"/>
                <a:cs typeface="Poppins" pitchFamily="2" charset="77"/>
              </a:rPr>
              <a:t> </a:t>
            </a:r>
            <a:r>
              <a:rPr lang="en-US" sz="1400" err="1">
                <a:latin typeface="Poppins" pitchFamily="2" charset="77"/>
                <a:cs typeface="Poppins" pitchFamily="2" charset="77"/>
              </a:rPr>
              <a:t>ut</a:t>
            </a:r>
            <a:r>
              <a:rPr lang="en-US" sz="1400">
                <a:latin typeface="Poppins" pitchFamily="2" charset="77"/>
                <a:cs typeface="Poppins" pitchFamily="2" charset="77"/>
              </a:rPr>
              <a:t> labore et dolore magna </a:t>
            </a:r>
            <a:r>
              <a:rPr lang="en-US" sz="1400" err="1">
                <a:latin typeface="Poppins" pitchFamily="2" charset="77"/>
                <a:cs typeface="Poppins" pitchFamily="2" charset="77"/>
              </a:rPr>
              <a:t>aliqua</a:t>
            </a:r>
            <a:r>
              <a:rPr lang="en-US" sz="1400">
                <a:latin typeface="Poppins" pitchFamily="2" charset="77"/>
                <a:cs typeface="Poppins" pitchFamily="2" charset="77"/>
              </a:rPr>
              <a:t>. Ut </a:t>
            </a:r>
            <a:r>
              <a:rPr lang="en-US" sz="1400" err="1">
                <a:latin typeface="Poppins" pitchFamily="2" charset="77"/>
                <a:cs typeface="Poppins" pitchFamily="2" charset="77"/>
              </a:rPr>
              <a:t>enim</a:t>
            </a:r>
            <a:r>
              <a:rPr lang="en-US" sz="1400">
                <a:latin typeface="Poppins" pitchFamily="2" charset="77"/>
                <a:cs typeface="Poppins" pitchFamily="2" charset="77"/>
              </a:rPr>
              <a:t> ad minim </a:t>
            </a:r>
            <a:r>
              <a:rPr lang="en-US" sz="1400" err="1">
                <a:latin typeface="Poppins" pitchFamily="2" charset="77"/>
                <a:cs typeface="Poppins" pitchFamily="2" charset="77"/>
              </a:rPr>
              <a:t>veniam</a:t>
            </a:r>
            <a:endParaRPr lang="en-US" sz="1400">
              <a:latin typeface="Poppins" pitchFamily="2" charset="77"/>
              <a:cs typeface="Poppins" pitchFamily="2" charset="77"/>
            </a:endParaRPr>
          </a:p>
          <a:p>
            <a:pPr marL="285750" indent="-285750">
              <a:lnSpc>
                <a:spcPct val="110000"/>
              </a:lnSpc>
              <a:spcBef>
                <a:spcPts val="800"/>
              </a:spcBef>
              <a:buClr>
                <a:schemeClr val="accent1"/>
              </a:buClr>
              <a:buFont typeface="Arial" panose="020B0604020202020204" pitchFamily="34" charset="0"/>
              <a:buChar char="•"/>
              <a:defRPr/>
            </a:pPr>
            <a:r>
              <a:rPr lang="en-US" sz="1400" err="1">
                <a:latin typeface="Poppins" pitchFamily="2" charset="77"/>
                <a:cs typeface="Poppins" pitchFamily="2" charset="77"/>
              </a:rPr>
              <a:t>Quis</a:t>
            </a:r>
            <a:r>
              <a:rPr lang="en-US" sz="1400">
                <a:latin typeface="Poppins" pitchFamily="2" charset="77"/>
                <a:cs typeface="Poppins" pitchFamily="2" charset="77"/>
              </a:rPr>
              <a:t> </a:t>
            </a:r>
            <a:r>
              <a:rPr lang="en-US" sz="1400" err="1">
                <a:latin typeface="Poppins" pitchFamily="2" charset="77"/>
                <a:cs typeface="Poppins" pitchFamily="2" charset="77"/>
              </a:rPr>
              <a:t>nostrud</a:t>
            </a:r>
            <a:r>
              <a:rPr lang="en-US" sz="1400">
                <a:latin typeface="Poppins" pitchFamily="2" charset="77"/>
                <a:cs typeface="Poppins" pitchFamily="2" charset="77"/>
              </a:rPr>
              <a:t> exercitation </a:t>
            </a:r>
            <a:r>
              <a:rPr lang="en-US" sz="1400" err="1">
                <a:latin typeface="Poppins" pitchFamily="2" charset="77"/>
                <a:cs typeface="Poppins" pitchFamily="2" charset="77"/>
              </a:rPr>
              <a:t>ullamco</a:t>
            </a:r>
            <a:r>
              <a:rPr lang="en-US" sz="1400">
                <a:latin typeface="Poppins" pitchFamily="2" charset="77"/>
                <a:cs typeface="Poppins" pitchFamily="2" charset="77"/>
              </a:rPr>
              <a:t> </a:t>
            </a:r>
            <a:r>
              <a:rPr lang="en-US" sz="1400" err="1">
                <a:latin typeface="Poppins" pitchFamily="2" charset="77"/>
                <a:cs typeface="Poppins" pitchFamily="2" charset="77"/>
              </a:rPr>
              <a:t>laboris</a:t>
            </a:r>
            <a:r>
              <a:rPr lang="en-US" sz="1400">
                <a:latin typeface="Poppins" pitchFamily="2" charset="77"/>
                <a:cs typeface="Poppins" pitchFamily="2" charset="77"/>
              </a:rPr>
              <a:t> nisi </a:t>
            </a:r>
            <a:r>
              <a:rPr lang="en-US" sz="1400" err="1">
                <a:latin typeface="Poppins" pitchFamily="2" charset="77"/>
                <a:cs typeface="Poppins" pitchFamily="2" charset="77"/>
              </a:rPr>
              <a:t>ut</a:t>
            </a:r>
            <a:r>
              <a:rPr lang="en-US" sz="1400">
                <a:latin typeface="Poppins" pitchFamily="2" charset="77"/>
                <a:cs typeface="Poppins" pitchFamily="2" charset="77"/>
              </a:rPr>
              <a:t> </a:t>
            </a:r>
            <a:r>
              <a:rPr lang="en-US" sz="1400" err="1">
                <a:latin typeface="Poppins" pitchFamily="2" charset="77"/>
                <a:cs typeface="Poppins" pitchFamily="2" charset="77"/>
              </a:rPr>
              <a:t>aliquip</a:t>
            </a:r>
            <a:r>
              <a:rPr lang="en-US" sz="1400">
                <a:latin typeface="Poppins" pitchFamily="2" charset="77"/>
                <a:cs typeface="Poppins" pitchFamily="2" charset="77"/>
              </a:rPr>
              <a:t> ex </a:t>
            </a:r>
            <a:r>
              <a:rPr lang="en-US" sz="1400" err="1">
                <a:latin typeface="Poppins" pitchFamily="2" charset="77"/>
                <a:cs typeface="Poppins" pitchFamily="2" charset="77"/>
              </a:rPr>
              <a:t>ea</a:t>
            </a:r>
            <a:r>
              <a:rPr lang="en-US" sz="1400">
                <a:latin typeface="Poppins" pitchFamily="2" charset="77"/>
                <a:cs typeface="Poppins" pitchFamily="2" charset="77"/>
              </a:rPr>
              <a:t> </a:t>
            </a:r>
            <a:r>
              <a:rPr lang="en-US" sz="1400" err="1">
                <a:latin typeface="Poppins" pitchFamily="2" charset="77"/>
                <a:cs typeface="Poppins" pitchFamily="2" charset="77"/>
              </a:rPr>
              <a:t>commodo</a:t>
            </a:r>
            <a:r>
              <a:rPr lang="en-US" sz="1400">
                <a:latin typeface="Poppins" pitchFamily="2" charset="77"/>
                <a:cs typeface="Poppins" pitchFamily="2" charset="77"/>
              </a:rPr>
              <a:t> </a:t>
            </a:r>
            <a:r>
              <a:rPr lang="en-US" sz="1400" err="1">
                <a:latin typeface="Poppins" pitchFamily="2" charset="77"/>
                <a:cs typeface="Poppins" pitchFamily="2" charset="77"/>
              </a:rPr>
              <a:t>consequat</a:t>
            </a:r>
            <a:r>
              <a:rPr lang="en-US" sz="1400">
                <a:latin typeface="Poppins" pitchFamily="2" charset="77"/>
                <a:cs typeface="Poppins" pitchFamily="2" charset="77"/>
              </a:rPr>
              <a:t>. Duis </a:t>
            </a:r>
            <a:r>
              <a:rPr lang="en-US" sz="1400" err="1">
                <a:latin typeface="Poppins" pitchFamily="2" charset="77"/>
                <a:cs typeface="Poppins" pitchFamily="2" charset="77"/>
              </a:rPr>
              <a:t>aute</a:t>
            </a:r>
            <a:r>
              <a:rPr lang="en-US" sz="1400">
                <a:latin typeface="Poppins" pitchFamily="2" charset="77"/>
                <a:cs typeface="Poppins" pitchFamily="2" charset="77"/>
              </a:rPr>
              <a:t> </a:t>
            </a:r>
            <a:r>
              <a:rPr lang="en-US" sz="1400" err="1">
                <a:latin typeface="Poppins" pitchFamily="2" charset="77"/>
                <a:cs typeface="Poppins" pitchFamily="2" charset="77"/>
              </a:rPr>
              <a:t>irure</a:t>
            </a:r>
            <a:r>
              <a:rPr lang="en-US" sz="1400">
                <a:latin typeface="Poppins" pitchFamily="2" charset="77"/>
                <a:cs typeface="Poppins" pitchFamily="2" charset="77"/>
              </a:rPr>
              <a:t> dolor in </a:t>
            </a:r>
            <a:r>
              <a:rPr lang="en-US" sz="1400" err="1">
                <a:latin typeface="Poppins" pitchFamily="2" charset="77"/>
                <a:cs typeface="Poppins" pitchFamily="2" charset="77"/>
              </a:rPr>
              <a:t>reprehenderit</a:t>
            </a:r>
            <a:r>
              <a:rPr lang="en-US" sz="1400">
                <a:latin typeface="Poppins" pitchFamily="2" charset="77"/>
                <a:cs typeface="Poppins" pitchFamily="2" charset="77"/>
              </a:rPr>
              <a:t> in </a:t>
            </a:r>
            <a:r>
              <a:rPr lang="en-US" sz="1400" err="1">
                <a:latin typeface="Poppins" pitchFamily="2" charset="77"/>
                <a:cs typeface="Poppins" pitchFamily="2" charset="77"/>
              </a:rPr>
              <a:t>voluptate</a:t>
            </a:r>
            <a:r>
              <a:rPr lang="en-US" sz="1400">
                <a:latin typeface="Poppins" pitchFamily="2" charset="77"/>
                <a:cs typeface="Poppins" pitchFamily="2" charset="77"/>
              </a:rPr>
              <a:t> </a:t>
            </a:r>
            <a:r>
              <a:rPr lang="en-US" sz="1400" err="1">
                <a:latin typeface="Poppins" pitchFamily="2" charset="77"/>
                <a:cs typeface="Poppins" pitchFamily="2" charset="77"/>
              </a:rPr>
              <a:t>velit</a:t>
            </a:r>
            <a:r>
              <a:rPr lang="en-US" sz="1400">
                <a:latin typeface="Poppins" pitchFamily="2" charset="77"/>
                <a:cs typeface="Poppins" pitchFamily="2" charset="77"/>
              </a:rPr>
              <a:t> </a:t>
            </a:r>
            <a:r>
              <a:rPr lang="en-US" sz="1400" err="1">
                <a:latin typeface="Poppins" pitchFamily="2" charset="77"/>
                <a:cs typeface="Poppins" pitchFamily="2" charset="77"/>
              </a:rPr>
              <a:t>esse</a:t>
            </a:r>
            <a:r>
              <a:rPr lang="en-US" sz="1400">
                <a:latin typeface="Poppins" pitchFamily="2" charset="77"/>
                <a:cs typeface="Poppins" pitchFamily="2" charset="77"/>
              </a:rPr>
              <a:t> </a:t>
            </a:r>
            <a:r>
              <a:rPr lang="en-US" sz="1400" err="1">
                <a:latin typeface="Poppins" pitchFamily="2" charset="77"/>
                <a:cs typeface="Poppins" pitchFamily="2" charset="77"/>
              </a:rPr>
              <a:t>cillum</a:t>
            </a:r>
            <a:r>
              <a:rPr lang="en-US" sz="1400">
                <a:latin typeface="Poppins" pitchFamily="2" charset="77"/>
                <a:cs typeface="Poppins" pitchFamily="2" charset="77"/>
              </a:rPr>
              <a:t> dolore </a:t>
            </a:r>
            <a:r>
              <a:rPr lang="en-US" sz="1400" err="1">
                <a:latin typeface="Poppins" pitchFamily="2" charset="77"/>
                <a:cs typeface="Poppins" pitchFamily="2" charset="77"/>
              </a:rPr>
              <a:t>eu</a:t>
            </a:r>
            <a:r>
              <a:rPr lang="en-US" sz="1400">
                <a:latin typeface="Poppins" pitchFamily="2" charset="77"/>
                <a:cs typeface="Poppins" pitchFamily="2" charset="77"/>
              </a:rPr>
              <a:t> </a:t>
            </a:r>
            <a:r>
              <a:rPr lang="en-US" sz="1400" err="1">
                <a:latin typeface="Poppins" pitchFamily="2" charset="77"/>
                <a:cs typeface="Poppins" pitchFamily="2" charset="77"/>
              </a:rPr>
              <a:t>fugiat</a:t>
            </a:r>
            <a:r>
              <a:rPr lang="en-US" sz="1400">
                <a:latin typeface="Poppins" pitchFamily="2" charset="77"/>
                <a:cs typeface="Poppins" pitchFamily="2" charset="77"/>
              </a:rPr>
              <a:t> </a:t>
            </a:r>
            <a:r>
              <a:rPr lang="en-US" sz="1400" err="1">
                <a:latin typeface="Poppins" pitchFamily="2" charset="77"/>
                <a:cs typeface="Poppins" pitchFamily="2" charset="77"/>
              </a:rPr>
              <a:t>nulla</a:t>
            </a:r>
            <a:r>
              <a:rPr lang="en-US" sz="1400">
                <a:latin typeface="Poppins" pitchFamily="2" charset="77"/>
                <a:cs typeface="Poppins" pitchFamily="2" charset="77"/>
              </a:rPr>
              <a:t> </a:t>
            </a:r>
            <a:r>
              <a:rPr lang="en-US" sz="1400" err="1">
                <a:latin typeface="Poppins" pitchFamily="2" charset="77"/>
                <a:cs typeface="Poppins" pitchFamily="2" charset="77"/>
              </a:rPr>
              <a:t>pariatur</a:t>
            </a:r>
            <a:r>
              <a:rPr lang="en-US" sz="1400">
                <a:latin typeface="Poppins" pitchFamily="2" charset="77"/>
                <a:cs typeface="Poppins" pitchFamily="2" charset="77"/>
              </a:rPr>
              <a:t>.</a:t>
            </a:r>
          </a:p>
          <a:p>
            <a:pPr marL="285750" indent="-285750">
              <a:lnSpc>
                <a:spcPct val="110000"/>
              </a:lnSpc>
              <a:spcBef>
                <a:spcPts val="800"/>
              </a:spcBef>
              <a:buClr>
                <a:schemeClr val="accent1"/>
              </a:buClr>
              <a:buFont typeface="Arial" panose="020B0604020202020204" pitchFamily="34" charset="0"/>
              <a:buChar char="•"/>
              <a:defRPr/>
            </a:pPr>
            <a:r>
              <a:rPr lang="en-US" sz="1400" err="1">
                <a:latin typeface="Poppins" pitchFamily="2" charset="77"/>
                <a:cs typeface="Poppins" pitchFamily="2" charset="77"/>
              </a:rPr>
              <a:t>Excepteur</a:t>
            </a:r>
            <a:r>
              <a:rPr lang="en-US" sz="1400">
                <a:latin typeface="Poppins" pitchFamily="2" charset="77"/>
                <a:cs typeface="Poppins" pitchFamily="2" charset="77"/>
              </a:rPr>
              <a:t> </a:t>
            </a:r>
            <a:r>
              <a:rPr lang="en-US" sz="1400" err="1">
                <a:latin typeface="Poppins" pitchFamily="2" charset="77"/>
                <a:cs typeface="Poppins" pitchFamily="2" charset="77"/>
              </a:rPr>
              <a:t>sint</a:t>
            </a:r>
            <a:r>
              <a:rPr lang="en-US" sz="1400">
                <a:latin typeface="Poppins" pitchFamily="2" charset="77"/>
                <a:cs typeface="Poppins" pitchFamily="2" charset="77"/>
              </a:rPr>
              <a:t> </a:t>
            </a:r>
            <a:r>
              <a:rPr lang="en-US" sz="1400" err="1">
                <a:latin typeface="Poppins" pitchFamily="2" charset="77"/>
                <a:cs typeface="Poppins" pitchFamily="2" charset="77"/>
              </a:rPr>
              <a:t>occaecat</a:t>
            </a:r>
            <a:r>
              <a:rPr lang="en-US" sz="1400">
                <a:latin typeface="Poppins" pitchFamily="2" charset="77"/>
                <a:cs typeface="Poppins" pitchFamily="2" charset="77"/>
              </a:rPr>
              <a:t> </a:t>
            </a:r>
            <a:r>
              <a:rPr lang="en-US" sz="1400" err="1">
                <a:latin typeface="Poppins" pitchFamily="2" charset="77"/>
                <a:cs typeface="Poppins" pitchFamily="2" charset="77"/>
              </a:rPr>
              <a:t>cupidatat</a:t>
            </a:r>
            <a:r>
              <a:rPr lang="en-US" sz="1400">
                <a:latin typeface="Poppins" pitchFamily="2" charset="77"/>
                <a:cs typeface="Poppins" pitchFamily="2" charset="77"/>
              </a:rPr>
              <a:t> non </a:t>
            </a:r>
            <a:r>
              <a:rPr lang="en-US" sz="1400" err="1">
                <a:latin typeface="Poppins" pitchFamily="2" charset="77"/>
                <a:cs typeface="Poppins" pitchFamily="2" charset="77"/>
              </a:rPr>
              <a:t>proident</a:t>
            </a:r>
            <a:r>
              <a:rPr lang="en-US" sz="1400">
                <a:latin typeface="Poppins" pitchFamily="2" charset="77"/>
                <a:cs typeface="Poppins" pitchFamily="2" charset="77"/>
              </a:rPr>
              <a:t>, sunt in culpa qui </a:t>
            </a:r>
            <a:r>
              <a:rPr lang="en-US" sz="1400" err="1">
                <a:latin typeface="Poppins" pitchFamily="2" charset="77"/>
                <a:cs typeface="Poppins" pitchFamily="2" charset="77"/>
              </a:rPr>
              <a:t>officia</a:t>
            </a:r>
            <a:r>
              <a:rPr lang="en-US" sz="1400">
                <a:latin typeface="Poppins" pitchFamily="2" charset="77"/>
                <a:cs typeface="Poppins" pitchFamily="2" charset="77"/>
              </a:rPr>
              <a:t> </a:t>
            </a:r>
            <a:r>
              <a:rPr lang="en-US" sz="1400" err="1">
                <a:latin typeface="Poppins" pitchFamily="2" charset="77"/>
                <a:cs typeface="Poppins" pitchFamily="2" charset="77"/>
              </a:rPr>
              <a:t>deserunt</a:t>
            </a:r>
            <a:r>
              <a:rPr lang="en-US" sz="1400">
                <a:latin typeface="Poppins" pitchFamily="2" charset="77"/>
                <a:cs typeface="Poppins" pitchFamily="2" charset="77"/>
              </a:rPr>
              <a:t> </a:t>
            </a:r>
            <a:r>
              <a:rPr lang="en-US" sz="1400" err="1">
                <a:latin typeface="Poppins" pitchFamily="2" charset="77"/>
                <a:cs typeface="Poppins" pitchFamily="2" charset="77"/>
              </a:rPr>
              <a:t>mollit</a:t>
            </a:r>
            <a:r>
              <a:rPr lang="en-US" sz="1400">
                <a:latin typeface="Poppins" pitchFamily="2" charset="77"/>
                <a:cs typeface="Poppins" pitchFamily="2" charset="77"/>
              </a:rPr>
              <a:t> </a:t>
            </a:r>
            <a:r>
              <a:rPr lang="en-US" sz="1400" err="1">
                <a:latin typeface="Poppins" pitchFamily="2" charset="77"/>
                <a:cs typeface="Poppins" pitchFamily="2" charset="77"/>
              </a:rPr>
              <a:t>anim</a:t>
            </a:r>
            <a:r>
              <a:rPr lang="en-US" sz="1400">
                <a:latin typeface="Poppins" pitchFamily="2" charset="77"/>
                <a:cs typeface="Poppins" pitchFamily="2" charset="77"/>
              </a:rPr>
              <a:t> id </a:t>
            </a:r>
            <a:r>
              <a:rPr lang="en-US" sz="1400" err="1">
                <a:latin typeface="Poppins" pitchFamily="2" charset="77"/>
                <a:cs typeface="Poppins" pitchFamily="2" charset="77"/>
              </a:rPr>
              <a:t>est</a:t>
            </a:r>
            <a:r>
              <a:rPr lang="en-US" sz="1400">
                <a:latin typeface="Poppins" pitchFamily="2" charset="77"/>
                <a:cs typeface="Poppins" pitchFamily="2" charset="77"/>
              </a:rPr>
              <a:t> </a:t>
            </a:r>
            <a:r>
              <a:rPr lang="en-US" sz="1400" err="1">
                <a:latin typeface="Poppins" pitchFamily="2" charset="77"/>
                <a:cs typeface="Poppins" pitchFamily="2" charset="77"/>
              </a:rPr>
              <a:t>laborum</a:t>
            </a:r>
            <a:r>
              <a:rPr lang="en-US" sz="1400">
                <a:latin typeface="Poppins" pitchFamily="2" charset="77"/>
                <a:cs typeface="Poppins" pitchFamily="2" charset="77"/>
              </a:rPr>
              <a:t>.</a:t>
            </a:r>
          </a:p>
        </p:txBody>
      </p:sp>
    </p:spTree>
    <p:extLst>
      <p:ext uri="{BB962C8B-B14F-4D97-AF65-F5344CB8AC3E}">
        <p14:creationId xmlns:p14="http://schemas.microsoft.com/office/powerpoint/2010/main" val="26136419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9" name="Picture 38" descr="A flat screen tv sitting on top of a computer&#10;&#10;Description automatically generated">
            <a:extLst>
              <a:ext uri="{FF2B5EF4-FFF2-40B4-BE49-F238E27FC236}">
                <a16:creationId xmlns:a16="http://schemas.microsoft.com/office/drawing/2014/main" id="{DE6EFFDB-1A1E-8208-8D7B-FF7AF78E96C6}"/>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 r="29295"/>
          <a:stretch/>
        </p:blipFill>
        <p:spPr>
          <a:xfrm>
            <a:off x="5186971" y="509601"/>
            <a:ext cx="7005030" cy="5838798"/>
          </a:xfrm>
          <a:prstGeom prst="rect">
            <a:avLst/>
          </a:prstGeom>
        </p:spPr>
      </p:pic>
      <p:sp>
        <p:nvSpPr>
          <p:cNvPr id="3" name="TextBox 2">
            <a:extLst>
              <a:ext uri="{FF2B5EF4-FFF2-40B4-BE49-F238E27FC236}">
                <a16:creationId xmlns:a16="http://schemas.microsoft.com/office/drawing/2014/main" id="{17A0A352-DFFD-A348-CF6F-933CE7A841E7}"/>
              </a:ext>
            </a:extLst>
          </p:cNvPr>
          <p:cNvSpPr txBox="1"/>
          <p:nvPr/>
        </p:nvSpPr>
        <p:spPr>
          <a:xfrm>
            <a:off x="843490" y="1072586"/>
            <a:ext cx="4556535" cy="4712829"/>
          </a:xfrm>
          <a:prstGeom prst="rect">
            <a:avLst/>
          </a:prstGeom>
          <a:noFill/>
        </p:spPr>
        <p:txBody>
          <a:bodyPr wrap="square" rtlCol="0" anchor="ctr">
            <a:spAutoFit/>
          </a:bodyPr>
          <a:lstStyle/>
          <a:p>
            <a:pPr>
              <a:lnSpc>
                <a:spcPct val="95000"/>
              </a:lnSpc>
              <a:spcBef>
                <a:spcPct val="0"/>
              </a:spcBef>
              <a:defRPr/>
            </a:pPr>
            <a:r>
              <a:rPr lang="en-US" sz="3200" b="1">
                <a:solidFill>
                  <a:schemeClr val="accent1"/>
                </a:solidFill>
                <a:latin typeface="+mj-lt"/>
                <a:ea typeface="+mj-ea"/>
                <a:cs typeface="+mj-cs"/>
              </a:rPr>
              <a:t>Lorem ipsum dolor sit </a:t>
            </a:r>
            <a:r>
              <a:rPr lang="en-US" sz="3200" b="1" err="1">
                <a:solidFill>
                  <a:schemeClr val="accent1"/>
                </a:solidFill>
                <a:latin typeface="+mj-lt"/>
                <a:ea typeface="+mj-ea"/>
                <a:cs typeface="+mj-cs"/>
              </a:rPr>
              <a:t>amet</a:t>
            </a:r>
            <a:r>
              <a:rPr lang="en-US" sz="3200" b="1">
                <a:solidFill>
                  <a:schemeClr val="accent1"/>
                </a:solidFill>
                <a:latin typeface="+mj-lt"/>
                <a:ea typeface="+mj-ea"/>
                <a:cs typeface="+mj-cs"/>
              </a:rPr>
              <a:t> et dolore magna </a:t>
            </a:r>
            <a:r>
              <a:rPr lang="en-US" sz="3200" b="1" err="1">
                <a:solidFill>
                  <a:schemeClr val="accent1"/>
                </a:solidFill>
                <a:latin typeface="+mj-lt"/>
                <a:ea typeface="+mj-ea"/>
                <a:cs typeface="+mj-cs"/>
              </a:rPr>
              <a:t>aliqua</a:t>
            </a:r>
            <a:endParaRPr lang="en-US" sz="3200" b="1">
              <a:solidFill>
                <a:schemeClr val="accent1"/>
              </a:solidFill>
              <a:latin typeface="+mj-lt"/>
              <a:ea typeface="+mj-ea"/>
              <a:cs typeface="+mj-cs"/>
            </a:endParaRPr>
          </a:p>
          <a:p>
            <a:pPr marL="285750" indent="-285750">
              <a:lnSpc>
                <a:spcPct val="110000"/>
              </a:lnSpc>
              <a:spcBef>
                <a:spcPts val="1000"/>
              </a:spcBef>
              <a:buClr>
                <a:schemeClr val="accent1"/>
              </a:buClr>
              <a:buFont typeface="Arial" panose="020B0604020202020204" pitchFamily="34" charset="0"/>
              <a:buChar char="•"/>
              <a:defRPr/>
            </a:pPr>
            <a:r>
              <a:rPr lang="en-US" sz="1400">
                <a:latin typeface="Poppins" pitchFamily="2" charset="77"/>
                <a:cs typeface="Poppins" pitchFamily="2" charset="77"/>
              </a:rPr>
              <a:t>Lorem ipsum dolor sit </a:t>
            </a:r>
            <a:r>
              <a:rPr lang="en-US" sz="1400" err="1">
                <a:latin typeface="Poppins" pitchFamily="2" charset="77"/>
                <a:cs typeface="Poppins" pitchFamily="2" charset="77"/>
              </a:rPr>
              <a:t>amet</a:t>
            </a:r>
            <a:r>
              <a:rPr lang="en-US" sz="1400">
                <a:latin typeface="Poppins" pitchFamily="2" charset="77"/>
                <a:cs typeface="Poppins" pitchFamily="2" charset="77"/>
              </a:rPr>
              <a:t>, </a:t>
            </a:r>
            <a:r>
              <a:rPr lang="en-US" sz="1400" err="1">
                <a:latin typeface="Poppins" pitchFamily="2" charset="77"/>
                <a:cs typeface="Poppins" pitchFamily="2" charset="77"/>
              </a:rPr>
              <a:t>consectetur</a:t>
            </a:r>
            <a:r>
              <a:rPr lang="en-US" sz="1400">
                <a:latin typeface="Poppins" pitchFamily="2" charset="77"/>
                <a:cs typeface="Poppins" pitchFamily="2" charset="77"/>
              </a:rPr>
              <a:t> </a:t>
            </a:r>
            <a:r>
              <a:rPr lang="en-US" sz="1400" err="1">
                <a:latin typeface="Poppins" pitchFamily="2" charset="77"/>
                <a:cs typeface="Poppins" pitchFamily="2" charset="77"/>
              </a:rPr>
              <a:t>adipiscing</a:t>
            </a:r>
            <a:r>
              <a:rPr lang="en-US" sz="1400">
                <a:latin typeface="Poppins" pitchFamily="2" charset="77"/>
                <a:cs typeface="Poppins" pitchFamily="2" charset="77"/>
              </a:rPr>
              <a:t> </a:t>
            </a:r>
            <a:r>
              <a:rPr lang="en-US" sz="1400" err="1">
                <a:latin typeface="Poppins" pitchFamily="2" charset="77"/>
                <a:cs typeface="Poppins" pitchFamily="2" charset="77"/>
              </a:rPr>
              <a:t>elit</a:t>
            </a:r>
            <a:r>
              <a:rPr lang="en-US" sz="1400">
                <a:latin typeface="Poppins" pitchFamily="2" charset="77"/>
                <a:cs typeface="Poppins" pitchFamily="2" charset="77"/>
              </a:rPr>
              <a:t> sed do </a:t>
            </a:r>
            <a:r>
              <a:rPr lang="en-US" sz="1400" err="1">
                <a:latin typeface="Poppins" pitchFamily="2" charset="77"/>
                <a:cs typeface="Poppins" pitchFamily="2" charset="77"/>
              </a:rPr>
              <a:t>eiusmod</a:t>
            </a:r>
            <a:r>
              <a:rPr lang="en-US" sz="1400">
                <a:latin typeface="Poppins" pitchFamily="2" charset="77"/>
                <a:cs typeface="Poppins" pitchFamily="2" charset="77"/>
              </a:rPr>
              <a:t> </a:t>
            </a:r>
            <a:r>
              <a:rPr lang="en-US" sz="1400" err="1">
                <a:latin typeface="Poppins" pitchFamily="2" charset="77"/>
                <a:cs typeface="Poppins" pitchFamily="2" charset="77"/>
              </a:rPr>
              <a:t>tempor</a:t>
            </a:r>
            <a:endParaRPr lang="en-US" sz="1400">
              <a:latin typeface="Poppins" pitchFamily="2" charset="77"/>
              <a:cs typeface="Poppins" pitchFamily="2" charset="77"/>
            </a:endParaRPr>
          </a:p>
          <a:p>
            <a:pPr marL="285750" indent="-285750">
              <a:lnSpc>
                <a:spcPct val="110000"/>
              </a:lnSpc>
              <a:spcBef>
                <a:spcPts val="1000"/>
              </a:spcBef>
              <a:buClr>
                <a:schemeClr val="accent1"/>
              </a:buClr>
              <a:buFont typeface="Arial" panose="020B0604020202020204" pitchFamily="34" charset="0"/>
              <a:buChar char="•"/>
              <a:defRPr/>
            </a:pPr>
            <a:r>
              <a:rPr lang="en-US" sz="1400" err="1">
                <a:latin typeface="Poppins" pitchFamily="2" charset="77"/>
                <a:cs typeface="Poppins" pitchFamily="2" charset="77"/>
              </a:rPr>
              <a:t>Incididunt</a:t>
            </a:r>
            <a:r>
              <a:rPr lang="en-US" sz="1400">
                <a:latin typeface="Poppins" pitchFamily="2" charset="77"/>
                <a:cs typeface="Poppins" pitchFamily="2" charset="77"/>
              </a:rPr>
              <a:t> </a:t>
            </a:r>
            <a:r>
              <a:rPr lang="en-US" sz="1400" err="1">
                <a:latin typeface="Poppins" pitchFamily="2" charset="77"/>
                <a:cs typeface="Poppins" pitchFamily="2" charset="77"/>
              </a:rPr>
              <a:t>ut</a:t>
            </a:r>
            <a:r>
              <a:rPr lang="en-US" sz="1400">
                <a:latin typeface="Poppins" pitchFamily="2" charset="77"/>
                <a:cs typeface="Poppins" pitchFamily="2" charset="77"/>
              </a:rPr>
              <a:t> labore et dolore magna </a:t>
            </a:r>
            <a:r>
              <a:rPr lang="en-US" sz="1400" err="1">
                <a:latin typeface="Poppins" pitchFamily="2" charset="77"/>
                <a:cs typeface="Poppins" pitchFamily="2" charset="77"/>
              </a:rPr>
              <a:t>aliqua</a:t>
            </a:r>
            <a:r>
              <a:rPr lang="en-US" sz="1400">
                <a:latin typeface="Poppins" pitchFamily="2" charset="77"/>
                <a:cs typeface="Poppins" pitchFamily="2" charset="77"/>
              </a:rPr>
              <a:t>. Ut </a:t>
            </a:r>
            <a:r>
              <a:rPr lang="en-US" sz="1400" err="1">
                <a:latin typeface="Poppins" pitchFamily="2" charset="77"/>
                <a:cs typeface="Poppins" pitchFamily="2" charset="77"/>
              </a:rPr>
              <a:t>enim</a:t>
            </a:r>
            <a:r>
              <a:rPr lang="en-US" sz="1400">
                <a:latin typeface="Poppins" pitchFamily="2" charset="77"/>
                <a:cs typeface="Poppins" pitchFamily="2" charset="77"/>
              </a:rPr>
              <a:t> ad minim </a:t>
            </a:r>
            <a:r>
              <a:rPr lang="en-US" sz="1400" err="1">
                <a:latin typeface="Poppins" pitchFamily="2" charset="77"/>
                <a:cs typeface="Poppins" pitchFamily="2" charset="77"/>
              </a:rPr>
              <a:t>veniam</a:t>
            </a:r>
            <a:r>
              <a:rPr lang="en-US" sz="1400">
                <a:latin typeface="Poppins" pitchFamily="2" charset="77"/>
                <a:cs typeface="Poppins" pitchFamily="2" charset="77"/>
              </a:rPr>
              <a:t>, </a:t>
            </a:r>
            <a:r>
              <a:rPr lang="en-US" sz="1400" err="1">
                <a:latin typeface="Poppins" pitchFamily="2" charset="77"/>
                <a:cs typeface="Poppins" pitchFamily="2" charset="77"/>
              </a:rPr>
              <a:t>quis</a:t>
            </a:r>
            <a:r>
              <a:rPr lang="en-US" sz="1400">
                <a:latin typeface="Poppins" pitchFamily="2" charset="77"/>
                <a:cs typeface="Poppins" pitchFamily="2" charset="77"/>
              </a:rPr>
              <a:t> </a:t>
            </a:r>
            <a:r>
              <a:rPr lang="en-US" sz="1400" err="1">
                <a:latin typeface="Poppins" pitchFamily="2" charset="77"/>
                <a:cs typeface="Poppins" pitchFamily="2" charset="77"/>
              </a:rPr>
              <a:t>nostrud</a:t>
            </a:r>
            <a:r>
              <a:rPr lang="en-US" sz="1400">
                <a:latin typeface="Poppins" pitchFamily="2" charset="77"/>
                <a:cs typeface="Poppins" pitchFamily="2" charset="77"/>
              </a:rPr>
              <a:t> exercitation </a:t>
            </a:r>
            <a:r>
              <a:rPr lang="en-US" sz="1400" err="1">
                <a:latin typeface="Poppins" pitchFamily="2" charset="77"/>
                <a:cs typeface="Poppins" pitchFamily="2" charset="77"/>
              </a:rPr>
              <a:t>ullamco</a:t>
            </a:r>
            <a:r>
              <a:rPr lang="en-US" sz="1400">
                <a:latin typeface="Poppins" pitchFamily="2" charset="77"/>
                <a:cs typeface="Poppins" pitchFamily="2" charset="77"/>
              </a:rPr>
              <a:t> </a:t>
            </a:r>
            <a:r>
              <a:rPr lang="en-US" sz="1400" err="1">
                <a:latin typeface="Poppins" pitchFamily="2" charset="77"/>
                <a:cs typeface="Poppins" pitchFamily="2" charset="77"/>
              </a:rPr>
              <a:t>laboris</a:t>
            </a:r>
            <a:r>
              <a:rPr lang="en-US" sz="1400">
                <a:latin typeface="Poppins" pitchFamily="2" charset="77"/>
                <a:cs typeface="Poppins" pitchFamily="2" charset="77"/>
              </a:rPr>
              <a:t> nisi </a:t>
            </a:r>
            <a:r>
              <a:rPr lang="en-US" sz="1400" err="1">
                <a:latin typeface="Poppins" pitchFamily="2" charset="77"/>
                <a:cs typeface="Poppins" pitchFamily="2" charset="77"/>
              </a:rPr>
              <a:t>ut</a:t>
            </a:r>
            <a:r>
              <a:rPr lang="en-US" sz="1400">
                <a:latin typeface="Poppins" pitchFamily="2" charset="77"/>
                <a:cs typeface="Poppins" pitchFamily="2" charset="77"/>
              </a:rPr>
              <a:t> </a:t>
            </a:r>
            <a:r>
              <a:rPr lang="en-US" sz="1400" err="1">
                <a:latin typeface="Poppins" pitchFamily="2" charset="77"/>
                <a:cs typeface="Poppins" pitchFamily="2" charset="77"/>
              </a:rPr>
              <a:t>aliquip</a:t>
            </a:r>
            <a:r>
              <a:rPr lang="en-US" sz="1400">
                <a:latin typeface="Poppins" pitchFamily="2" charset="77"/>
                <a:cs typeface="Poppins" pitchFamily="2" charset="77"/>
              </a:rPr>
              <a:t> </a:t>
            </a:r>
            <a:br>
              <a:rPr lang="en-US" sz="1400">
                <a:latin typeface="Poppins" pitchFamily="2" charset="77"/>
                <a:cs typeface="Poppins" pitchFamily="2" charset="77"/>
              </a:rPr>
            </a:br>
            <a:r>
              <a:rPr lang="en-US" sz="1400">
                <a:latin typeface="Poppins" pitchFamily="2" charset="77"/>
                <a:cs typeface="Poppins" pitchFamily="2" charset="77"/>
              </a:rPr>
              <a:t>ex </a:t>
            </a:r>
            <a:r>
              <a:rPr lang="en-US" sz="1400" err="1">
                <a:latin typeface="Poppins" pitchFamily="2" charset="77"/>
                <a:cs typeface="Poppins" pitchFamily="2" charset="77"/>
              </a:rPr>
              <a:t>ea</a:t>
            </a:r>
            <a:r>
              <a:rPr lang="en-US" sz="1400">
                <a:latin typeface="Poppins" pitchFamily="2" charset="77"/>
                <a:cs typeface="Poppins" pitchFamily="2" charset="77"/>
              </a:rPr>
              <a:t> </a:t>
            </a:r>
            <a:r>
              <a:rPr lang="en-US" sz="1400" err="1">
                <a:latin typeface="Poppins" pitchFamily="2" charset="77"/>
                <a:cs typeface="Poppins" pitchFamily="2" charset="77"/>
              </a:rPr>
              <a:t>commodo</a:t>
            </a:r>
            <a:r>
              <a:rPr lang="en-US" sz="1400">
                <a:latin typeface="Poppins" pitchFamily="2" charset="77"/>
                <a:cs typeface="Poppins" pitchFamily="2" charset="77"/>
              </a:rPr>
              <a:t> </a:t>
            </a:r>
            <a:r>
              <a:rPr lang="en-US" sz="1400" err="1">
                <a:latin typeface="Poppins" pitchFamily="2" charset="77"/>
                <a:cs typeface="Poppins" pitchFamily="2" charset="77"/>
              </a:rPr>
              <a:t>consequat</a:t>
            </a:r>
            <a:r>
              <a:rPr lang="en-US" sz="1400">
                <a:latin typeface="Poppins" pitchFamily="2" charset="77"/>
                <a:cs typeface="Poppins" pitchFamily="2" charset="77"/>
              </a:rPr>
              <a:t>.</a:t>
            </a:r>
          </a:p>
          <a:p>
            <a:pPr marL="285750" indent="-285750">
              <a:lnSpc>
                <a:spcPct val="110000"/>
              </a:lnSpc>
              <a:spcBef>
                <a:spcPts val="1000"/>
              </a:spcBef>
              <a:buClr>
                <a:schemeClr val="accent1"/>
              </a:buClr>
              <a:buFont typeface="Arial" panose="020B0604020202020204" pitchFamily="34" charset="0"/>
              <a:buChar char="•"/>
              <a:defRPr/>
            </a:pPr>
            <a:r>
              <a:rPr lang="en-US" sz="1400">
                <a:latin typeface="Poppins" pitchFamily="2" charset="77"/>
                <a:cs typeface="Poppins" pitchFamily="2" charset="77"/>
              </a:rPr>
              <a:t>Duis </a:t>
            </a:r>
            <a:r>
              <a:rPr lang="en-US" sz="1400" err="1">
                <a:latin typeface="Poppins" pitchFamily="2" charset="77"/>
                <a:cs typeface="Poppins" pitchFamily="2" charset="77"/>
              </a:rPr>
              <a:t>aute</a:t>
            </a:r>
            <a:r>
              <a:rPr lang="en-US" sz="1400">
                <a:latin typeface="Poppins" pitchFamily="2" charset="77"/>
                <a:cs typeface="Poppins" pitchFamily="2" charset="77"/>
              </a:rPr>
              <a:t> </a:t>
            </a:r>
            <a:r>
              <a:rPr lang="en-US" sz="1400" err="1">
                <a:latin typeface="Poppins" pitchFamily="2" charset="77"/>
                <a:cs typeface="Poppins" pitchFamily="2" charset="77"/>
              </a:rPr>
              <a:t>irure</a:t>
            </a:r>
            <a:r>
              <a:rPr lang="en-US" sz="1400">
                <a:latin typeface="Poppins" pitchFamily="2" charset="77"/>
                <a:cs typeface="Poppins" pitchFamily="2" charset="77"/>
              </a:rPr>
              <a:t> dolor in </a:t>
            </a:r>
            <a:r>
              <a:rPr lang="en-US" sz="1400" err="1">
                <a:latin typeface="Poppins" pitchFamily="2" charset="77"/>
                <a:cs typeface="Poppins" pitchFamily="2" charset="77"/>
              </a:rPr>
              <a:t>reprehenderit</a:t>
            </a:r>
            <a:r>
              <a:rPr lang="en-US" sz="1400">
                <a:latin typeface="Poppins" pitchFamily="2" charset="77"/>
                <a:cs typeface="Poppins" pitchFamily="2" charset="77"/>
              </a:rPr>
              <a:t> in </a:t>
            </a:r>
            <a:r>
              <a:rPr lang="en-US" sz="1400" err="1">
                <a:latin typeface="Poppins" pitchFamily="2" charset="77"/>
                <a:cs typeface="Poppins" pitchFamily="2" charset="77"/>
              </a:rPr>
              <a:t>voluptate</a:t>
            </a:r>
            <a:r>
              <a:rPr lang="en-US" sz="1400">
                <a:latin typeface="Poppins" pitchFamily="2" charset="77"/>
                <a:cs typeface="Poppins" pitchFamily="2" charset="77"/>
              </a:rPr>
              <a:t> </a:t>
            </a:r>
            <a:r>
              <a:rPr lang="en-US" sz="1400" err="1">
                <a:latin typeface="Poppins" pitchFamily="2" charset="77"/>
                <a:cs typeface="Poppins" pitchFamily="2" charset="77"/>
              </a:rPr>
              <a:t>velit</a:t>
            </a:r>
            <a:r>
              <a:rPr lang="en-US" sz="1400">
                <a:latin typeface="Poppins" pitchFamily="2" charset="77"/>
                <a:cs typeface="Poppins" pitchFamily="2" charset="77"/>
              </a:rPr>
              <a:t> </a:t>
            </a:r>
            <a:r>
              <a:rPr lang="en-US" sz="1400" err="1">
                <a:latin typeface="Poppins" pitchFamily="2" charset="77"/>
                <a:cs typeface="Poppins" pitchFamily="2" charset="77"/>
              </a:rPr>
              <a:t>esse</a:t>
            </a:r>
            <a:r>
              <a:rPr lang="en-US" sz="1400">
                <a:latin typeface="Poppins" pitchFamily="2" charset="77"/>
                <a:cs typeface="Poppins" pitchFamily="2" charset="77"/>
              </a:rPr>
              <a:t> </a:t>
            </a:r>
            <a:r>
              <a:rPr lang="en-US" sz="1400" err="1">
                <a:latin typeface="Poppins" pitchFamily="2" charset="77"/>
                <a:cs typeface="Poppins" pitchFamily="2" charset="77"/>
              </a:rPr>
              <a:t>cillum</a:t>
            </a:r>
            <a:r>
              <a:rPr lang="en-US" sz="1400">
                <a:latin typeface="Poppins" pitchFamily="2" charset="77"/>
                <a:cs typeface="Poppins" pitchFamily="2" charset="77"/>
              </a:rPr>
              <a:t> dolore </a:t>
            </a:r>
            <a:r>
              <a:rPr lang="en-US" sz="1400" err="1">
                <a:latin typeface="Poppins" pitchFamily="2" charset="77"/>
                <a:cs typeface="Poppins" pitchFamily="2" charset="77"/>
              </a:rPr>
              <a:t>eu</a:t>
            </a:r>
            <a:r>
              <a:rPr lang="en-US" sz="1400">
                <a:latin typeface="Poppins" pitchFamily="2" charset="77"/>
                <a:cs typeface="Poppins" pitchFamily="2" charset="77"/>
              </a:rPr>
              <a:t> </a:t>
            </a:r>
            <a:r>
              <a:rPr lang="en-US" sz="1400" err="1">
                <a:latin typeface="Poppins" pitchFamily="2" charset="77"/>
                <a:cs typeface="Poppins" pitchFamily="2" charset="77"/>
              </a:rPr>
              <a:t>fugiat</a:t>
            </a:r>
            <a:r>
              <a:rPr lang="en-US" sz="1400">
                <a:latin typeface="Poppins" pitchFamily="2" charset="77"/>
                <a:cs typeface="Poppins" pitchFamily="2" charset="77"/>
              </a:rPr>
              <a:t> </a:t>
            </a:r>
          </a:p>
          <a:p>
            <a:pPr marL="285750" indent="-285750">
              <a:lnSpc>
                <a:spcPct val="110000"/>
              </a:lnSpc>
              <a:spcBef>
                <a:spcPts val="1000"/>
              </a:spcBef>
              <a:buClr>
                <a:schemeClr val="accent1"/>
              </a:buClr>
              <a:buFont typeface="Arial" panose="020B0604020202020204" pitchFamily="34" charset="0"/>
              <a:buChar char="•"/>
              <a:defRPr/>
            </a:pPr>
            <a:r>
              <a:rPr lang="en-US" sz="1400" err="1">
                <a:latin typeface="Poppins" pitchFamily="2" charset="77"/>
                <a:cs typeface="Poppins" pitchFamily="2" charset="77"/>
              </a:rPr>
              <a:t>Excepteur</a:t>
            </a:r>
            <a:r>
              <a:rPr lang="en-US" sz="1400">
                <a:latin typeface="Poppins" pitchFamily="2" charset="77"/>
                <a:cs typeface="Poppins" pitchFamily="2" charset="77"/>
              </a:rPr>
              <a:t> </a:t>
            </a:r>
            <a:r>
              <a:rPr lang="en-US" sz="1400" err="1">
                <a:latin typeface="Poppins" pitchFamily="2" charset="77"/>
                <a:cs typeface="Poppins" pitchFamily="2" charset="77"/>
              </a:rPr>
              <a:t>sint</a:t>
            </a:r>
            <a:r>
              <a:rPr lang="en-US" sz="1400">
                <a:latin typeface="Poppins" pitchFamily="2" charset="77"/>
                <a:cs typeface="Poppins" pitchFamily="2" charset="77"/>
              </a:rPr>
              <a:t> </a:t>
            </a:r>
            <a:r>
              <a:rPr lang="en-US" sz="1400" err="1">
                <a:latin typeface="Poppins" pitchFamily="2" charset="77"/>
                <a:cs typeface="Poppins" pitchFamily="2" charset="77"/>
              </a:rPr>
              <a:t>occaecat</a:t>
            </a:r>
            <a:r>
              <a:rPr lang="en-US" sz="1400">
                <a:latin typeface="Poppins" pitchFamily="2" charset="77"/>
                <a:cs typeface="Poppins" pitchFamily="2" charset="77"/>
              </a:rPr>
              <a:t> </a:t>
            </a:r>
            <a:r>
              <a:rPr lang="en-US" sz="1400" err="1">
                <a:latin typeface="Poppins" pitchFamily="2" charset="77"/>
                <a:cs typeface="Poppins" pitchFamily="2" charset="77"/>
              </a:rPr>
              <a:t>cupidatat</a:t>
            </a:r>
            <a:r>
              <a:rPr lang="en-US" sz="1400">
                <a:latin typeface="Poppins" pitchFamily="2" charset="77"/>
                <a:cs typeface="Poppins" pitchFamily="2" charset="77"/>
              </a:rPr>
              <a:t> non </a:t>
            </a:r>
            <a:r>
              <a:rPr lang="en-US" sz="1400" err="1">
                <a:latin typeface="Poppins" pitchFamily="2" charset="77"/>
                <a:cs typeface="Poppins" pitchFamily="2" charset="77"/>
              </a:rPr>
              <a:t>proident</a:t>
            </a:r>
            <a:r>
              <a:rPr lang="en-US" sz="1400">
                <a:latin typeface="Poppins" pitchFamily="2" charset="77"/>
                <a:cs typeface="Poppins" pitchFamily="2" charset="77"/>
              </a:rPr>
              <a:t>, sunt in culpa qui </a:t>
            </a:r>
            <a:r>
              <a:rPr lang="en-US" sz="1400" err="1">
                <a:latin typeface="Poppins" pitchFamily="2" charset="77"/>
                <a:cs typeface="Poppins" pitchFamily="2" charset="77"/>
              </a:rPr>
              <a:t>officia</a:t>
            </a:r>
            <a:r>
              <a:rPr lang="en-US" sz="1400">
                <a:latin typeface="Poppins" pitchFamily="2" charset="77"/>
                <a:cs typeface="Poppins" pitchFamily="2" charset="77"/>
              </a:rPr>
              <a:t> </a:t>
            </a:r>
            <a:r>
              <a:rPr lang="en-US" sz="1400" err="1">
                <a:latin typeface="Poppins" pitchFamily="2" charset="77"/>
                <a:cs typeface="Poppins" pitchFamily="2" charset="77"/>
              </a:rPr>
              <a:t>deserunt</a:t>
            </a:r>
            <a:r>
              <a:rPr lang="en-US" sz="1400">
                <a:latin typeface="Poppins" pitchFamily="2" charset="77"/>
                <a:cs typeface="Poppins" pitchFamily="2" charset="77"/>
              </a:rPr>
              <a:t> </a:t>
            </a:r>
            <a:r>
              <a:rPr lang="en-US" sz="1400" err="1">
                <a:latin typeface="Poppins" pitchFamily="2" charset="77"/>
                <a:cs typeface="Poppins" pitchFamily="2" charset="77"/>
              </a:rPr>
              <a:t>mollit</a:t>
            </a:r>
            <a:r>
              <a:rPr lang="en-US" sz="1400">
                <a:latin typeface="Poppins" pitchFamily="2" charset="77"/>
                <a:cs typeface="Poppins" pitchFamily="2" charset="77"/>
              </a:rPr>
              <a:t> </a:t>
            </a:r>
            <a:r>
              <a:rPr lang="en-US" sz="1400" err="1">
                <a:latin typeface="Poppins" pitchFamily="2" charset="77"/>
                <a:cs typeface="Poppins" pitchFamily="2" charset="77"/>
              </a:rPr>
              <a:t>anim</a:t>
            </a:r>
            <a:r>
              <a:rPr lang="en-US" sz="1400">
                <a:latin typeface="Poppins" pitchFamily="2" charset="77"/>
                <a:cs typeface="Poppins" pitchFamily="2" charset="77"/>
              </a:rPr>
              <a:t> id </a:t>
            </a:r>
            <a:r>
              <a:rPr lang="en-US" sz="1400" err="1">
                <a:latin typeface="Poppins" pitchFamily="2" charset="77"/>
                <a:cs typeface="Poppins" pitchFamily="2" charset="77"/>
              </a:rPr>
              <a:t>est</a:t>
            </a:r>
            <a:r>
              <a:rPr lang="en-US" sz="1400">
                <a:latin typeface="Poppins" pitchFamily="2" charset="77"/>
                <a:cs typeface="Poppins" pitchFamily="2" charset="77"/>
              </a:rPr>
              <a:t> </a:t>
            </a:r>
            <a:r>
              <a:rPr lang="en-US" sz="1400" err="1">
                <a:latin typeface="Poppins" pitchFamily="2" charset="77"/>
                <a:cs typeface="Poppins" pitchFamily="2" charset="77"/>
              </a:rPr>
              <a:t>laborum</a:t>
            </a:r>
            <a:r>
              <a:rPr lang="en-US" sz="1400">
                <a:latin typeface="Poppins" pitchFamily="2" charset="77"/>
                <a:cs typeface="Poppins" pitchFamily="2" charset="77"/>
              </a:rPr>
              <a:t>.</a:t>
            </a:r>
          </a:p>
        </p:txBody>
      </p:sp>
    </p:spTree>
    <p:extLst>
      <p:ext uri="{BB962C8B-B14F-4D97-AF65-F5344CB8AC3E}">
        <p14:creationId xmlns:p14="http://schemas.microsoft.com/office/powerpoint/2010/main" val="9797283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bg>
      <p:bgPr>
        <a:solidFill>
          <a:schemeClr val="tx2"/>
        </a:solidFill>
        <a:effectLst/>
      </p:bgPr>
    </p:bg>
    <p:spTree>
      <p:nvGrpSpPr>
        <p:cNvPr id="1" name="">
          <a:extLst>
            <a:ext uri="{FF2B5EF4-FFF2-40B4-BE49-F238E27FC236}">
              <a16:creationId xmlns:a16="http://schemas.microsoft.com/office/drawing/2014/main" id="{36904302-D54D-D318-9568-00B4E8B014CC}"/>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DF25094B-A2DE-D053-1EB5-0C8E344A5827}"/>
              </a:ext>
            </a:extLst>
          </p:cNvPr>
          <p:cNvSpPr txBox="1">
            <a:spLocks/>
          </p:cNvSpPr>
          <p:nvPr/>
        </p:nvSpPr>
        <p:spPr>
          <a:xfrm>
            <a:off x="838200" y="2240918"/>
            <a:ext cx="10515600" cy="2376163"/>
          </a:xfrm>
          <a:prstGeom prst="rect">
            <a:avLst/>
          </a:prstGeom>
        </p:spPr>
        <p:txBody>
          <a:bodyPr vert="horz" lIns="91440" tIns="91440" rIns="91440" bIns="91440" rtlCol="0" anchor="ctr">
            <a:spAutoFit/>
          </a:bodyPr>
          <a:lstStyle>
            <a:lvl1pPr algn="l" defTabSz="914377" rtl="0" eaLnBrk="1" latinLnBrk="0" hangingPunct="1">
              <a:lnSpc>
                <a:spcPct val="95000"/>
              </a:lnSpc>
              <a:spcBef>
                <a:spcPct val="0"/>
              </a:spcBef>
              <a:buNone/>
              <a:defRPr sz="3200" b="1" kern="1200">
                <a:solidFill>
                  <a:schemeClr val="accent4"/>
                </a:solidFill>
                <a:latin typeface="Poppins" panose="00000500000000000000" pitchFamily="2" charset="0"/>
                <a:ea typeface="+mj-ea"/>
                <a:cs typeface="Poppins" panose="00000500000000000000" pitchFamily="2" charset="0"/>
              </a:defRPr>
            </a:lvl1pPr>
          </a:lstStyle>
          <a:p>
            <a:pPr algn="ctr">
              <a:lnSpc>
                <a:spcPct val="112000"/>
              </a:lnSpc>
            </a:pPr>
            <a:r>
              <a:rPr lang="en-US">
                <a:solidFill>
                  <a:schemeClr val="accent1"/>
                </a:solidFill>
                <a:latin typeface="Poppins SemiBold" pitchFamily="2" charset="77"/>
                <a:cs typeface="Poppins SemiBold" pitchFamily="2" charset="77"/>
              </a:rPr>
              <a:t>Lorem ipsum dolor sit </a:t>
            </a:r>
            <a:r>
              <a:rPr lang="en-US" err="1">
                <a:solidFill>
                  <a:schemeClr val="accent1"/>
                </a:solidFill>
                <a:latin typeface="Poppins SemiBold" pitchFamily="2" charset="77"/>
                <a:cs typeface="Poppins SemiBold" pitchFamily="2" charset="77"/>
              </a:rPr>
              <a:t>amet</a:t>
            </a:r>
            <a:r>
              <a:rPr lang="en-US" b="0">
                <a:solidFill>
                  <a:schemeClr val="bg1"/>
                </a:solidFill>
                <a:latin typeface="Poppins" pitchFamily="2" charset="77"/>
                <a:cs typeface="Poppins" pitchFamily="2" charset="77"/>
              </a:rPr>
              <a:t>, </a:t>
            </a:r>
            <a:r>
              <a:rPr lang="en-US" b="0" err="1">
                <a:solidFill>
                  <a:schemeClr val="bg1"/>
                </a:solidFill>
                <a:latin typeface="Poppins" pitchFamily="2" charset="77"/>
                <a:cs typeface="Poppins" pitchFamily="2" charset="77"/>
              </a:rPr>
              <a:t>consectetur</a:t>
            </a:r>
            <a:r>
              <a:rPr lang="en-US" b="0">
                <a:solidFill>
                  <a:schemeClr val="bg1"/>
                </a:solidFill>
                <a:latin typeface="Poppins" pitchFamily="2" charset="77"/>
                <a:cs typeface="Poppins" pitchFamily="2" charset="77"/>
              </a:rPr>
              <a:t> </a:t>
            </a:r>
            <a:r>
              <a:rPr lang="en-US" b="0" err="1">
                <a:solidFill>
                  <a:schemeClr val="bg1"/>
                </a:solidFill>
                <a:latin typeface="Poppins" pitchFamily="2" charset="77"/>
                <a:cs typeface="Poppins" pitchFamily="2" charset="77"/>
              </a:rPr>
              <a:t>adipiscing</a:t>
            </a:r>
            <a:r>
              <a:rPr lang="en-US" b="0">
                <a:solidFill>
                  <a:schemeClr val="bg1"/>
                </a:solidFill>
                <a:latin typeface="Poppins" pitchFamily="2" charset="77"/>
                <a:cs typeface="Poppins" pitchFamily="2" charset="77"/>
              </a:rPr>
              <a:t> </a:t>
            </a:r>
            <a:r>
              <a:rPr lang="en-US" b="0" err="1">
                <a:solidFill>
                  <a:schemeClr val="bg1"/>
                </a:solidFill>
                <a:latin typeface="Poppins" pitchFamily="2" charset="77"/>
                <a:cs typeface="Poppins" pitchFamily="2" charset="77"/>
              </a:rPr>
              <a:t>elit</a:t>
            </a:r>
            <a:r>
              <a:rPr lang="en-US" b="0">
                <a:solidFill>
                  <a:schemeClr val="bg1"/>
                </a:solidFill>
                <a:latin typeface="Poppins" pitchFamily="2" charset="77"/>
                <a:cs typeface="Poppins" pitchFamily="2" charset="77"/>
              </a:rPr>
              <a:t>, sed do </a:t>
            </a:r>
            <a:r>
              <a:rPr lang="en-US" b="0" err="1">
                <a:solidFill>
                  <a:schemeClr val="bg1"/>
                </a:solidFill>
                <a:latin typeface="Poppins" pitchFamily="2" charset="77"/>
                <a:cs typeface="Poppins" pitchFamily="2" charset="77"/>
              </a:rPr>
              <a:t>eiusmod</a:t>
            </a:r>
            <a:r>
              <a:rPr lang="en-US" b="0">
                <a:solidFill>
                  <a:schemeClr val="bg1"/>
                </a:solidFill>
                <a:latin typeface="Poppins" pitchFamily="2" charset="77"/>
                <a:cs typeface="Poppins" pitchFamily="2" charset="77"/>
              </a:rPr>
              <a:t> </a:t>
            </a:r>
            <a:r>
              <a:rPr lang="en-US" b="0" err="1">
                <a:solidFill>
                  <a:schemeClr val="bg1"/>
                </a:solidFill>
                <a:latin typeface="Poppins" pitchFamily="2" charset="77"/>
                <a:cs typeface="Poppins" pitchFamily="2" charset="77"/>
              </a:rPr>
              <a:t>tempor</a:t>
            </a:r>
            <a:r>
              <a:rPr lang="en-US" b="0">
                <a:solidFill>
                  <a:schemeClr val="bg1"/>
                </a:solidFill>
                <a:latin typeface="Poppins" pitchFamily="2" charset="77"/>
                <a:cs typeface="Poppins" pitchFamily="2" charset="77"/>
              </a:rPr>
              <a:t> </a:t>
            </a:r>
            <a:r>
              <a:rPr lang="en-US" b="0" err="1">
                <a:solidFill>
                  <a:schemeClr val="bg1"/>
                </a:solidFill>
                <a:latin typeface="Poppins" pitchFamily="2" charset="77"/>
                <a:cs typeface="Poppins" pitchFamily="2" charset="77"/>
              </a:rPr>
              <a:t>incididunt</a:t>
            </a:r>
            <a:r>
              <a:rPr lang="en-US" b="0">
                <a:solidFill>
                  <a:schemeClr val="bg1"/>
                </a:solidFill>
                <a:latin typeface="Poppins" pitchFamily="2" charset="77"/>
                <a:cs typeface="Poppins" pitchFamily="2" charset="77"/>
              </a:rPr>
              <a:t> </a:t>
            </a:r>
            <a:r>
              <a:rPr lang="en-US" b="0" err="1">
                <a:solidFill>
                  <a:schemeClr val="bg1"/>
                </a:solidFill>
                <a:latin typeface="Poppins" pitchFamily="2" charset="77"/>
                <a:cs typeface="Poppins" pitchFamily="2" charset="77"/>
              </a:rPr>
              <a:t>ut</a:t>
            </a:r>
            <a:r>
              <a:rPr lang="en-US" b="0">
                <a:solidFill>
                  <a:schemeClr val="bg1"/>
                </a:solidFill>
                <a:latin typeface="Poppins" pitchFamily="2" charset="77"/>
                <a:cs typeface="Poppins" pitchFamily="2" charset="77"/>
              </a:rPr>
              <a:t> </a:t>
            </a:r>
            <a:r>
              <a:rPr lang="en-US">
                <a:solidFill>
                  <a:schemeClr val="accent1"/>
                </a:solidFill>
                <a:latin typeface="Poppins SemiBold" pitchFamily="2" charset="77"/>
                <a:cs typeface="Poppins SemiBold" pitchFamily="2" charset="77"/>
              </a:rPr>
              <a:t>labore et dolore magna </a:t>
            </a:r>
            <a:r>
              <a:rPr lang="en-US" b="0" err="1">
                <a:solidFill>
                  <a:schemeClr val="bg1"/>
                </a:solidFill>
                <a:latin typeface="Poppins" pitchFamily="2" charset="77"/>
                <a:cs typeface="Poppins" pitchFamily="2" charset="77"/>
              </a:rPr>
              <a:t>aliqua</a:t>
            </a:r>
            <a:r>
              <a:rPr lang="en-US" b="0">
                <a:solidFill>
                  <a:schemeClr val="bg1"/>
                </a:solidFill>
                <a:latin typeface="Poppins" pitchFamily="2" charset="77"/>
                <a:cs typeface="Poppins" pitchFamily="2" charset="77"/>
              </a:rPr>
              <a:t> </a:t>
            </a:r>
            <a:r>
              <a:rPr lang="en-US" b="0" err="1">
                <a:solidFill>
                  <a:schemeClr val="bg1"/>
                </a:solidFill>
                <a:latin typeface="Poppins" pitchFamily="2" charset="77"/>
                <a:cs typeface="Poppins" pitchFamily="2" charset="77"/>
              </a:rPr>
              <a:t>ut</a:t>
            </a:r>
            <a:r>
              <a:rPr lang="en-US" b="0">
                <a:solidFill>
                  <a:schemeClr val="bg1"/>
                </a:solidFill>
                <a:latin typeface="Poppins" pitchFamily="2" charset="77"/>
                <a:cs typeface="Poppins" pitchFamily="2" charset="77"/>
              </a:rPr>
              <a:t> </a:t>
            </a:r>
            <a:r>
              <a:rPr lang="en-US" b="0" err="1">
                <a:solidFill>
                  <a:schemeClr val="bg1"/>
                </a:solidFill>
                <a:latin typeface="Poppins" pitchFamily="2" charset="77"/>
                <a:cs typeface="Poppins" pitchFamily="2" charset="77"/>
              </a:rPr>
              <a:t>enim</a:t>
            </a:r>
            <a:r>
              <a:rPr lang="en-US" b="0">
                <a:solidFill>
                  <a:schemeClr val="bg1"/>
                </a:solidFill>
                <a:latin typeface="Poppins" pitchFamily="2" charset="77"/>
                <a:cs typeface="Poppins" pitchFamily="2" charset="77"/>
              </a:rPr>
              <a:t> ad minim </a:t>
            </a:r>
            <a:r>
              <a:rPr lang="en-US" b="0" err="1">
                <a:solidFill>
                  <a:schemeClr val="bg1"/>
                </a:solidFill>
                <a:latin typeface="Poppins" pitchFamily="2" charset="77"/>
                <a:cs typeface="Poppins" pitchFamily="2" charset="77"/>
              </a:rPr>
              <a:t>veniam</a:t>
            </a:r>
            <a:r>
              <a:rPr lang="en-US" b="0">
                <a:solidFill>
                  <a:schemeClr val="bg1"/>
                </a:solidFill>
                <a:latin typeface="Poppins" pitchFamily="2" charset="77"/>
                <a:cs typeface="Poppins" pitchFamily="2" charset="77"/>
              </a:rPr>
              <a:t>, </a:t>
            </a:r>
            <a:r>
              <a:rPr lang="en-US" b="0" err="1">
                <a:solidFill>
                  <a:schemeClr val="bg1"/>
                </a:solidFill>
                <a:latin typeface="Poppins" pitchFamily="2" charset="77"/>
                <a:cs typeface="Poppins" pitchFamily="2" charset="77"/>
              </a:rPr>
              <a:t>quis</a:t>
            </a:r>
            <a:r>
              <a:rPr lang="en-US" b="0">
                <a:solidFill>
                  <a:schemeClr val="bg1"/>
                </a:solidFill>
                <a:latin typeface="Poppins" pitchFamily="2" charset="77"/>
                <a:cs typeface="Poppins" pitchFamily="2" charset="77"/>
              </a:rPr>
              <a:t> </a:t>
            </a:r>
            <a:r>
              <a:rPr lang="en-US" b="0" err="1">
                <a:solidFill>
                  <a:schemeClr val="bg1"/>
                </a:solidFill>
                <a:latin typeface="Poppins" pitchFamily="2" charset="77"/>
                <a:cs typeface="Poppins" pitchFamily="2" charset="77"/>
              </a:rPr>
              <a:t>nostrud</a:t>
            </a:r>
            <a:r>
              <a:rPr lang="en-US" b="0">
                <a:solidFill>
                  <a:schemeClr val="bg1"/>
                </a:solidFill>
                <a:latin typeface="Poppins" pitchFamily="2" charset="77"/>
                <a:cs typeface="Poppins" pitchFamily="2" charset="77"/>
              </a:rPr>
              <a:t> exercitation </a:t>
            </a:r>
            <a:r>
              <a:rPr lang="en-US" b="0" err="1">
                <a:solidFill>
                  <a:schemeClr val="bg1"/>
                </a:solidFill>
                <a:latin typeface="Poppins" pitchFamily="2" charset="77"/>
                <a:cs typeface="Poppins" pitchFamily="2" charset="77"/>
              </a:rPr>
              <a:t>ullamco</a:t>
            </a:r>
            <a:endParaRPr lang="en-US" b="0">
              <a:solidFill>
                <a:schemeClr val="bg1"/>
              </a:solidFill>
              <a:latin typeface="Poppins" pitchFamily="2" charset="77"/>
              <a:cs typeface="Poppins" pitchFamily="2" charset="77"/>
            </a:endParaRPr>
          </a:p>
        </p:txBody>
      </p:sp>
    </p:spTree>
    <p:extLst>
      <p:ext uri="{BB962C8B-B14F-4D97-AF65-F5344CB8AC3E}">
        <p14:creationId xmlns:p14="http://schemas.microsoft.com/office/powerpoint/2010/main" val="5292517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F2A3A8-9174-A26D-8B09-21C70D65D865}"/>
              </a:ext>
            </a:extLst>
          </p:cNvPr>
          <p:cNvSpPr txBox="1">
            <a:spLocks/>
          </p:cNvSpPr>
          <p:nvPr/>
        </p:nvSpPr>
        <p:spPr>
          <a:xfrm>
            <a:off x="1750711" y="2264239"/>
            <a:ext cx="8690578" cy="2307170"/>
          </a:xfrm>
          <a:prstGeom prst="rect">
            <a:avLst/>
          </a:prstGeom>
        </p:spPr>
        <p:txBody>
          <a:bodyPr vert="horz" lIns="91440" tIns="91440" rIns="91440" bIns="91440" rtlCol="0" anchor="ctr">
            <a:spAutoFit/>
          </a:bodyPr>
          <a:lstStyle>
            <a:lvl1pPr algn="l" defTabSz="914377" rtl="0" eaLnBrk="1" latinLnBrk="0" hangingPunct="1">
              <a:lnSpc>
                <a:spcPct val="95000"/>
              </a:lnSpc>
              <a:spcBef>
                <a:spcPct val="0"/>
              </a:spcBef>
              <a:buNone/>
              <a:defRPr sz="3200" b="1" kern="1200">
                <a:solidFill>
                  <a:schemeClr val="accent4"/>
                </a:solidFill>
                <a:latin typeface="Poppins" panose="00000500000000000000" pitchFamily="2" charset="0"/>
                <a:ea typeface="+mj-ea"/>
                <a:cs typeface="Poppins" panose="00000500000000000000" pitchFamily="2" charset="0"/>
              </a:defRPr>
            </a:lvl1pPr>
          </a:lstStyle>
          <a:p>
            <a:pPr algn="ctr">
              <a:lnSpc>
                <a:spcPct val="112000"/>
              </a:lnSpc>
            </a:pPr>
            <a:r>
              <a:rPr lang="en-US" dirty="0">
                <a:solidFill>
                  <a:schemeClr val="accent1"/>
                </a:solidFill>
                <a:latin typeface="Poppins SemiBold" pitchFamily="2" charset="77"/>
                <a:cs typeface="Poppins SemiBold" pitchFamily="2" charset="77"/>
              </a:rPr>
              <a:t>Referral Agency</a:t>
            </a:r>
          </a:p>
          <a:p>
            <a:pPr algn="ctr">
              <a:lnSpc>
                <a:spcPct val="112000"/>
              </a:lnSpc>
            </a:pPr>
            <a:r>
              <a:rPr lang="en-US" sz="2000" b="0" dirty="0">
                <a:solidFill>
                  <a:schemeClr val="bg1"/>
                </a:solidFill>
                <a:latin typeface="Poppins" pitchFamily="2" charset="77"/>
                <a:cs typeface="Poppins" pitchFamily="2" charset="77"/>
              </a:rPr>
              <a:t>Continuing our partnership growth, how can Horizon Commerce become a top Amazon Ads referral agency </a:t>
            </a:r>
          </a:p>
          <a:p>
            <a:pPr algn="ctr">
              <a:lnSpc>
                <a:spcPct val="112000"/>
              </a:lnSpc>
            </a:pPr>
            <a:r>
              <a:rPr lang="en-US" sz="2000" b="0" dirty="0">
                <a:solidFill>
                  <a:schemeClr val="bg1"/>
                </a:solidFill>
                <a:latin typeface="Poppins" pitchFamily="2" charset="77"/>
                <a:cs typeface="Poppins" pitchFamily="2" charset="77"/>
              </a:rPr>
              <a:t>(US endemic &amp; non-endemic)  </a:t>
            </a:r>
          </a:p>
          <a:p>
            <a:pPr algn="ctr">
              <a:lnSpc>
                <a:spcPct val="112000"/>
              </a:lnSpc>
            </a:pPr>
            <a:endParaRPr lang="en-US" b="0" dirty="0">
              <a:solidFill>
                <a:schemeClr val="bg1"/>
              </a:solidFill>
              <a:latin typeface="Poppins" pitchFamily="2" charset="77"/>
              <a:cs typeface="Poppins" pitchFamily="2" charset="77"/>
            </a:endParaRPr>
          </a:p>
        </p:txBody>
      </p:sp>
    </p:spTree>
    <p:extLst>
      <p:ext uri="{BB962C8B-B14F-4D97-AF65-F5344CB8AC3E}">
        <p14:creationId xmlns:p14="http://schemas.microsoft.com/office/powerpoint/2010/main" val="17276060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EEB1001-9963-624C-AFDA-3218A0EF7BA8}"/>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54E35D1B-70BE-C9A8-C283-7F8B5C0C8C2E}"/>
              </a:ext>
            </a:extLst>
          </p:cNvPr>
          <p:cNvSpPr/>
          <p:nvPr/>
        </p:nvSpPr>
        <p:spPr>
          <a:xfrm>
            <a:off x="-1" y="-1"/>
            <a:ext cx="12192000" cy="6857997"/>
          </a:xfrm>
          <a:prstGeom prst="rect">
            <a:avLst/>
          </a:prstGeom>
          <a:solidFill>
            <a:schemeClr val="bg1">
              <a:lumMod val="85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r>
              <a:rPr lang="en-US">
                <a:solidFill>
                  <a:schemeClr val="bg1">
                    <a:lumMod val="75000"/>
                  </a:schemeClr>
                </a:solidFill>
              </a:rPr>
              <a:t>IMAGE</a:t>
            </a:r>
          </a:p>
        </p:txBody>
      </p:sp>
      <p:sp>
        <p:nvSpPr>
          <p:cNvPr id="4" name="Rectangle 3">
            <a:extLst>
              <a:ext uri="{FF2B5EF4-FFF2-40B4-BE49-F238E27FC236}">
                <a16:creationId xmlns:a16="http://schemas.microsoft.com/office/drawing/2014/main" id="{A6A84D59-99BF-AB8F-04E7-EC829D770C8B}"/>
              </a:ext>
            </a:extLst>
          </p:cNvPr>
          <p:cNvSpPr/>
          <p:nvPr/>
        </p:nvSpPr>
        <p:spPr>
          <a:xfrm>
            <a:off x="-1" y="795647"/>
            <a:ext cx="12192000" cy="6062354"/>
          </a:xfrm>
          <a:prstGeom prst="rect">
            <a:avLst/>
          </a:prstGeom>
          <a:gradFill flip="none" rotWithShape="1">
            <a:gsLst>
              <a:gs pos="100000">
                <a:schemeClr val="tx2"/>
              </a:gs>
              <a:gs pos="25000">
                <a:schemeClr val="tx2">
                  <a:alpha val="0"/>
                </a:schemeClr>
              </a:gs>
              <a:gs pos="65000">
                <a:schemeClr val="tx2">
                  <a:alpha val="62994"/>
                </a:schemeClr>
              </a:gs>
            </a:gsLst>
            <a:lin ang="5400000" scaled="1"/>
            <a:tileRect/>
          </a:gra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US" err="1"/>
          </a:p>
        </p:txBody>
      </p:sp>
      <p:sp>
        <p:nvSpPr>
          <p:cNvPr id="8" name="Rectangle: Rounded Corners 39">
            <a:extLst>
              <a:ext uri="{FF2B5EF4-FFF2-40B4-BE49-F238E27FC236}">
                <a16:creationId xmlns:a16="http://schemas.microsoft.com/office/drawing/2014/main" id="{9F484DD4-E287-082D-C7BD-B6152F6C473B}"/>
              </a:ext>
            </a:extLst>
          </p:cNvPr>
          <p:cNvSpPr/>
          <p:nvPr/>
        </p:nvSpPr>
        <p:spPr>
          <a:xfrm>
            <a:off x="550164" y="548640"/>
            <a:ext cx="11091672" cy="5760720"/>
          </a:xfrm>
          <a:prstGeom prst="roundRect">
            <a:avLst>
              <a:gd name="adj" fmla="val 4617"/>
            </a:avLst>
          </a:prstGeom>
          <a:noFill/>
          <a:ln w="38100">
            <a:solidFill>
              <a:schemeClr val="bg1"/>
            </a:solidFill>
          </a:ln>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25000"/>
              </a:lnSpc>
              <a:spcBef>
                <a:spcPts val="0"/>
              </a:spcBef>
              <a:spcAft>
                <a:spcPts val="0"/>
              </a:spcAft>
              <a:buClrTx/>
              <a:buSzTx/>
              <a:buFontTx/>
              <a:buNone/>
              <a:tabLst/>
              <a:defRPr/>
            </a:pPr>
            <a:r>
              <a:rPr kumimoji="0" lang="en-US" sz="1400" b="1" u="none" strike="noStrike" kern="1200" cap="none" spc="0" normalizeH="0" baseline="0" noProof="0">
                <a:ln>
                  <a:noFill/>
                </a:ln>
                <a:solidFill>
                  <a:prstClr val="white"/>
                </a:solidFill>
                <a:effectLst/>
                <a:uLnTx/>
                <a:uFillTx/>
                <a:latin typeface="Poppins SemiBold" pitchFamily="2" charset="77"/>
                <a:ea typeface="+mn-ea"/>
                <a:cs typeface="+mn-cs"/>
              </a:rPr>
              <a:t> </a:t>
            </a:r>
          </a:p>
        </p:txBody>
      </p:sp>
      <p:sp>
        <p:nvSpPr>
          <p:cNvPr id="9" name="Title 1">
            <a:extLst>
              <a:ext uri="{FF2B5EF4-FFF2-40B4-BE49-F238E27FC236}">
                <a16:creationId xmlns:a16="http://schemas.microsoft.com/office/drawing/2014/main" id="{0D763D25-9F57-1ED6-4173-F587C2518567}"/>
              </a:ext>
            </a:extLst>
          </p:cNvPr>
          <p:cNvSpPr txBox="1">
            <a:spLocks/>
          </p:cNvSpPr>
          <p:nvPr/>
        </p:nvSpPr>
        <p:spPr>
          <a:xfrm>
            <a:off x="838200" y="3826824"/>
            <a:ext cx="10515600" cy="2376163"/>
          </a:xfrm>
          <a:prstGeom prst="rect">
            <a:avLst/>
          </a:prstGeom>
        </p:spPr>
        <p:txBody>
          <a:bodyPr vert="horz" lIns="91440" tIns="91440" rIns="91440" bIns="91440" rtlCol="0" anchor="ctr">
            <a:spAutoFit/>
          </a:bodyPr>
          <a:lstStyle>
            <a:lvl1pPr algn="l" defTabSz="914377" rtl="0" eaLnBrk="1" latinLnBrk="0" hangingPunct="1">
              <a:lnSpc>
                <a:spcPct val="95000"/>
              </a:lnSpc>
              <a:spcBef>
                <a:spcPct val="0"/>
              </a:spcBef>
              <a:buNone/>
              <a:defRPr sz="3200" b="1" kern="1200">
                <a:solidFill>
                  <a:schemeClr val="accent4"/>
                </a:solidFill>
                <a:latin typeface="Poppins" panose="00000500000000000000" pitchFamily="2" charset="0"/>
                <a:ea typeface="+mj-ea"/>
                <a:cs typeface="Poppins" panose="00000500000000000000" pitchFamily="2" charset="0"/>
              </a:defRPr>
            </a:lvl1pPr>
          </a:lstStyle>
          <a:p>
            <a:pPr algn="ctr">
              <a:lnSpc>
                <a:spcPct val="110000"/>
              </a:lnSpc>
            </a:pPr>
            <a:r>
              <a:rPr lang="en-US">
                <a:solidFill>
                  <a:schemeClr val="accent1"/>
                </a:solidFill>
                <a:latin typeface="Poppins SemiBold" pitchFamily="2" charset="77"/>
                <a:cs typeface="Poppins SemiBold" pitchFamily="2" charset="77"/>
              </a:rPr>
              <a:t>Lorem ipsum dolor sit </a:t>
            </a:r>
            <a:r>
              <a:rPr lang="en-US" err="1">
                <a:solidFill>
                  <a:schemeClr val="accent1"/>
                </a:solidFill>
                <a:latin typeface="Poppins SemiBold" pitchFamily="2" charset="77"/>
                <a:cs typeface="Poppins SemiBold" pitchFamily="2" charset="77"/>
              </a:rPr>
              <a:t>amet</a:t>
            </a:r>
            <a:r>
              <a:rPr lang="en-US" b="0">
                <a:solidFill>
                  <a:schemeClr val="bg1"/>
                </a:solidFill>
                <a:latin typeface="Poppins" pitchFamily="2" charset="77"/>
                <a:cs typeface="Poppins" pitchFamily="2" charset="77"/>
              </a:rPr>
              <a:t>, </a:t>
            </a:r>
            <a:r>
              <a:rPr lang="en-US" b="0" err="1">
                <a:solidFill>
                  <a:schemeClr val="bg1"/>
                </a:solidFill>
                <a:latin typeface="Poppins" pitchFamily="2" charset="77"/>
                <a:cs typeface="Poppins" pitchFamily="2" charset="77"/>
              </a:rPr>
              <a:t>consectetur</a:t>
            </a:r>
            <a:r>
              <a:rPr lang="en-US" b="0">
                <a:solidFill>
                  <a:schemeClr val="bg1"/>
                </a:solidFill>
                <a:latin typeface="Poppins" pitchFamily="2" charset="77"/>
                <a:cs typeface="Poppins" pitchFamily="2" charset="77"/>
              </a:rPr>
              <a:t> </a:t>
            </a:r>
            <a:r>
              <a:rPr lang="en-US" b="0" err="1">
                <a:solidFill>
                  <a:schemeClr val="bg1"/>
                </a:solidFill>
                <a:latin typeface="Poppins" pitchFamily="2" charset="77"/>
                <a:cs typeface="Poppins" pitchFamily="2" charset="77"/>
              </a:rPr>
              <a:t>adipiscing</a:t>
            </a:r>
            <a:r>
              <a:rPr lang="en-US" b="0">
                <a:solidFill>
                  <a:schemeClr val="bg1"/>
                </a:solidFill>
                <a:latin typeface="Poppins" pitchFamily="2" charset="77"/>
                <a:cs typeface="Poppins" pitchFamily="2" charset="77"/>
              </a:rPr>
              <a:t> </a:t>
            </a:r>
            <a:r>
              <a:rPr lang="en-US" b="0" err="1">
                <a:solidFill>
                  <a:schemeClr val="bg1"/>
                </a:solidFill>
                <a:latin typeface="Poppins" pitchFamily="2" charset="77"/>
                <a:cs typeface="Poppins" pitchFamily="2" charset="77"/>
              </a:rPr>
              <a:t>elit</a:t>
            </a:r>
            <a:r>
              <a:rPr lang="en-US" b="0">
                <a:solidFill>
                  <a:schemeClr val="bg1"/>
                </a:solidFill>
                <a:latin typeface="Poppins" pitchFamily="2" charset="77"/>
                <a:cs typeface="Poppins" pitchFamily="2" charset="77"/>
              </a:rPr>
              <a:t>, sed do </a:t>
            </a:r>
            <a:r>
              <a:rPr lang="en-US" b="0" err="1">
                <a:solidFill>
                  <a:schemeClr val="bg1"/>
                </a:solidFill>
                <a:latin typeface="Poppins" pitchFamily="2" charset="77"/>
                <a:cs typeface="Poppins" pitchFamily="2" charset="77"/>
              </a:rPr>
              <a:t>eiusmod</a:t>
            </a:r>
            <a:r>
              <a:rPr lang="en-US" b="0">
                <a:solidFill>
                  <a:schemeClr val="bg1"/>
                </a:solidFill>
                <a:latin typeface="Poppins" pitchFamily="2" charset="77"/>
                <a:cs typeface="Poppins" pitchFamily="2" charset="77"/>
              </a:rPr>
              <a:t> </a:t>
            </a:r>
            <a:r>
              <a:rPr lang="en-US" b="0" err="1">
                <a:solidFill>
                  <a:schemeClr val="bg1"/>
                </a:solidFill>
                <a:latin typeface="Poppins" pitchFamily="2" charset="77"/>
                <a:cs typeface="Poppins" pitchFamily="2" charset="77"/>
              </a:rPr>
              <a:t>tempor</a:t>
            </a:r>
            <a:r>
              <a:rPr lang="en-US" b="0">
                <a:solidFill>
                  <a:schemeClr val="bg1"/>
                </a:solidFill>
                <a:latin typeface="Poppins" pitchFamily="2" charset="77"/>
                <a:cs typeface="Poppins" pitchFamily="2" charset="77"/>
              </a:rPr>
              <a:t> </a:t>
            </a:r>
            <a:r>
              <a:rPr lang="en-US" b="0" err="1">
                <a:solidFill>
                  <a:schemeClr val="bg1"/>
                </a:solidFill>
                <a:latin typeface="Poppins" pitchFamily="2" charset="77"/>
                <a:cs typeface="Poppins" pitchFamily="2" charset="77"/>
              </a:rPr>
              <a:t>incididunt</a:t>
            </a:r>
            <a:r>
              <a:rPr lang="en-US" b="0">
                <a:solidFill>
                  <a:schemeClr val="bg1"/>
                </a:solidFill>
                <a:latin typeface="Poppins" pitchFamily="2" charset="77"/>
                <a:cs typeface="Poppins" pitchFamily="2" charset="77"/>
              </a:rPr>
              <a:t> </a:t>
            </a:r>
            <a:r>
              <a:rPr lang="en-US" b="0" err="1">
                <a:solidFill>
                  <a:schemeClr val="bg1"/>
                </a:solidFill>
                <a:latin typeface="Poppins" pitchFamily="2" charset="77"/>
                <a:cs typeface="Poppins" pitchFamily="2" charset="77"/>
              </a:rPr>
              <a:t>ut</a:t>
            </a:r>
            <a:r>
              <a:rPr lang="en-US" b="0">
                <a:solidFill>
                  <a:schemeClr val="bg1"/>
                </a:solidFill>
                <a:latin typeface="Poppins" pitchFamily="2" charset="77"/>
                <a:cs typeface="Poppins" pitchFamily="2" charset="77"/>
              </a:rPr>
              <a:t> </a:t>
            </a:r>
            <a:r>
              <a:rPr lang="en-US">
                <a:solidFill>
                  <a:schemeClr val="accent1"/>
                </a:solidFill>
                <a:latin typeface="Poppins SemiBold" pitchFamily="2" charset="77"/>
                <a:cs typeface="Poppins SemiBold" pitchFamily="2" charset="77"/>
              </a:rPr>
              <a:t>labore et dolore magna </a:t>
            </a:r>
            <a:r>
              <a:rPr lang="en-US" b="0" err="1">
                <a:solidFill>
                  <a:schemeClr val="bg1"/>
                </a:solidFill>
                <a:latin typeface="Poppins" pitchFamily="2" charset="77"/>
                <a:cs typeface="Poppins" pitchFamily="2" charset="77"/>
              </a:rPr>
              <a:t>aliqua</a:t>
            </a:r>
            <a:r>
              <a:rPr lang="en-US" b="0">
                <a:solidFill>
                  <a:schemeClr val="bg1"/>
                </a:solidFill>
                <a:latin typeface="Poppins" pitchFamily="2" charset="77"/>
                <a:cs typeface="Poppins" pitchFamily="2" charset="77"/>
              </a:rPr>
              <a:t> </a:t>
            </a:r>
            <a:r>
              <a:rPr lang="en-US" b="0" err="1">
                <a:solidFill>
                  <a:schemeClr val="bg1"/>
                </a:solidFill>
                <a:latin typeface="Poppins" pitchFamily="2" charset="77"/>
                <a:cs typeface="Poppins" pitchFamily="2" charset="77"/>
              </a:rPr>
              <a:t>ut</a:t>
            </a:r>
            <a:r>
              <a:rPr lang="en-US" b="0">
                <a:solidFill>
                  <a:schemeClr val="bg1"/>
                </a:solidFill>
                <a:latin typeface="Poppins" pitchFamily="2" charset="77"/>
                <a:cs typeface="Poppins" pitchFamily="2" charset="77"/>
              </a:rPr>
              <a:t> </a:t>
            </a:r>
            <a:r>
              <a:rPr lang="en-US" b="0" err="1">
                <a:solidFill>
                  <a:schemeClr val="bg1"/>
                </a:solidFill>
                <a:latin typeface="Poppins" pitchFamily="2" charset="77"/>
                <a:cs typeface="Poppins" pitchFamily="2" charset="77"/>
              </a:rPr>
              <a:t>enim</a:t>
            </a:r>
            <a:r>
              <a:rPr lang="en-US" b="0">
                <a:solidFill>
                  <a:schemeClr val="bg1"/>
                </a:solidFill>
                <a:latin typeface="Poppins" pitchFamily="2" charset="77"/>
                <a:cs typeface="Poppins" pitchFamily="2" charset="77"/>
              </a:rPr>
              <a:t> ad minim </a:t>
            </a:r>
            <a:r>
              <a:rPr lang="en-US" b="0" err="1">
                <a:solidFill>
                  <a:schemeClr val="bg1"/>
                </a:solidFill>
                <a:latin typeface="Poppins" pitchFamily="2" charset="77"/>
                <a:cs typeface="Poppins" pitchFamily="2" charset="77"/>
              </a:rPr>
              <a:t>veniam</a:t>
            </a:r>
            <a:r>
              <a:rPr lang="en-US" b="0">
                <a:solidFill>
                  <a:schemeClr val="bg1"/>
                </a:solidFill>
                <a:latin typeface="Poppins" pitchFamily="2" charset="77"/>
                <a:cs typeface="Poppins" pitchFamily="2" charset="77"/>
              </a:rPr>
              <a:t>, </a:t>
            </a:r>
            <a:r>
              <a:rPr lang="en-US" b="0" err="1">
                <a:solidFill>
                  <a:schemeClr val="bg1"/>
                </a:solidFill>
                <a:latin typeface="Poppins" pitchFamily="2" charset="77"/>
                <a:cs typeface="Poppins" pitchFamily="2" charset="77"/>
              </a:rPr>
              <a:t>quis</a:t>
            </a:r>
            <a:r>
              <a:rPr lang="en-US" b="0">
                <a:solidFill>
                  <a:schemeClr val="bg1"/>
                </a:solidFill>
                <a:latin typeface="Poppins" pitchFamily="2" charset="77"/>
                <a:cs typeface="Poppins" pitchFamily="2" charset="77"/>
              </a:rPr>
              <a:t> </a:t>
            </a:r>
            <a:r>
              <a:rPr lang="en-US" b="0" err="1">
                <a:solidFill>
                  <a:schemeClr val="bg1"/>
                </a:solidFill>
                <a:latin typeface="Poppins" pitchFamily="2" charset="77"/>
                <a:cs typeface="Poppins" pitchFamily="2" charset="77"/>
              </a:rPr>
              <a:t>nostrud</a:t>
            </a:r>
            <a:r>
              <a:rPr lang="en-US" b="0">
                <a:solidFill>
                  <a:schemeClr val="bg1"/>
                </a:solidFill>
                <a:latin typeface="Poppins" pitchFamily="2" charset="77"/>
                <a:cs typeface="Poppins" pitchFamily="2" charset="77"/>
              </a:rPr>
              <a:t> exercitation </a:t>
            </a:r>
            <a:r>
              <a:rPr lang="en-US" b="0" err="1">
                <a:solidFill>
                  <a:schemeClr val="bg1"/>
                </a:solidFill>
                <a:latin typeface="Poppins" pitchFamily="2" charset="77"/>
                <a:cs typeface="Poppins" pitchFamily="2" charset="77"/>
              </a:rPr>
              <a:t>ullamco</a:t>
            </a:r>
            <a:endParaRPr lang="en-US" b="0">
              <a:solidFill>
                <a:schemeClr val="bg1"/>
              </a:solidFill>
              <a:latin typeface="Poppins" pitchFamily="2" charset="77"/>
              <a:cs typeface="Poppins" pitchFamily="2" charset="77"/>
            </a:endParaRPr>
          </a:p>
        </p:txBody>
      </p:sp>
    </p:spTree>
    <p:extLst>
      <p:ext uri="{BB962C8B-B14F-4D97-AF65-F5344CB8AC3E}">
        <p14:creationId xmlns:p14="http://schemas.microsoft.com/office/powerpoint/2010/main" val="35543871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70AC3B4-4A9E-4BF6-F549-C4490411F916}"/>
              </a:ext>
            </a:extLst>
          </p:cNvPr>
          <p:cNvSpPr/>
          <p:nvPr/>
        </p:nvSpPr>
        <p:spPr>
          <a:xfrm>
            <a:off x="0" y="-1"/>
            <a:ext cx="5618922" cy="6857997"/>
          </a:xfrm>
          <a:prstGeom prst="rect">
            <a:avLst/>
          </a:prstGeom>
          <a:solidFill>
            <a:schemeClr val="bg1">
              <a:lumMod val="85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r>
              <a:rPr lang="en-US">
                <a:solidFill>
                  <a:schemeClr val="bg1">
                    <a:lumMod val="75000"/>
                  </a:schemeClr>
                </a:solidFill>
              </a:rPr>
              <a:t>IMAGE</a:t>
            </a:r>
          </a:p>
        </p:txBody>
      </p:sp>
      <p:sp>
        <p:nvSpPr>
          <p:cNvPr id="3" name="TextBox 2">
            <a:extLst>
              <a:ext uri="{FF2B5EF4-FFF2-40B4-BE49-F238E27FC236}">
                <a16:creationId xmlns:a16="http://schemas.microsoft.com/office/drawing/2014/main" id="{C13E9DDB-56F5-4137-095B-21FAA56153A0}"/>
              </a:ext>
            </a:extLst>
          </p:cNvPr>
          <p:cNvSpPr txBox="1"/>
          <p:nvPr/>
        </p:nvSpPr>
        <p:spPr>
          <a:xfrm>
            <a:off x="6632455" y="1014108"/>
            <a:ext cx="4556535" cy="4829784"/>
          </a:xfrm>
          <a:prstGeom prst="rect">
            <a:avLst/>
          </a:prstGeom>
          <a:noFill/>
        </p:spPr>
        <p:txBody>
          <a:bodyPr wrap="square" rtlCol="0" anchor="ctr">
            <a:spAutoFit/>
          </a:bodyPr>
          <a:lstStyle/>
          <a:p>
            <a:pPr>
              <a:lnSpc>
                <a:spcPct val="95000"/>
              </a:lnSpc>
              <a:spcBef>
                <a:spcPct val="0"/>
              </a:spcBef>
              <a:defRPr/>
            </a:pPr>
            <a:r>
              <a:rPr lang="en-US" sz="3200" b="1">
                <a:solidFill>
                  <a:schemeClr val="accent1"/>
                </a:solidFill>
                <a:latin typeface="+mj-lt"/>
                <a:ea typeface="+mj-ea"/>
                <a:cs typeface="+mj-cs"/>
              </a:rPr>
              <a:t>Lorem ipsum dolor sit </a:t>
            </a:r>
            <a:r>
              <a:rPr lang="en-US" sz="3200" b="1" err="1">
                <a:solidFill>
                  <a:schemeClr val="accent1"/>
                </a:solidFill>
                <a:latin typeface="+mj-lt"/>
                <a:ea typeface="+mj-ea"/>
                <a:cs typeface="+mj-cs"/>
              </a:rPr>
              <a:t>amet</a:t>
            </a:r>
            <a:r>
              <a:rPr lang="en-US" sz="3200" b="1">
                <a:solidFill>
                  <a:schemeClr val="accent1"/>
                </a:solidFill>
                <a:latin typeface="+mj-lt"/>
                <a:ea typeface="+mj-ea"/>
                <a:cs typeface="+mj-cs"/>
              </a:rPr>
              <a:t> et dolore magna </a:t>
            </a:r>
            <a:r>
              <a:rPr lang="en-US" sz="3200" b="1" err="1">
                <a:solidFill>
                  <a:schemeClr val="accent1"/>
                </a:solidFill>
                <a:latin typeface="+mj-lt"/>
                <a:ea typeface="+mj-ea"/>
                <a:cs typeface="+mj-cs"/>
              </a:rPr>
              <a:t>aliqua</a:t>
            </a:r>
            <a:endParaRPr lang="en-US" sz="3200" b="1">
              <a:solidFill>
                <a:schemeClr val="accent1"/>
              </a:solidFill>
              <a:latin typeface="+mj-lt"/>
              <a:ea typeface="+mj-ea"/>
              <a:cs typeface="+mj-cs"/>
            </a:endParaRPr>
          </a:p>
          <a:p>
            <a:pPr>
              <a:lnSpc>
                <a:spcPct val="112000"/>
              </a:lnSpc>
              <a:spcBef>
                <a:spcPts val="1200"/>
              </a:spcBef>
              <a:defRPr/>
            </a:pPr>
            <a:r>
              <a:rPr lang="en-US" sz="1600">
                <a:latin typeface="+mj-lt"/>
              </a:rPr>
              <a:t>Lorem ipsum dolor sit </a:t>
            </a:r>
            <a:r>
              <a:rPr lang="en-US" sz="1600" err="1">
                <a:latin typeface="+mj-lt"/>
              </a:rPr>
              <a:t>amet</a:t>
            </a:r>
            <a:r>
              <a:rPr lang="en-US" sz="1600">
                <a:latin typeface="+mj-lt"/>
              </a:rPr>
              <a:t>, </a:t>
            </a:r>
            <a:r>
              <a:rPr lang="en-US" sz="1600" err="1">
                <a:latin typeface="+mj-lt"/>
              </a:rPr>
              <a:t>consectetur</a:t>
            </a:r>
            <a:r>
              <a:rPr lang="en-US" sz="1600">
                <a:latin typeface="+mj-lt"/>
              </a:rPr>
              <a:t> </a:t>
            </a:r>
            <a:r>
              <a:rPr lang="en-US" sz="1600" err="1">
                <a:latin typeface="+mj-lt"/>
              </a:rPr>
              <a:t>adipiscing</a:t>
            </a:r>
            <a:r>
              <a:rPr lang="en-US" sz="1600">
                <a:latin typeface="+mj-lt"/>
              </a:rPr>
              <a:t> </a:t>
            </a:r>
            <a:r>
              <a:rPr lang="en-US" sz="1600" err="1">
                <a:latin typeface="+mj-lt"/>
              </a:rPr>
              <a:t>elit</a:t>
            </a:r>
            <a:r>
              <a:rPr lang="en-US" sz="1600">
                <a:latin typeface="+mj-lt"/>
              </a:rPr>
              <a:t>, sed do </a:t>
            </a:r>
            <a:r>
              <a:rPr lang="en-US" sz="1600" err="1">
                <a:latin typeface="+mj-lt"/>
              </a:rPr>
              <a:t>eiusmod</a:t>
            </a:r>
            <a:r>
              <a:rPr lang="en-US" sz="1600">
                <a:latin typeface="+mj-lt"/>
              </a:rPr>
              <a:t> </a:t>
            </a:r>
            <a:r>
              <a:rPr lang="en-US" sz="1600" err="1">
                <a:latin typeface="+mj-lt"/>
              </a:rPr>
              <a:t>tempor</a:t>
            </a:r>
            <a:r>
              <a:rPr lang="en-US" sz="1600">
                <a:latin typeface="+mj-lt"/>
              </a:rPr>
              <a:t> </a:t>
            </a:r>
            <a:r>
              <a:rPr lang="en-US" sz="1600" err="1">
                <a:latin typeface="+mj-lt"/>
              </a:rPr>
              <a:t>incididunt</a:t>
            </a:r>
            <a:r>
              <a:rPr lang="en-US" sz="1600">
                <a:latin typeface="+mj-lt"/>
              </a:rPr>
              <a:t> </a:t>
            </a:r>
            <a:r>
              <a:rPr lang="en-US" sz="1600" err="1">
                <a:latin typeface="+mj-lt"/>
              </a:rPr>
              <a:t>ut</a:t>
            </a:r>
            <a:r>
              <a:rPr lang="en-US" sz="1600">
                <a:latin typeface="+mj-lt"/>
              </a:rPr>
              <a:t> labore et dolore magna </a:t>
            </a:r>
            <a:r>
              <a:rPr lang="en-US" sz="1600" err="1">
                <a:latin typeface="+mj-lt"/>
              </a:rPr>
              <a:t>aliqua</a:t>
            </a:r>
            <a:r>
              <a:rPr lang="en-US" sz="1600">
                <a:latin typeface="+mj-lt"/>
              </a:rPr>
              <a:t>. Ut </a:t>
            </a:r>
            <a:r>
              <a:rPr lang="en-US" sz="1600" err="1">
                <a:latin typeface="+mj-lt"/>
              </a:rPr>
              <a:t>enim</a:t>
            </a:r>
            <a:r>
              <a:rPr lang="en-US" sz="1600">
                <a:latin typeface="+mj-lt"/>
              </a:rPr>
              <a:t> ad minim </a:t>
            </a:r>
            <a:r>
              <a:rPr lang="en-US" sz="1600" err="1">
                <a:latin typeface="+mj-lt"/>
              </a:rPr>
              <a:t>veniam</a:t>
            </a:r>
            <a:r>
              <a:rPr lang="en-US" sz="1600">
                <a:latin typeface="+mj-lt"/>
              </a:rPr>
              <a:t>, </a:t>
            </a:r>
            <a:r>
              <a:rPr lang="en-US" sz="1600" err="1">
                <a:latin typeface="+mj-lt"/>
              </a:rPr>
              <a:t>quis</a:t>
            </a:r>
            <a:r>
              <a:rPr lang="en-US" sz="1600">
                <a:latin typeface="+mj-lt"/>
              </a:rPr>
              <a:t> </a:t>
            </a:r>
            <a:r>
              <a:rPr lang="en-US" sz="1600" err="1">
                <a:latin typeface="+mj-lt"/>
              </a:rPr>
              <a:t>nostrud</a:t>
            </a:r>
            <a:r>
              <a:rPr lang="en-US" sz="1600">
                <a:latin typeface="+mj-lt"/>
              </a:rPr>
              <a:t> exercitation </a:t>
            </a:r>
            <a:r>
              <a:rPr lang="en-US" sz="1600" err="1">
                <a:latin typeface="+mj-lt"/>
              </a:rPr>
              <a:t>ullamco</a:t>
            </a:r>
            <a:r>
              <a:rPr lang="en-US" sz="1600">
                <a:latin typeface="+mj-lt"/>
              </a:rPr>
              <a:t> </a:t>
            </a:r>
            <a:r>
              <a:rPr lang="en-US" sz="1600" err="1">
                <a:latin typeface="+mj-lt"/>
              </a:rPr>
              <a:t>laboris</a:t>
            </a:r>
            <a:r>
              <a:rPr lang="en-US" sz="1600">
                <a:latin typeface="+mj-lt"/>
              </a:rPr>
              <a:t> nisi </a:t>
            </a:r>
            <a:r>
              <a:rPr lang="en-US" sz="1600" err="1">
                <a:latin typeface="+mj-lt"/>
              </a:rPr>
              <a:t>ut</a:t>
            </a:r>
            <a:r>
              <a:rPr lang="en-US" sz="1600">
                <a:latin typeface="+mj-lt"/>
              </a:rPr>
              <a:t> </a:t>
            </a:r>
            <a:r>
              <a:rPr lang="en-US" sz="1600" err="1">
                <a:latin typeface="+mj-lt"/>
              </a:rPr>
              <a:t>aliquip</a:t>
            </a:r>
            <a:r>
              <a:rPr lang="en-US" sz="1600">
                <a:latin typeface="+mj-lt"/>
              </a:rPr>
              <a:t> ex </a:t>
            </a:r>
            <a:r>
              <a:rPr lang="en-US" sz="1600" err="1">
                <a:latin typeface="+mj-lt"/>
              </a:rPr>
              <a:t>ea</a:t>
            </a:r>
            <a:r>
              <a:rPr lang="en-US" sz="1600">
                <a:latin typeface="+mj-lt"/>
              </a:rPr>
              <a:t> </a:t>
            </a:r>
            <a:r>
              <a:rPr lang="en-US" sz="1600" err="1">
                <a:latin typeface="+mj-lt"/>
              </a:rPr>
              <a:t>commodo</a:t>
            </a:r>
            <a:r>
              <a:rPr lang="en-US" sz="1600">
                <a:latin typeface="+mj-lt"/>
              </a:rPr>
              <a:t> </a:t>
            </a:r>
            <a:r>
              <a:rPr lang="en-US" sz="1600" err="1">
                <a:latin typeface="+mj-lt"/>
              </a:rPr>
              <a:t>consequat</a:t>
            </a:r>
            <a:r>
              <a:rPr lang="en-US" sz="1600">
                <a:latin typeface="+mj-lt"/>
              </a:rPr>
              <a:t>.</a:t>
            </a:r>
          </a:p>
          <a:p>
            <a:pPr>
              <a:lnSpc>
                <a:spcPct val="112000"/>
              </a:lnSpc>
              <a:spcBef>
                <a:spcPts val="1200"/>
              </a:spcBef>
              <a:defRPr/>
            </a:pPr>
            <a:r>
              <a:rPr lang="en-US" sz="1600">
                <a:latin typeface="+mj-lt"/>
              </a:rPr>
              <a:t>Duis </a:t>
            </a:r>
            <a:r>
              <a:rPr lang="en-US" sz="1600" err="1">
                <a:latin typeface="+mj-lt"/>
              </a:rPr>
              <a:t>aute</a:t>
            </a:r>
            <a:r>
              <a:rPr lang="en-US" sz="1600">
                <a:latin typeface="+mj-lt"/>
              </a:rPr>
              <a:t> </a:t>
            </a:r>
            <a:r>
              <a:rPr lang="en-US" sz="1600" err="1">
                <a:latin typeface="+mj-lt"/>
              </a:rPr>
              <a:t>irure</a:t>
            </a:r>
            <a:r>
              <a:rPr lang="en-US" sz="1600">
                <a:latin typeface="+mj-lt"/>
              </a:rPr>
              <a:t> dolor in </a:t>
            </a:r>
            <a:r>
              <a:rPr lang="en-US" sz="1600" err="1">
                <a:latin typeface="+mj-lt"/>
              </a:rPr>
              <a:t>reprehenderit</a:t>
            </a:r>
            <a:r>
              <a:rPr lang="en-US" sz="1600">
                <a:latin typeface="+mj-lt"/>
              </a:rPr>
              <a:t> in </a:t>
            </a:r>
            <a:r>
              <a:rPr lang="en-US" sz="1600" err="1">
                <a:latin typeface="+mj-lt"/>
              </a:rPr>
              <a:t>voluptate</a:t>
            </a:r>
            <a:r>
              <a:rPr lang="en-US" sz="1600">
                <a:latin typeface="+mj-lt"/>
              </a:rPr>
              <a:t> </a:t>
            </a:r>
            <a:r>
              <a:rPr lang="en-US" sz="1600" err="1">
                <a:latin typeface="+mj-lt"/>
              </a:rPr>
              <a:t>velit</a:t>
            </a:r>
            <a:r>
              <a:rPr lang="en-US" sz="1600">
                <a:latin typeface="+mj-lt"/>
              </a:rPr>
              <a:t> </a:t>
            </a:r>
            <a:r>
              <a:rPr lang="en-US" sz="1600" err="1">
                <a:latin typeface="+mj-lt"/>
              </a:rPr>
              <a:t>esse</a:t>
            </a:r>
            <a:r>
              <a:rPr lang="en-US" sz="1600">
                <a:latin typeface="+mj-lt"/>
              </a:rPr>
              <a:t> </a:t>
            </a:r>
            <a:r>
              <a:rPr lang="en-US" sz="1600" err="1">
                <a:latin typeface="+mj-lt"/>
              </a:rPr>
              <a:t>cillum</a:t>
            </a:r>
            <a:r>
              <a:rPr lang="en-US" sz="1600">
                <a:latin typeface="+mj-lt"/>
              </a:rPr>
              <a:t> dolore </a:t>
            </a:r>
            <a:r>
              <a:rPr lang="en-US" sz="1600" err="1">
                <a:latin typeface="+mj-lt"/>
              </a:rPr>
              <a:t>eu</a:t>
            </a:r>
            <a:r>
              <a:rPr lang="en-US" sz="1600">
                <a:latin typeface="+mj-lt"/>
              </a:rPr>
              <a:t> </a:t>
            </a:r>
            <a:r>
              <a:rPr lang="en-US" sz="1600" err="1">
                <a:latin typeface="+mj-lt"/>
              </a:rPr>
              <a:t>fugiat</a:t>
            </a:r>
            <a:r>
              <a:rPr lang="en-US" sz="1600">
                <a:latin typeface="+mj-lt"/>
              </a:rPr>
              <a:t> </a:t>
            </a:r>
            <a:r>
              <a:rPr lang="en-US" sz="1600" err="1">
                <a:latin typeface="+mj-lt"/>
              </a:rPr>
              <a:t>nulla</a:t>
            </a:r>
            <a:r>
              <a:rPr lang="en-US" sz="1600">
                <a:latin typeface="+mj-lt"/>
              </a:rPr>
              <a:t> </a:t>
            </a:r>
            <a:r>
              <a:rPr lang="en-US" sz="1600" err="1">
                <a:latin typeface="+mj-lt"/>
              </a:rPr>
              <a:t>pariatur</a:t>
            </a:r>
            <a:r>
              <a:rPr lang="en-US" sz="1600">
                <a:latin typeface="+mj-lt"/>
              </a:rPr>
              <a:t>. </a:t>
            </a:r>
            <a:r>
              <a:rPr lang="en-US" sz="1600" err="1">
                <a:latin typeface="+mj-lt"/>
              </a:rPr>
              <a:t>Excepteur</a:t>
            </a:r>
            <a:r>
              <a:rPr lang="en-US" sz="1600">
                <a:latin typeface="+mj-lt"/>
              </a:rPr>
              <a:t> </a:t>
            </a:r>
            <a:r>
              <a:rPr lang="en-US" sz="1600" err="1">
                <a:latin typeface="+mj-lt"/>
              </a:rPr>
              <a:t>sint</a:t>
            </a:r>
            <a:r>
              <a:rPr lang="en-US" sz="1600">
                <a:latin typeface="+mj-lt"/>
              </a:rPr>
              <a:t> </a:t>
            </a:r>
            <a:r>
              <a:rPr lang="en-US" sz="1600" err="1">
                <a:latin typeface="+mj-lt"/>
              </a:rPr>
              <a:t>occaecat</a:t>
            </a:r>
            <a:r>
              <a:rPr lang="en-US" sz="1600">
                <a:latin typeface="+mj-lt"/>
              </a:rPr>
              <a:t> </a:t>
            </a:r>
            <a:r>
              <a:rPr lang="en-US" sz="1600" err="1">
                <a:latin typeface="+mj-lt"/>
              </a:rPr>
              <a:t>cupidatat</a:t>
            </a:r>
            <a:r>
              <a:rPr lang="en-US" sz="1600">
                <a:latin typeface="+mj-lt"/>
              </a:rPr>
              <a:t> non </a:t>
            </a:r>
            <a:r>
              <a:rPr lang="en-US" sz="1600" err="1">
                <a:latin typeface="+mj-lt"/>
              </a:rPr>
              <a:t>proident</a:t>
            </a:r>
            <a:r>
              <a:rPr lang="en-US" sz="1600">
                <a:latin typeface="+mj-lt"/>
              </a:rPr>
              <a:t>, sunt in culpa qui </a:t>
            </a:r>
            <a:r>
              <a:rPr lang="en-US" sz="1600" err="1">
                <a:latin typeface="+mj-lt"/>
              </a:rPr>
              <a:t>officia</a:t>
            </a:r>
            <a:r>
              <a:rPr lang="en-US" sz="1600">
                <a:latin typeface="+mj-lt"/>
              </a:rPr>
              <a:t> </a:t>
            </a:r>
            <a:r>
              <a:rPr lang="en-US" sz="1600" err="1">
                <a:latin typeface="+mj-lt"/>
              </a:rPr>
              <a:t>deserunt</a:t>
            </a:r>
            <a:r>
              <a:rPr lang="en-US" sz="1600">
                <a:latin typeface="+mj-lt"/>
              </a:rPr>
              <a:t> </a:t>
            </a:r>
            <a:r>
              <a:rPr lang="en-US" sz="1600" err="1">
                <a:latin typeface="+mj-lt"/>
              </a:rPr>
              <a:t>mollit</a:t>
            </a:r>
            <a:r>
              <a:rPr lang="en-US" sz="1600">
                <a:latin typeface="+mj-lt"/>
              </a:rPr>
              <a:t> </a:t>
            </a:r>
            <a:r>
              <a:rPr lang="en-US" sz="1600" err="1">
                <a:latin typeface="+mj-lt"/>
              </a:rPr>
              <a:t>anim</a:t>
            </a:r>
            <a:r>
              <a:rPr lang="en-US" sz="1600">
                <a:latin typeface="+mj-lt"/>
              </a:rPr>
              <a:t> id </a:t>
            </a:r>
            <a:r>
              <a:rPr lang="en-US" sz="1600" err="1">
                <a:latin typeface="+mj-lt"/>
              </a:rPr>
              <a:t>est</a:t>
            </a:r>
            <a:r>
              <a:rPr lang="en-US" sz="1600">
                <a:latin typeface="+mj-lt"/>
              </a:rPr>
              <a:t> </a:t>
            </a:r>
            <a:r>
              <a:rPr lang="en-US" sz="1600" err="1">
                <a:latin typeface="+mj-lt"/>
              </a:rPr>
              <a:t>laborum</a:t>
            </a:r>
            <a:r>
              <a:rPr lang="en-US" sz="1600">
                <a:latin typeface="+mj-lt"/>
              </a:rPr>
              <a:t>.</a:t>
            </a:r>
          </a:p>
        </p:txBody>
      </p:sp>
    </p:spTree>
    <p:extLst>
      <p:ext uri="{BB962C8B-B14F-4D97-AF65-F5344CB8AC3E}">
        <p14:creationId xmlns:p14="http://schemas.microsoft.com/office/powerpoint/2010/main" val="20357921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3" name="Table 6">
            <a:extLst>
              <a:ext uri="{FF2B5EF4-FFF2-40B4-BE49-F238E27FC236}">
                <a16:creationId xmlns:a16="http://schemas.microsoft.com/office/drawing/2014/main" id="{79E7A71A-1BEF-74F0-C6C1-137598C82F72}"/>
              </a:ext>
            </a:extLst>
          </p:cNvPr>
          <p:cNvGraphicFramePr>
            <a:graphicFrameLocks noGrp="1"/>
          </p:cNvGraphicFramePr>
          <p:nvPr>
            <p:extLst>
              <p:ext uri="{D42A27DB-BD31-4B8C-83A1-F6EECF244321}">
                <p14:modId xmlns:p14="http://schemas.microsoft.com/office/powerpoint/2010/main" val="4017604500"/>
              </p:ext>
            </p:extLst>
          </p:nvPr>
        </p:nvGraphicFramePr>
        <p:xfrm>
          <a:off x="554991" y="1747278"/>
          <a:ext cx="11082019" cy="4234053"/>
        </p:xfrm>
        <a:graphic>
          <a:graphicData uri="http://schemas.openxmlformats.org/drawingml/2006/table">
            <a:tbl>
              <a:tblPr firstRow="1" bandRow="1">
                <a:tableStyleId>{073A0DAA-6AF3-43AB-8588-CEC1D06C72B9}</a:tableStyleId>
              </a:tblPr>
              <a:tblGrid>
                <a:gridCol w="1955734">
                  <a:extLst>
                    <a:ext uri="{9D8B030D-6E8A-4147-A177-3AD203B41FA5}">
                      <a16:colId xmlns:a16="http://schemas.microsoft.com/office/drawing/2014/main" val="3214227377"/>
                    </a:ext>
                  </a:extLst>
                </a:gridCol>
                <a:gridCol w="3042095">
                  <a:extLst>
                    <a:ext uri="{9D8B030D-6E8A-4147-A177-3AD203B41FA5}">
                      <a16:colId xmlns:a16="http://schemas.microsoft.com/office/drawing/2014/main" val="3478323516"/>
                    </a:ext>
                  </a:extLst>
                </a:gridCol>
                <a:gridCol w="3042095">
                  <a:extLst>
                    <a:ext uri="{9D8B030D-6E8A-4147-A177-3AD203B41FA5}">
                      <a16:colId xmlns:a16="http://schemas.microsoft.com/office/drawing/2014/main" val="3634470519"/>
                    </a:ext>
                  </a:extLst>
                </a:gridCol>
                <a:gridCol w="3042095">
                  <a:extLst>
                    <a:ext uri="{9D8B030D-6E8A-4147-A177-3AD203B41FA5}">
                      <a16:colId xmlns:a16="http://schemas.microsoft.com/office/drawing/2014/main" val="1758720560"/>
                    </a:ext>
                  </a:extLst>
                </a:gridCol>
              </a:tblGrid>
              <a:tr h="0">
                <a:tc>
                  <a:txBody>
                    <a:bodyPr/>
                    <a:lstStyle/>
                    <a:p>
                      <a:pPr algn="l">
                        <a:lnSpc>
                          <a:spcPct val="110000"/>
                        </a:lnSpc>
                      </a:pPr>
                      <a:endParaRPr lang="en-US" sz="1400" b="1" i="0">
                        <a:latin typeface="Poppins SemiBold" pitchFamily="2" charset="77"/>
                        <a:cs typeface="Poppins SemiBold" pitchFamily="2" charset="77"/>
                      </a:endParaRPr>
                    </a:p>
                  </a:txBody>
                  <a:tcPr marL="111556" marR="111556" marT="137160" marB="137160" anchor="ctr">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10000"/>
                        </a:lnSpc>
                      </a:pPr>
                      <a:r>
                        <a:rPr lang="en-US" sz="1400" b="1" i="0" kern="1200">
                          <a:solidFill>
                            <a:schemeClr val="lt1"/>
                          </a:solidFill>
                          <a:latin typeface="Poppins SemiBold" pitchFamily="2" charset="77"/>
                          <a:ea typeface="+mn-ea"/>
                          <a:cs typeface="Poppins SemiBold" pitchFamily="2" charset="77"/>
                        </a:rPr>
                        <a:t>Lorem ipsum dolor sit amet</a:t>
                      </a:r>
                    </a:p>
                  </a:txBody>
                  <a:tcPr marL="111556" marR="111556" marT="137160" marB="137160" anchor="ctr">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l">
                        <a:lnSpc>
                          <a:spcPct val="110000"/>
                        </a:lnSpc>
                      </a:pPr>
                      <a:r>
                        <a:rPr lang="en-US" sz="1400" b="1" i="0">
                          <a:latin typeface="Poppins SemiBold" pitchFamily="2" charset="77"/>
                          <a:cs typeface="Poppins SemiBold" pitchFamily="2" charset="77"/>
                        </a:rPr>
                        <a:t>Lorem ipsum dolor sit amet</a:t>
                      </a:r>
                    </a:p>
                  </a:txBody>
                  <a:tcPr marL="111556" marR="111556" marT="137160" marB="137160" anchor="ctr">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l">
                        <a:lnSpc>
                          <a:spcPct val="110000"/>
                        </a:lnSpc>
                      </a:pPr>
                      <a:r>
                        <a:rPr lang="en-US" sz="1400" b="1" i="0">
                          <a:latin typeface="Poppins SemiBold" pitchFamily="2" charset="77"/>
                          <a:cs typeface="Poppins SemiBold" pitchFamily="2" charset="77"/>
                        </a:rPr>
                        <a:t>Lorem ipsum dolor sit </a:t>
                      </a:r>
                      <a:r>
                        <a:rPr lang="en-US" sz="1400" b="1" i="0" err="1">
                          <a:latin typeface="Poppins SemiBold" pitchFamily="2" charset="77"/>
                          <a:cs typeface="Poppins SemiBold" pitchFamily="2" charset="77"/>
                        </a:rPr>
                        <a:t>amet</a:t>
                      </a:r>
                      <a:endParaRPr lang="en-US" sz="1400" b="1" i="0">
                        <a:latin typeface="Poppins SemiBold" pitchFamily="2" charset="77"/>
                        <a:cs typeface="Poppins SemiBold" pitchFamily="2" charset="77"/>
                      </a:endParaRPr>
                    </a:p>
                  </a:txBody>
                  <a:tcPr marL="111556" marR="111556" marT="137160" marB="137160" anchor="ctr">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672505719"/>
                  </a:ext>
                </a:extLst>
              </a:tr>
              <a:tr h="0">
                <a:tc>
                  <a:txBody>
                    <a:bodyPr/>
                    <a:lstStyle/>
                    <a:p>
                      <a:pPr marL="0" marR="0" lvl="0" indent="0" algn="l" defTabSz="914377" rtl="0" eaLnBrk="1" fontAlgn="auto" latinLnBrk="0" hangingPunct="1">
                        <a:lnSpc>
                          <a:spcPct val="11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Poppins SemiBold" pitchFamily="2" charset="77"/>
                          <a:ea typeface="+mn-ea"/>
                          <a:cs typeface="Poppins SemiBold" pitchFamily="2" charset="77"/>
                        </a:rPr>
                        <a:t>Lorem Ipsum Dolor</a:t>
                      </a:r>
                    </a:p>
                  </a:txBody>
                  <a:tcPr marL="111556" marR="111556" marT="137160" marB="13716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lnSpc>
                          <a:spcPct val="110000"/>
                        </a:lnSpc>
                      </a:pP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Lorem ipsum dolor sit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amet</a:t>
                      </a:r>
                      <a:endParaRPr lang="en-US" sz="1100">
                        <a:solidFill>
                          <a:schemeClr val="tx1"/>
                        </a:solidFill>
                        <a:latin typeface="Poppins" pitchFamily="2" charset="77"/>
                        <a:cs typeface="Poppins" pitchFamily="2" charset="77"/>
                      </a:endParaRPr>
                    </a:p>
                  </a:txBody>
                  <a:tcPr marL="111556" marR="111556" marT="137160" marB="13716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377" rtl="0" eaLnBrk="1" fontAlgn="auto" latinLnBrk="0" hangingPunct="1">
                        <a:lnSpc>
                          <a:spcPct val="11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Lorem ipsum dolor sit amet</a:t>
                      </a:r>
                    </a:p>
                  </a:txBody>
                  <a:tcPr marL="111556" marR="111556" marT="137160" marB="13716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377" rtl="0" eaLnBrk="1" fontAlgn="auto" latinLnBrk="0" hangingPunct="1">
                        <a:lnSpc>
                          <a:spcPct val="11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Lorem ipsum dolor sit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amet</a:t>
                      </a:r>
                      <a:endPar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endParaRPr>
                    </a:p>
                  </a:txBody>
                  <a:tcPr marL="111556" marR="111556" marT="137160" marB="13716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244635319"/>
                  </a:ext>
                </a:extLst>
              </a:tr>
              <a:tr h="0">
                <a:tc>
                  <a:txBody>
                    <a:bodyPr/>
                    <a:lstStyle/>
                    <a:p>
                      <a:pPr marL="0" marR="0" lvl="0" indent="0" algn="l" defTabSz="914377" rtl="0" eaLnBrk="1" fontAlgn="auto" latinLnBrk="0" hangingPunct="1">
                        <a:lnSpc>
                          <a:spcPct val="11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Poppins SemiBold" pitchFamily="2" charset="77"/>
                          <a:ea typeface="+mn-ea"/>
                          <a:cs typeface="Poppins SemiBold" pitchFamily="2" charset="77"/>
                        </a:rPr>
                        <a:t>Lorem Ipsum Dolor</a:t>
                      </a:r>
                    </a:p>
                  </a:txBody>
                  <a:tcPr marL="111556" marR="111556" marT="137160" marB="13716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Lorem ipsum dolor sit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amet</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consectetur</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adipiscing</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elit</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sed do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eiusmod</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tempor</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incididunt</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ut</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labore et dolore magna</a:t>
                      </a:r>
                    </a:p>
                  </a:txBody>
                  <a:tcPr marL="111556" marR="111556" marT="137160" marB="13716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Lorem ipsum dolor sit amet, consectetur adipiscing elit, sed do eiusmod tempor incididunt ut labore et dolore magna</a:t>
                      </a:r>
                    </a:p>
                  </a:txBody>
                  <a:tcPr marL="111556" marR="111556" marT="137160" marB="13716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Lorem ipsum dolor sit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amet</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consectetur</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adipiscing</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elit</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sed do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eiusmod</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tempor</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incididunt</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ut</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labore et dolore magna</a:t>
                      </a:r>
                    </a:p>
                  </a:txBody>
                  <a:tcPr marL="111556" marR="111556" marT="137160" marB="13716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91722009"/>
                  </a:ext>
                </a:extLst>
              </a:tr>
              <a:tr h="0">
                <a:tc>
                  <a:txBody>
                    <a:bodyPr/>
                    <a:lstStyle/>
                    <a:p>
                      <a:pPr marL="0" marR="0" lvl="0" indent="0" algn="l" defTabSz="914377" rtl="0" eaLnBrk="1" fontAlgn="auto" latinLnBrk="0" hangingPunct="1">
                        <a:lnSpc>
                          <a:spcPct val="11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Poppins SemiBold" pitchFamily="2" charset="77"/>
                          <a:ea typeface="+mn-ea"/>
                          <a:cs typeface="Poppins SemiBold" pitchFamily="2" charset="77"/>
                        </a:rPr>
                        <a:t>Lorem Ipsum Dolor</a:t>
                      </a:r>
                    </a:p>
                  </a:txBody>
                  <a:tcPr marL="111556" marR="111556" marT="137160" marB="137160" anchor="ctr">
                    <a:lnL w="12700" cmpd="sng">
                      <a:noFill/>
                    </a:lnL>
                    <a:lnR w="12700" cmpd="sng">
                      <a:noFill/>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Lorem ipsum dolor sit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amet</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consectetur</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adipiscing</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elit</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sed do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eiusmod</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tempor</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incididunt</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ut</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labore et dolore magna</a:t>
                      </a:r>
                    </a:p>
                  </a:txBody>
                  <a:tcPr marL="111556" marR="111556" marT="137160" marB="137160" anchor="ctr">
                    <a:lnL w="12700" cmpd="sng">
                      <a:noFill/>
                    </a:lnL>
                    <a:lnR w="12700" cmpd="sng">
                      <a:noFill/>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Lorem ipsum dolor sit amet, consectetur adipiscing elit, sed do eiusmod tempor incididunt ut labore et dolore magna</a:t>
                      </a:r>
                    </a:p>
                  </a:txBody>
                  <a:tcPr marL="111556" marR="111556" marT="137160" marB="137160" anchor="ctr">
                    <a:lnL w="12700" cmpd="sng">
                      <a:noFill/>
                    </a:lnL>
                    <a:lnR w="12700" cmpd="sng">
                      <a:noFill/>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Lorem ipsum dolor sit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amet</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consectetur</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adipiscing</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elit</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sed do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eiusmod</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tempor</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incididunt</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ut</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labore et dolore magna</a:t>
                      </a:r>
                    </a:p>
                  </a:txBody>
                  <a:tcPr marL="111556" marR="111556" marT="137160" marB="137160" anchor="ctr">
                    <a:lnL w="12700" cmpd="sng">
                      <a:noFill/>
                    </a:lnL>
                    <a:lnR w="12700" cmpd="sng">
                      <a:noFill/>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24690203"/>
                  </a:ext>
                </a:extLst>
              </a:tr>
              <a:tr h="0">
                <a:tc>
                  <a:txBody>
                    <a:bodyPr/>
                    <a:lstStyle/>
                    <a:p>
                      <a:pPr marL="0" marR="0" lvl="0" indent="0" algn="l" defTabSz="914377" rtl="0" eaLnBrk="1" fontAlgn="auto" latinLnBrk="0" hangingPunct="1">
                        <a:lnSpc>
                          <a:spcPct val="11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Poppins SemiBold" pitchFamily="2" charset="77"/>
                          <a:ea typeface="+mn-ea"/>
                          <a:cs typeface="Poppins SemiBold" pitchFamily="2" charset="77"/>
                        </a:rPr>
                        <a:t>Lorem Ipsum Dolor</a:t>
                      </a:r>
                    </a:p>
                  </a:txBody>
                  <a:tcPr marL="111556" marR="111556" marT="137160" marB="137160" anchor="ctr">
                    <a:lnL w="12700" cmpd="sng">
                      <a:noFill/>
                    </a:lnL>
                    <a:lnR w="12700" cmpd="sng">
                      <a:noFill/>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Lorem ipsum dolor sit amet, consectetur adipiscing elit, sed do eiusmod tempor incididunt ut labore et dolore magna</a:t>
                      </a:r>
                    </a:p>
                  </a:txBody>
                  <a:tcPr marL="111556" marR="111556" marT="137160" marB="137160" anchor="ctr">
                    <a:lnL w="12700" cmpd="sng">
                      <a:noFill/>
                    </a:lnL>
                    <a:lnR w="12700" cmpd="sng">
                      <a:noFill/>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Lorem ipsum dolor sit amet, consectetur adipiscing elit, sed do eiusmod tempor incididunt ut labore et dolore magna</a:t>
                      </a:r>
                    </a:p>
                  </a:txBody>
                  <a:tcPr marL="111556" marR="111556" marT="137160" marB="137160" anchor="ctr">
                    <a:lnL w="12700" cmpd="sng">
                      <a:noFill/>
                    </a:lnL>
                    <a:lnR w="12700" cmpd="sng">
                      <a:noFill/>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Lorem ipsum dolor sit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amet</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consectetur</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adipiscing</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elit</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sed do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eiusmod</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tempor</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incididunt</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ut</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labore et dolore magna</a:t>
                      </a:r>
                    </a:p>
                  </a:txBody>
                  <a:tcPr marL="111556" marR="111556" marT="137160" marB="137160" anchor="ctr">
                    <a:lnL w="12700" cmpd="sng">
                      <a:noFill/>
                    </a:lnL>
                    <a:lnR w="12700" cmpd="sng">
                      <a:noFill/>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38405630"/>
                  </a:ext>
                </a:extLst>
              </a:tr>
              <a:tr h="0">
                <a:tc>
                  <a:txBody>
                    <a:bodyPr/>
                    <a:lstStyle/>
                    <a:p>
                      <a:pPr marL="0" marR="0" lvl="0" indent="0" algn="l" defTabSz="914377" rtl="0" eaLnBrk="1" fontAlgn="auto" latinLnBrk="0" hangingPunct="1">
                        <a:lnSpc>
                          <a:spcPct val="11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Poppins SemiBold" pitchFamily="2" charset="77"/>
                          <a:ea typeface="+mn-ea"/>
                          <a:cs typeface="Poppins SemiBold" pitchFamily="2" charset="77"/>
                        </a:rPr>
                        <a:t>Lorem Ipsum Dolor</a:t>
                      </a:r>
                    </a:p>
                  </a:txBody>
                  <a:tcPr marL="111556" marR="111556" marT="137160" marB="137160" anchor="ctr">
                    <a:lnL w="12700" cmpd="sng">
                      <a:noFill/>
                    </a:lnL>
                    <a:lnR w="12700" cmpd="sng">
                      <a:noFill/>
                    </a:lnR>
                    <a:lnT w="12700" cap="flat" cmpd="sng" algn="ctr">
                      <a:solidFill>
                        <a:schemeClr val="bg1">
                          <a:lumMod val="75000"/>
                        </a:schemeClr>
                      </a:solidFill>
                      <a:prstDash val="sysDot"/>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Lorem ipsum dolor sit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amet</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consectetur</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adipiscing</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elit</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sed do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eiusmod</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tempor</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incididunt</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ut</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labore et dolore magna</a:t>
                      </a:r>
                    </a:p>
                  </a:txBody>
                  <a:tcPr marL="111556" marR="111556" marT="137160" marB="137160" anchor="ctr">
                    <a:lnL w="12700" cmpd="sng">
                      <a:noFill/>
                    </a:lnL>
                    <a:lnR w="12700" cmpd="sng">
                      <a:noFill/>
                    </a:lnR>
                    <a:lnT w="12700" cap="flat" cmpd="sng" algn="ctr">
                      <a:solidFill>
                        <a:schemeClr val="bg1">
                          <a:lumMod val="75000"/>
                        </a:schemeClr>
                      </a:solidFill>
                      <a:prstDash val="sysDot"/>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Lorem ipsum dolor sit amet, consectetur adipiscing elit, sed do eiusmod tempor incididunt ut labore et dolore magna</a:t>
                      </a:r>
                    </a:p>
                  </a:txBody>
                  <a:tcPr marL="111556" marR="111556" marT="137160" marB="137160" anchor="ctr">
                    <a:lnL w="12700" cmpd="sng">
                      <a:noFill/>
                    </a:lnL>
                    <a:lnR w="12700" cmpd="sng">
                      <a:noFill/>
                    </a:lnR>
                    <a:lnT w="12700" cap="flat" cmpd="sng" algn="ctr">
                      <a:solidFill>
                        <a:schemeClr val="bg1">
                          <a:lumMod val="75000"/>
                        </a:schemeClr>
                      </a:solidFill>
                      <a:prstDash val="sysDot"/>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Lorem ipsum dolor sit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amet</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consectetur</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adipiscing</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elit</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sed do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eiusmod</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tempor</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incididunt</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ut</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labore et dolore magna</a:t>
                      </a:r>
                    </a:p>
                  </a:txBody>
                  <a:tcPr marL="111556" marR="111556" marT="137160" marB="137160" anchor="ctr">
                    <a:lnL w="12700" cmpd="sng">
                      <a:noFill/>
                    </a:lnL>
                    <a:lnR w="12700" cmpd="sng">
                      <a:noFill/>
                    </a:lnR>
                    <a:lnT w="12700" cap="flat" cmpd="sng" algn="ctr">
                      <a:solidFill>
                        <a:schemeClr val="bg1">
                          <a:lumMod val="75000"/>
                        </a:schemeClr>
                      </a:solidFill>
                      <a:prstDash val="sysDot"/>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73905573"/>
                  </a:ext>
                </a:extLst>
              </a:tr>
            </a:tbl>
          </a:graphicData>
        </a:graphic>
      </p:graphicFrame>
      <p:sp>
        <p:nvSpPr>
          <p:cNvPr id="5" name="Title 1">
            <a:extLst>
              <a:ext uri="{FF2B5EF4-FFF2-40B4-BE49-F238E27FC236}">
                <a16:creationId xmlns:a16="http://schemas.microsoft.com/office/drawing/2014/main" id="{39078ACC-B664-9E8B-59B3-BC833C4138D4}"/>
              </a:ext>
            </a:extLst>
          </p:cNvPr>
          <p:cNvSpPr txBox="1">
            <a:spLocks/>
          </p:cNvSpPr>
          <p:nvPr/>
        </p:nvSpPr>
        <p:spPr>
          <a:xfrm>
            <a:off x="554989" y="771015"/>
            <a:ext cx="11082019" cy="547842"/>
          </a:xfrm>
          <a:prstGeom prst="rect">
            <a:avLst/>
          </a:prstGeom>
        </p:spPr>
        <p:txBody>
          <a:bodyPr vert="horz" lIns="91440" tIns="45720" rIns="91440" bIns="45720" rtlCol="0" anchor="t">
            <a:spAutoFit/>
          </a:bodyPr>
          <a:lstStyle>
            <a:lvl1pPr algn="l" defTabSz="914377" rtl="0" eaLnBrk="1" latinLnBrk="0" hangingPunct="1">
              <a:lnSpc>
                <a:spcPct val="90000"/>
              </a:lnSpc>
              <a:spcBef>
                <a:spcPct val="0"/>
              </a:spcBef>
              <a:buNone/>
              <a:defRPr sz="3200" b="1" kern="1200">
                <a:solidFill>
                  <a:schemeClr val="accent4"/>
                </a:solidFill>
                <a:latin typeface="Poppins" panose="00000500000000000000" pitchFamily="2" charset="0"/>
                <a:ea typeface="+mj-ea"/>
                <a:cs typeface="Poppins" panose="00000500000000000000" pitchFamily="2" charset="0"/>
              </a:defRPr>
            </a:lvl1pPr>
          </a:lstStyle>
          <a:p>
            <a:pPr algn="ctr"/>
            <a:r>
              <a:rPr lang="en-US" dirty="0">
                <a:solidFill>
                  <a:schemeClr val="accent1"/>
                </a:solidFill>
              </a:rPr>
              <a:t>Lorem ipsum dolor sit </a:t>
            </a:r>
            <a:r>
              <a:rPr lang="en-US" dirty="0" err="1">
                <a:solidFill>
                  <a:schemeClr val="accent1"/>
                </a:solidFill>
              </a:rPr>
              <a:t>amet</a:t>
            </a:r>
            <a:r>
              <a:rPr lang="en-US" dirty="0">
                <a:solidFill>
                  <a:schemeClr val="accent1"/>
                </a:solidFill>
              </a:rPr>
              <a:t>, </a:t>
            </a:r>
            <a:r>
              <a:rPr lang="en-US" dirty="0" err="1">
                <a:solidFill>
                  <a:schemeClr val="accent1"/>
                </a:solidFill>
              </a:rPr>
              <a:t>consectetur</a:t>
            </a:r>
            <a:r>
              <a:rPr lang="en-US" dirty="0">
                <a:solidFill>
                  <a:schemeClr val="accent1"/>
                </a:solidFill>
              </a:rPr>
              <a:t> </a:t>
            </a:r>
            <a:r>
              <a:rPr lang="en-US" dirty="0" err="1">
                <a:solidFill>
                  <a:schemeClr val="accent1"/>
                </a:solidFill>
              </a:rPr>
              <a:t>adipiscing</a:t>
            </a:r>
            <a:endParaRPr lang="en-US" dirty="0">
              <a:solidFill>
                <a:schemeClr val="accent1"/>
              </a:solidFill>
            </a:endParaRPr>
          </a:p>
        </p:txBody>
      </p:sp>
    </p:spTree>
    <p:extLst>
      <p:ext uri="{BB962C8B-B14F-4D97-AF65-F5344CB8AC3E}">
        <p14:creationId xmlns:p14="http://schemas.microsoft.com/office/powerpoint/2010/main" val="8057406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295C13D-973A-B318-2B14-225A7E6299C5}"/>
              </a:ext>
            </a:extLst>
          </p:cNvPr>
          <p:cNvSpPr/>
          <p:nvPr/>
        </p:nvSpPr>
        <p:spPr>
          <a:xfrm>
            <a:off x="0" y="-1"/>
            <a:ext cx="12191999" cy="3517901"/>
          </a:xfrm>
          <a:prstGeom prst="rect">
            <a:avLst/>
          </a:prstGeom>
          <a:solidFill>
            <a:schemeClr val="bg1">
              <a:lumMod val="85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r>
              <a:rPr lang="en-US">
                <a:solidFill>
                  <a:schemeClr val="bg1">
                    <a:lumMod val="75000"/>
                  </a:schemeClr>
                </a:solidFill>
              </a:rPr>
              <a:t>IMAGE</a:t>
            </a:r>
          </a:p>
        </p:txBody>
      </p:sp>
      <p:sp>
        <p:nvSpPr>
          <p:cNvPr id="8" name="Rectangle 7">
            <a:extLst>
              <a:ext uri="{FF2B5EF4-FFF2-40B4-BE49-F238E27FC236}">
                <a16:creationId xmlns:a16="http://schemas.microsoft.com/office/drawing/2014/main" id="{311855DF-A1BA-D8BB-2CE1-DCAE409E3590}"/>
              </a:ext>
            </a:extLst>
          </p:cNvPr>
          <p:cNvSpPr/>
          <p:nvPr/>
        </p:nvSpPr>
        <p:spPr>
          <a:xfrm>
            <a:off x="-17344" y="522514"/>
            <a:ext cx="12209344" cy="2995386"/>
          </a:xfrm>
          <a:prstGeom prst="rect">
            <a:avLst/>
          </a:prstGeom>
          <a:gradFill>
            <a:gsLst>
              <a:gs pos="0">
                <a:schemeClr val="tx1">
                  <a:alpha val="0"/>
                </a:schemeClr>
              </a:gs>
              <a:gs pos="45000">
                <a:srgbClr val="000000">
                  <a:alpha val="46000"/>
                </a:srgbClr>
              </a:gs>
              <a:gs pos="90000">
                <a:schemeClr val="tx1"/>
              </a:gs>
            </a:gsLst>
            <a:lin ang="5400000" scaled="1"/>
          </a:gra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US" err="1"/>
          </a:p>
        </p:txBody>
      </p:sp>
      <p:grpSp>
        <p:nvGrpSpPr>
          <p:cNvPr id="14" name="Group 13">
            <a:extLst>
              <a:ext uri="{FF2B5EF4-FFF2-40B4-BE49-F238E27FC236}">
                <a16:creationId xmlns:a16="http://schemas.microsoft.com/office/drawing/2014/main" id="{712D833B-0E0A-7388-B335-97BC1D7D9DA2}"/>
              </a:ext>
            </a:extLst>
          </p:cNvPr>
          <p:cNvGrpSpPr/>
          <p:nvPr/>
        </p:nvGrpSpPr>
        <p:grpSpPr>
          <a:xfrm>
            <a:off x="838201" y="2414338"/>
            <a:ext cx="10515600" cy="3581190"/>
            <a:chOff x="662614" y="1977701"/>
            <a:chExt cx="8566655" cy="3355009"/>
          </a:xfrm>
        </p:grpSpPr>
        <p:sp>
          <p:nvSpPr>
            <p:cNvPr id="15" name="Rectangle: Rounded Corners 14">
              <a:extLst>
                <a:ext uri="{FF2B5EF4-FFF2-40B4-BE49-F238E27FC236}">
                  <a16:creationId xmlns:a16="http://schemas.microsoft.com/office/drawing/2014/main" id="{2F9ADC04-F605-D105-E44E-D9BEDF6C6D40}"/>
                </a:ext>
              </a:extLst>
            </p:cNvPr>
            <p:cNvSpPr/>
            <p:nvPr/>
          </p:nvSpPr>
          <p:spPr>
            <a:xfrm>
              <a:off x="662614" y="1977701"/>
              <a:ext cx="2626685" cy="3355009"/>
            </a:xfrm>
            <a:prstGeom prst="roundRect">
              <a:avLst>
                <a:gd name="adj" fmla="val 0"/>
              </a:avLst>
            </a:prstGeom>
            <a:solidFill>
              <a:schemeClr val="bg1">
                <a:lumMod val="95000"/>
              </a:schemeClr>
            </a:solidFill>
            <a:ln w="12700">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US" err="1"/>
            </a:p>
          </p:txBody>
        </p:sp>
        <p:sp>
          <p:nvSpPr>
            <p:cNvPr id="16" name="Rectangle: Rounded Corners 15">
              <a:extLst>
                <a:ext uri="{FF2B5EF4-FFF2-40B4-BE49-F238E27FC236}">
                  <a16:creationId xmlns:a16="http://schemas.microsoft.com/office/drawing/2014/main" id="{5964D531-D41E-048A-C83E-8C2F22A18F51}"/>
                </a:ext>
              </a:extLst>
            </p:cNvPr>
            <p:cNvSpPr/>
            <p:nvPr/>
          </p:nvSpPr>
          <p:spPr>
            <a:xfrm>
              <a:off x="3632599" y="1977701"/>
              <a:ext cx="2626685" cy="3355009"/>
            </a:xfrm>
            <a:prstGeom prst="roundRect">
              <a:avLst>
                <a:gd name="adj" fmla="val 0"/>
              </a:avLst>
            </a:prstGeom>
            <a:solidFill>
              <a:schemeClr val="bg1">
                <a:lumMod val="95000"/>
              </a:schemeClr>
            </a:solidFill>
            <a:ln w="12700">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US" err="1"/>
            </a:p>
          </p:txBody>
        </p:sp>
        <p:sp>
          <p:nvSpPr>
            <p:cNvPr id="17" name="Rectangle: Rounded Corners 16">
              <a:extLst>
                <a:ext uri="{FF2B5EF4-FFF2-40B4-BE49-F238E27FC236}">
                  <a16:creationId xmlns:a16="http://schemas.microsoft.com/office/drawing/2014/main" id="{C25BF4C4-FD8E-E274-01B3-FAE9F851236E}"/>
                </a:ext>
              </a:extLst>
            </p:cNvPr>
            <p:cNvSpPr/>
            <p:nvPr/>
          </p:nvSpPr>
          <p:spPr>
            <a:xfrm>
              <a:off x="6602584" y="1977701"/>
              <a:ext cx="2626685" cy="3355009"/>
            </a:xfrm>
            <a:prstGeom prst="roundRect">
              <a:avLst>
                <a:gd name="adj" fmla="val 0"/>
              </a:avLst>
            </a:prstGeom>
            <a:solidFill>
              <a:schemeClr val="bg1">
                <a:lumMod val="95000"/>
              </a:schemeClr>
            </a:solidFill>
            <a:ln w="12700">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US" err="1"/>
            </a:p>
          </p:txBody>
        </p:sp>
      </p:grpSp>
      <p:sp>
        <p:nvSpPr>
          <p:cNvPr id="4" name="Rectangle 3">
            <a:extLst>
              <a:ext uri="{FF2B5EF4-FFF2-40B4-BE49-F238E27FC236}">
                <a16:creationId xmlns:a16="http://schemas.microsoft.com/office/drawing/2014/main" id="{ADC3ADD5-4B30-DDD2-880E-BB0546A3AABC}"/>
              </a:ext>
            </a:extLst>
          </p:cNvPr>
          <p:cNvSpPr/>
          <p:nvPr/>
        </p:nvSpPr>
        <p:spPr>
          <a:xfrm>
            <a:off x="1015140" y="3006740"/>
            <a:ext cx="2889202" cy="2661434"/>
          </a:xfrm>
          <a:prstGeom prst="rect">
            <a:avLst/>
          </a:prstGeom>
        </p:spPr>
        <p:txBody>
          <a:bodyPr wrap="square">
            <a:spAutoFit/>
          </a:bodyPr>
          <a:lstStyle/>
          <a:p>
            <a:pPr algn="ctr" fontAlgn="base">
              <a:lnSpc>
                <a:spcPct val="125000"/>
              </a:lnSpc>
              <a:spcBef>
                <a:spcPct val="0"/>
              </a:spcBef>
              <a:spcAft>
                <a:spcPct val="0"/>
              </a:spcAft>
            </a:pPr>
            <a:r>
              <a:rPr lang="en-US" dirty="0">
                <a:solidFill>
                  <a:schemeClr val="accent1"/>
                </a:solidFill>
                <a:latin typeface="Poppins SemiBold" panose="00000700000000000000" pitchFamily="2" charset="0"/>
                <a:cs typeface="Poppins SemiBold" panose="00000700000000000000" pitchFamily="2" charset="0"/>
              </a:rPr>
              <a:t>Insert headline here</a:t>
            </a:r>
          </a:p>
          <a:p>
            <a:pPr algn="ctr" fontAlgn="base">
              <a:lnSpc>
                <a:spcPct val="125000"/>
              </a:lnSpc>
              <a:spcBef>
                <a:spcPct val="0"/>
              </a:spcBef>
              <a:spcAft>
                <a:spcPct val="0"/>
              </a:spcAft>
            </a:pPr>
            <a:endParaRPr lang="en-US" sz="300" dirty="0">
              <a:latin typeface="+mj-lt"/>
            </a:endParaRPr>
          </a:p>
          <a:p>
            <a:pPr algn="ctr" fontAlgn="base">
              <a:lnSpc>
                <a:spcPct val="112000"/>
              </a:lnSpc>
              <a:spcBef>
                <a:spcPct val="0"/>
              </a:spcBef>
              <a:spcAft>
                <a:spcPct val="0"/>
              </a:spcAft>
            </a:pPr>
            <a:r>
              <a:rPr lang="en-US" sz="1400" dirty="0">
                <a:latin typeface="+mj-lt"/>
              </a:rPr>
              <a:t>The point of using Lorem Ipsum is that it has a more-or-less normal distribution of letters, as opposed to using 'Content here, content here', making it look like readable English. Many web page editors now use Lorem Ipsum as their default model text.</a:t>
            </a:r>
          </a:p>
        </p:txBody>
      </p:sp>
      <p:sp>
        <p:nvSpPr>
          <p:cNvPr id="5" name="Rectangle 4">
            <a:extLst>
              <a:ext uri="{FF2B5EF4-FFF2-40B4-BE49-F238E27FC236}">
                <a16:creationId xmlns:a16="http://schemas.microsoft.com/office/drawing/2014/main" id="{9AE10FBF-F59E-4114-9D1D-E12B96A082C9}"/>
              </a:ext>
            </a:extLst>
          </p:cNvPr>
          <p:cNvSpPr/>
          <p:nvPr/>
        </p:nvSpPr>
        <p:spPr>
          <a:xfrm>
            <a:off x="4660069" y="3006740"/>
            <a:ext cx="2889202" cy="2661434"/>
          </a:xfrm>
          <a:prstGeom prst="rect">
            <a:avLst/>
          </a:prstGeom>
        </p:spPr>
        <p:txBody>
          <a:bodyPr wrap="square">
            <a:spAutoFit/>
          </a:bodyPr>
          <a:lstStyle/>
          <a:p>
            <a:pPr algn="ctr" fontAlgn="base">
              <a:lnSpc>
                <a:spcPct val="125000"/>
              </a:lnSpc>
              <a:spcBef>
                <a:spcPct val="0"/>
              </a:spcBef>
              <a:spcAft>
                <a:spcPct val="0"/>
              </a:spcAft>
            </a:pPr>
            <a:r>
              <a:rPr lang="en-US">
                <a:solidFill>
                  <a:schemeClr val="accent1"/>
                </a:solidFill>
                <a:latin typeface="Poppins SemiBold" panose="00000700000000000000" pitchFamily="2" charset="0"/>
                <a:cs typeface="Poppins SemiBold" panose="00000700000000000000" pitchFamily="2" charset="0"/>
              </a:rPr>
              <a:t>Insert headline here</a:t>
            </a:r>
          </a:p>
          <a:p>
            <a:pPr algn="ctr" fontAlgn="base">
              <a:lnSpc>
                <a:spcPct val="125000"/>
              </a:lnSpc>
              <a:spcBef>
                <a:spcPct val="0"/>
              </a:spcBef>
              <a:spcAft>
                <a:spcPct val="0"/>
              </a:spcAft>
            </a:pPr>
            <a:endParaRPr lang="en-US" sz="300">
              <a:latin typeface="+mj-lt"/>
            </a:endParaRPr>
          </a:p>
          <a:p>
            <a:pPr algn="ctr" fontAlgn="base">
              <a:lnSpc>
                <a:spcPct val="112000"/>
              </a:lnSpc>
              <a:spcBef>
                <a:spcPct val="0"/>
              </a:spcBef>
              <a:spcAft>
                <a:spcPct val="0"/>
              </a:spcAft>
            </a:pPr>
            <a:r>
              <a:rPr lang="en-US" sz="1400">
                <a:latin typeface="+mj-lt"/>
              </a:rPr>
              <a:t>The point of using Lorem Ipsum is that it has a more-or-less normal distribution of letters, as opposed to using 'Content here, content here', making it look like readable English. Many web page editors now use Lorem Ipsum as their default model text.</a:t>
            </a:r>
          </a:p>
        </p:txBody>
      </p:sp>
      <p:sp>
        <p:nvSpPr>
          <p:cNvPr id="6" name="Rectangle 5">
            <a:extLst>
              <a:ext uri="{FF2B5EF4-FFF2-40B4-BE49-F238E27FC236}">
                <a16:creationId xmlns:a16="http://schemas.microsoft.com/office/drawing/2014/main" id="{E4CC0D66-6E5D-44B7-76CF-A167E90BBBF7}"/>
              </a:ext>
            </a:extLst>
          </p:cNvPr>
          <p:cNvSpPr/>
          <p:nvPr/>
        </p:nvSpPr>
        <p:spPr>
          <a:xfrm>
            <a:off x="8303530" y="3006740"/>
            <a:ext cx="2889202" cy="2661434"/>
          </a:xfrm>
          <a:prstGeom prst="rect">
            <a:avLst/>
          </a:prstGeom>
        </p:spPr>
        <p:txBody>
          <a:bodyPr wrap="square">
            <a:spAutoFit/>
          </a:bodyPr>
          <a:lstStyle/>
          <a:p>
            <a:pPr algn="ctr" fontAlgn="base">
              <a:lnSpc>
                <a:spcPct val="125000"/>
              </a:lnSpc>
              <a:spcBef>
                <a:spcPct val="0"/>
              </a:spcBef>
              <a:spcAft>
                <a:spcPct val="0"/>
              </a:spcAft>
            </a:pPr>
            <a:r>
              <a:rPr lang="en-US">
                <a:solidFill>
                  <a:schemeClr val="accent1"/>
                </a:solidFill>
                <a:latin typeface="Poppins SemiBold" panose="00000700000000000000" pitchFamily="2" charset="0"/>
                <a:cs typeface="Poppins SemiBold" panose="00000700000000000000" pitchFamily="2" charset="0"/>
              </a:rPr>
              <a:t>Insert headline here</a:t>
            </a:r>
          </a:p>
          <a:p>
            <a:pPr algn="ctr" fontAlgn="base">
              <a:lnSpc>
                <a:spcPct val="125000"/>
              </a:lnSpc>
              <a:spcBef>
                <a:spcPct val="0"/>
              </a:spcBef>
              <a:spcAft>
                <a:spcPct val="0"/>
              </a:spcAft>
            </a:pPr>
            <a:endParaRPr lang="en-US" sz="300">
              <a:latin typeface="+mj-lt"/>
            </a:endParaRPr>
          </a:p>
          <a:p>
            <a:pPr algn="ctr" fontAlgn="base">
              <a:lnSpc>
                <a:spcPct val="112000"/>
              </a:lnSpc>
              <a:spcBef>
                <a:spcPct val="0"/>
              </a:spcBef>
              <a:spcAft>
                <a:spcPct val="0"/>
              </a:spcAft>
            </a:pPr>
            <a:r>
              <a:rPr lang="en-US" sz="1400">
                <a:latin typeface="+mj-lt"/>
              </a:rPr>
              <a:t>The point of using Lorem Ipsum is that it has a more-or-less normal distribution of letters, as opposed to using 'Content here, content here', making it look like readable English. Many web page editors now use Lorem Ipsum as their default model text.</a:t>
            </a:r>
          </a:p>
        </p:txBody>
      </p:sp>
      <p:sp>
        <p:nvSpPr>
          <p:cNvPr id="9" name="Title 1">
            <a:extLst>
              <a:ext uri="{FF2B5EF4-FFF2-40B4-BE49-F238E27FC236}">
                <a16:creationId xmlns:a16="http://schemas.microsoft.com/office/drawing/2014/main" id="{2239EEF8-88B5-379A-BD50-95A4A392DE5A}"/>
              </a:ext>
            </a:extLst>
          </p:cNvPr>
          <p:cNvSpPr txBox="1">
            <a:spLocks/>
          </p:cNvSpPr>
          <p:nvPr/>
        </p:nvSpPr>
        <p:spPr>
          <a:xfrm>
            <a:off x="838201" y="955675"/>
            <a:ext cx="10515600" cy="661988"/>
          </a:xfrm>
          <a:prstGeom prst="rect">
            <a:avLst/>
          </a:prstGeom>
        </p:spPr>
        <p:txBody>
          <a:bodyPr vert="horz" lIns="91440" tIns="45720" rIns="91440" bIns="45720" rtlCol="0" anchor="t">
            <a:spAutoFit/>
          </a:bodyPr>
          <a:lstStyle>
            <a:lvl1pPr algn="l" defTabSz="914377" rtl="0" eaLnBrk="1" latinLnBrk="0" hangingPunct="1">
              <a:lnSpc>
                <a:spcPct val="90000"/>
              </a:lnSpc>
              <a:spcBef>
                <a:spcPct val="0"/>
              </a:spcBef>
              <a:buNone/>
              <a:defRPr sz="3200" b="1" kern="1200">
                <a:solidFill>
                  <a:schemeClr val="accent4"/>
                </a:solidFill>
                <a:latin typeface="Poppins" panose="00000500000000000000" pitchFamily="2" charset="0"/>
                <a:ea typeface="+mj-ea"/>
                <a:cs typeface="Poppins" panose="00000500000000000000" pitchFamily="2" charset="0"/>
              </a:defRPr>
            </a:lvl1pPr>
          </a:lstStyle>
          <a:p>
            <a:pPr algn="ctr"/>
            <a:r>
              <a:rPr lang="en-US" sz="4000">
                <a:solidFill>
                  <a:schemeClr val="bg1"/>
                </a:solidFill>
              </a:rPr>
              <a:t>Insert headline here</a:t>
            </a:r>
          </a:p>
        </p:txBody>
      </p:sp>
    </p:spTree>
    <p:extLst>
      <p:ext uri="{BB962C8B-B14F-4D97-AF65-F5344CB8AC3E}">
        <p14:creationId xmlns:p14="http://schemas.microsoft.com/office/powerpoint/2010/main" val="457482838"/>
      </p:ext>
    </p:extLst>
  </p:cSld>
  <p:clrMapOvr>
    <a:masterClrMapping/>
  </p:clrMapOvr>
</p:sld>
</file>

<file path=ppt/theme/theme1.xml><?xml version="1.0" encoding="utf-8"?>
<a:theme xmlns:a="http://schemas.openxmlformats.org/drawingml/2006/main" name="4_Office Theme">
  <a:themeElements>
    <a:clrScheme name="Horizon Media">
      <a:dk1>
        <a:sysClr val="windowText" lastClr="000000"/>
      </a:dk1>
      <a:lt1>
        <a:sysClr val="window" lastClr="FFFFFF"/>
      </a:lt1>
      <a:dk2>
        <a:srgbClr val="040E32"/>
      </a:dk2>
      <a:lt2>
        <a:srgbClr val="E7E6E6"/>
      </a:lt2>
      <a:accent1>
        <a:srgbClr val="0070B8"/>
      </a:accent1>
      <a:accent2>
        <a:srgbClr val="01B282"/>
      </a:accent2>
      <a:accent3>
        <a:srgbClr val="4D419A"/>
      </a:accent3>
      <a:accent4>
        <a:srgbClr val="002060"/>
      </a:accent4>
      <a:accent5>
        <a:srgbClr val="00A4E4"/>
      </a:accent5>
      <a:accent6>
        <a:srgbClr val="240B45"/>
      </a:accent6>
      <a:hlink>
        <a:srgbClr val="7F7F7F"/>
      </a:hlink>
      <a:folHlink>
        <a:srgbClr val="0070B8"/>
      </a:folHlink>
    </a:clrScheme>
    <a:fontScheme name="Poppins">
      <a:majorFont>
        <a:latin typeface="Poppins"/>
        <a:ea typeface=""/>
        <a:cs typeface=""/>
      </a:majorFont>
      <a:minorFont>
        <a:latin typeface="Poppi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err="1" smtClean="0"/>
        </a:defPPr>
      </a:lstStyle>
      <a:style>
        <a:lnRef idx="3">
          <a:schemeClr val="lt1"/>
        </a:lnRef>
        <a:fillRef idx="1">
          <a:schemeClr val="accent1"/>
        </a:fillRef>
        <a:effectRef idx="1">
          <a:schemeClr val="accent1"/>
        </a:effectRef>
        <a:fontRef idx="minor">
          <a:schemeClr val="lt1"/>
        </a:fontRef>
      </a:style>
    </a:spDef>
    <a:lnDef>
      <a:spPr>
        <a:ln w="19050" cap="rnd">
          <a:solidFill>
            <a:schemeClr val="accent1"/>
          </a:solidFill>
          <a:prstDash val="solid"/>
          <a:round/>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2">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C89A58CA-7AF4-4D99-AFD5-877FAA45FBCE}">
  <we:reference id="wa200005566" version="3.0.0.2" store="en-US" storeType="OMEX"/>
  <we:alternateReferences>
    <we:reference id="WA200005566" version="3.0.0.2" store=""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c85ceaa3-7d91-4e24-ad78-78b6a8d95cf6">
      <Terms xmlns="http://schemas.microsoft.com/office/infopath/2007/PartnerControls"/>
    </lcf76f155ced4ddcb4097134ff3c332f>
    <TaxCatchAll xmlns="d8f3930f-0c31-427a-a37b-80f1b207636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D4F04184487FB140812A29B2D4BD200A" ma:contentTypeVersion="19" ma:contentTypeDescription="Create a new document." ma:contentTypeScope="" ma:versionID="dc65da79037d972aab730ab27d02a483">
  <xsd:schema xmlns:xsd="http://www.w3.org/2001/XMLSchema" xmlns:xs="http://www.w3.org/2001/XMLSchema" xmlns:p="http://schemas.microsoft.com/office/2006/metadata/properties" xmlns:ns2="c85ceaa3-7d91-4e24-ad78-78b6a8d95cf6" xmlns:ns3="d8f3930f-0c31-427a-a37b-80f1b2076363" targetNamespace="http://schemas.microsoft.com/office/2006/metadata/properties" ma:root="true" ma:fieldsID="6078891cbc0d69f3914c1383715dc611" ns2:_="" ns3:_="">
    <xsd:import namespace="c85ceaa3-7d91-4e24-ad78-78b6a8d95cf6"/>
    <xsd:import namespace="d8f3930f-0c31-427a-a37b-80f1b2076363"/>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GenerationTime" minOccurs="0"/>
                <xsd:element ref="ns2:MediaServiceEventHashCode" minOccurs="0"/>
                <xsd:element ref="ns2:MediaServiceLocation" minOccurs="0"/>
                <xsd:element ref="ns3:SharedWithUsers" minOccurs="0"/>
                <xsd:element ref="ns3:SharedWithDetails" minOccurs="0"/>
                <xsd:element ref="ns2:MediaServiceAutoKeyPoints" minOccurs="0"/>
                <xsd:element ref="ns2:MediaServiceKeyPoints" minOccurs="0"/>
                <xsd:element ref="ns2:MediaServiceOCR" minOccurs="0"/>
                <xsd:element ref="ns2:lcf76f155ced4ddcb4097134ff3c332f" minOccurs="0"/>
                <xsd:element ref="ns3:TaxCatchAll" minOccurs="0"/>
                <xsd:element ref="ns2:MediaLengthInSeconds" minOccurs="0"/>
                <xsd:element ref="ns2:MediaServiceSearchProperties" minOccurs="0"/>
                <xsd:element ref="ns2:MediaServiceObjectDetectorVersion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85ceaa3-7d91-4e24-ad78-78b6a8d95cf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Location" ma:index="13" nillable="true" ma:displayName="Location" ma:internalName="MediaServiceLocation"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OCR" ma:index="18" nillable="true" ma:displayName="Extracted Text" ma:internalName="MediaServiceOCR" ma:readOnly="true">
      <xsd:simpleType>
        <xsd:restriction base="dms:Note">
          <xsd:maxLength value="255"/>
        </xsd:restriction>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81f119d9-9750-42cd-a5ee-7af4dcc4525e" ma:termSetId="09814cd3-568e-fe90-9814-8d621ff8fb84" ma:anchorId="fba54fb3-c3e1-fe81-a776-ca4b69148c4d" ma:open="true" ma:isKeyword="false">
      <xsd:complexType>
        <xsd:sequence>
          <xsd:element ref="pc:Terms" minOccurs="0" maxOccurs="1"/>
        </xsd:sequence>
      </xsd:complexType>
    </xsd:element>
    <xsd:element name="MediaLengthInSeconds" ma:index="22" nillable="true" ma:displayName="MediaLengthInSeconds" ma:hidden="true" ma:internalName="MediaLengthInSeconds" ma:readOnly="true">
      <xsd:simpleType>
        <xsd:restriction base="dms:Unknown"/>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BillingMetadata" ma:index="25"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d8f3930f-0c31-427a-a37b-80f1b2076363"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dc95fff6-d30f-4b8b-a039-27b763124980}" ma:internalName="TaxCatchAll" ma:showField="CatchAllData" ma:web="d8f3930f-0c31-427a-a37b-80f1b207636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1573F49-F7B3-4F66-9AA1-04406BE9EBEA}">
  <ds:schemaRefs>
    <ds:schemaRef ds:uri="http://purl.org/dc/elements/1.1/"/>
    <ds:schemaRef ds:uri="http://schemas.microsoft.com/office/2006/metadata/properties"/>
    <ds:schemaRef ds:uri="d8f3930f-0c31-427a-a37b-80f1b2076363"/>
    <ds:schemaRef ds:uri="http://purl.org/dc/dcmitype/"/>
    <ds:schemaRef ds:uri="http://schemas.microsoft.com/office/2006/documentManagement/types"/>
    <ds:schemaRef ds:uri="c85ceaa3-7d91-4e24-ad78-78b6a8d95cf6"/>
    <ds:schemaRef ds:uri="http://purl.org/dc/terms/"/>
    <ds:schemaRef ds:uri="http://www.w3.org/XML/1998/namespace"/>
    <ds:schemaRef ds:uri="http://schemas.microsoft.com/office/infopath/2007/PartnerControls"/>
    <ds:schemaRef ds:uri="http://schemas.openxmlformats.org/package/2006/metadata/core-properties"/>
  </ds:schemaRefs>
</ds:datastoreItem>
</file>

<file path=customXml/itemProps2.xml><?xml version="1.0" encoding="utf-8"?>
<ds:datastoreItem xmlns:ds="http://schemas.openxmlformats.org/officeDocument/2006/customXml" ds:itemID="{A45F5D7B-0EA8-4CB8-95ED-A335EC60CD3E}">
  <ds:schemaRefs>
    <ds:schemaRef ds:uri="http://schemas.microsoft.com/sharepoint/v3/contenttype/forms"/>
  </ds:schemaRefs>
</ds:datastoreItem>
</file>

<file path=customXml/itemProps3.xml><?xml version="1.0" encoding="utf-8"?>
<ds:datastoreItem xmlns:ds="http://schemas.openxmlformats.org/officeDocument/2006/customXml" ds:itemID="{ED09A649-4016-4CE1-B8C6-A003640A501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85ceaa3-7d91-4e24-ad78-78b6a8d95cf6"/>
    <ds:schemaRef ds:uri="d8f3930f-0c31-427a-a37b-80f1b207636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57045f6b-531e-46ed-9ed8-6a60e2869d82}" enabled="0" method="" siteId="{57045f6b-531e-46ed-9ed8-6a60e2869d82}" removed="1"/>
</clbl:labelList>
</file>

<file path=docProps/app.xml><?xml version="1.0" encoding="utf-8"?>
<Properties xmlns="http://schemas.openxmlformats.org/officeDocument/2006/extended-properties" xmlns:vt="http://schemas.openxmlformats.org/officeDocument/2006/docPropsVTypes">
  <TotalTime>633</TotalTime>
  <Words>3520</Words>
  <Application>Microsoft Office PowerPoint</Application>
  <PresentationFormat>Widescreen</PresentationFormat>
  <Paragraphs>542</Paragraphs>
  <Slides>29</Slides>
  <Notes>13</Notes>
  <HiddenSlides>9</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29</vt:i4>
      </vt:variant>
    </vt:vector>
  </HeadingPairs>
  <TitlesOfParts>
    <vt:vector size="41" baseType="lpstr">
      <vt:lpstr>Arial</vt:lpstr>
      <vt:lpstr>Calibri</vt:lpstr>
      <vt:lpstr>Georgia</vt:lpstr>
      <vt:lpstr>Gotham Black</vt:lpstr>
      <vt:lpstr>Open Sans SemiBold</vt:lpstr>
      <vt:lpstr>Poppins</vt:lpstr>
      <vt:lpstr>Poppins (Headings)</vt:lpstr>
      <vt:lpstr>Poppins ExtraBold</vt:lpstr>
      <vt:lpstr>Poppins ExtraLight</vt:lpstr>
      <vt:lpstr>Poppins Light</vt:lpstr>
      <vt:lpstr>Poppins SemiBold</vt:lpstr>
      <vt:lpstr>4_Office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Choosing the Right A/B Test KPI By Funnel Stage</vt:lpstr>
      <vt:lpstr>A COLLABORATIVE GROWTH PARTNER FOR OPTIMIZING DIGITAL EXPERIENCE OUTCOMES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David Luong</dc:creator>
  <cp:lastModifiedBy>Jordan Shapiro</cp:lastModifiedBy>
  <cp:revision>5</cp:revision>
  <dcterms:created xsi:type="dcterms:W3CDTF">2024-01-29T20:21:25Z</dcterms:created>
  <dcterms:modified xsi:type="dcterms:W3CDTF">2026-06-21T13:46:05Z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0x010100D4F04184487FB140812A29B2D4BD200A</vt:lpwstr>
  </property>
  <property fmtid="{D5CDD505-2E9C-101B-9397-08002B2CF9AE}" pid="3" name="MediaServiceImageTags">
    <vt:lpwstr/>
  </property>
</Properties>
</file>